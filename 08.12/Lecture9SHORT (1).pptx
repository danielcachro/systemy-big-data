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6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04" r:id="rId23"/>
    <p:sldId id="257" r:id="rId24"/>
    <p:sldId id="258" r:id="rId25"/>
    <p:sldId id="259" r:id="rId26"/>
    <p:sldId id="260" r:id="rId27"/>
    <p:sldId id="262" r:id="rId28"/>
    <p:sldId id="263" r:id="rId29"/>
    <p:sldId id="264" r:id="rId30"/>
    <p:sldId id="265" r:id="rId31"/>
    <p:sldId id="261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1" r:id="rId57"/>
    <p:sldId id="290" r:id="rId58"/>
    <p:sldId id="292" r:id="rId59"/>
    <p:sldId id="293" r:id="rId60"/>
    <p:sldId id="294" r:id="rId61"/>
    <p:sldId id="295" r:id="rId62"/>
    <p:sldId id="296" r:id="rId63"/>
    <p:sldId id="298" r:id="rId64"/>
    <p:sldId id="299" r:id="rId65"/>
    <p:sldId id="300" r:id="rId66"/>
    <p:sldId id="301" r:id="rId67"/>
    <p:sldId id="302" r:id="rId68"/>
    <p:sldId id="303" r:id="rId69"/>
    <p:sldId id="325" r:id="rId70"/>
    <p:sldId id="326" r:id="rId71"/>
    <p:sldId id="327" r:id="rId72"/>
    <p:sldId id="328" r:id="rId73"/>
    <p:sldId id="329" r:id="rId74"/>
    <p:sldId id="330" r:id="rId75"/>
    <p:sldId id="331" r:id="rId7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79095-5E1C-41AA-8733-4F3E6BD4DCCD}" type="datetimeFigureOut">
              <a:rPr lang="pl-PL" smtClean="0"/>
              <a:t>08.12.2025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3B34A-FADA-4008-ABC5-0BD26ABC17A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788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E3B34A-FADA-4008-ABC5-0BD26ABC17AA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045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540BE-C944-437E-AC10-F8BBE5FA7757}" type="datetime1">
              <a:rPr lang="pl-PL" smtClean="0"/>
              <a:t>08.12.2025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13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D5F5-ECA7-4E8B-8E5E-31D83C2E56B9}" type="datetime1">
              <a:rPr lang="pl-PL" smtClean="0"/>
              <a:t>08.12.2025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441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EA8ED-2D58-40D0-8D46-915BCBA597E1}" type="datetime1">
              <a:rPr lang="pl-PL" smtClean="0"/>
              <a:t>08.12.2025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0135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04FF8-DB7B-4DFD-AE46-0BBCBDDCF1A8}" type="datetime1">
              <a:rPr lang="pl-PL" smtClean="0"/>
              <a:t>08.12.2025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5085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BA53-3F73-4A8B-AF30-80BEABE365A8}" type="datetime1">
              <a:rPr lang="pl-PL" smtClean="0"/>
              <a:t>08.12.2025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334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31454-DE23-4B43-BA9C-A007007102ED}" type="datetime1">
              <a:rPr lang="pl-PL" smtClean="0"/>
              <a:t>08.12.2025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6399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F2FEA-B536-46AC-B052-89243F3C0909}" type="datetime1">
              <a:rPr lang="pl-PL" smtClean="0"/>
              <a:t>08.12.2025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706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A147-ABE9-4EA0-B9B7-BCA5E6F8D7E9}" type="datetime1">
              <a:rPr lang="pl-PL" smtClean="0"/>
              <a:t>08.12.2025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18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31AC4-5810-48E1-9056-37CBF070EE4B}" type="datetime1">
              <a:rPr lang="pl-PL" smtClean="0"/>
              <a:t>08.12.2025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7375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9A49-B86D-4D3F-8AE0-F353B0F6FD08}" type="datetime1">
              <a:rPr lang="pl-PL" smtClean="0"/>
              <a:t>08.12.2025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5177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F168-935D-458D-93B3-B7BD6B6635F6}" type="datetime1">
              <a:rPr lang="pl-PL" smtClean="0"/>
              <a:t>08.12.2025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374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A502A-A22D-48C1-B916-258A3C0D4F44}" type="datetime1">
              <a:rPr lang="pl-PL" smtClean="0"/>
              <a:t>08.12.2025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73841-6F98-4C0D-9A2A-6A112E4CFB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36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FgakZw6K1QQ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Document1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package" Target="../embeddings/Microsoft_Word_Document2.docx"/><Relationship Id="rId7" Type="http://schemas.openxmlformats.org/officeDocument/2006/relationships/package" Target="../embeddings/Microsoft_Word_Document4.docx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Word_Document3.docx"/><Relationship Id="rId4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Word_Document5.docx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package" Target="../embeddings/Microsoft_Word_Document6.doc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Document7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 err="1"/>
              <a:t>Dimentionality</a:t>
            </a:r>
            <a:r>
              <a:rPr lang="pl-PL" dirty="0"/>
              <a:t> </a:t>
            </a:r>
            <a:r>
              <a:rPr lang="pl-PL" dirty="0" err="1"/>
              <a:t>reduction</a:t>
            </a:r>
            <a:r>
              <a:rPr lang="pl-PL" dirty="0"/>
              <a:t> and the Principal Component Analysis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>
                <a:hlinkClick r:id="rId2"/>
              </a:rPr>
              <a:t>https://www.youtube.com/watch?v=FgakZw6K1QQ</a:t>
            </a:r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216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Dimensionality</a:t>
            </a:r>
            <a:r>
              <a:rPr lang="pl-PL" dirty="0"/>
              <a:t> </a:t>
            </a:r>
            <a:r>
              <a:rPr lang="pl-PL" dirty="0" err="1"/>
              <a:t>reduction</a:t>
            </a:r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6030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Why</a:t>
            </a:r>
            <a:r>
              <a:rPr lang="pl-PL" dirty="0"/>
              <a:t> we </a:t>
            </a:r>
            <a:r>
              <a:rPr lang="pl-PL" dirty="0" err="1"/>
              <a:t>reduce</a:t>
            </a:r>
            <a:r>
              <a:rPr lang="pl-PL" dirty="0"/>
              <a:t> </a:t>
            </a:r>
            <a:r>
              <a:rPr lang="pl-PL" dirty="0" err="1"/>
              <a:t>dimensions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Because the high dimensionality of the data sets implies a significant implementation time of EDA procedures.</a:t>
            </a:r>
          </a:p>
          <a:p>
            <a:endParaRPr lang="en-US" dirty="0"/>
          </a:p>
          <a:p>
            <a:r>
              <a:rPr lang="en-US" dirty="0"/>
              <a:t>Because the greater the dimensionality, the more elements of the set should be taken into account to make the results representative.</a:t>
            </a:r>
          </a:p>
          <a:p>
            <a:endParaRPr lang="en-US" dirty="0"/>
          </a:p>
          <a:p>
            <a:r>
              <a:rPr lang="en-US" dirty="0"/>
              <a:t>Above all:</a:t>
            </a:r>
          </a:p>
          <a:p>
            <a:endParaRPr lang="en-US" dirty="0"/>
          </a:p>
          <a:p>
            <a:r>
              <a:rPr lang="en-US" dirty="0"/>
              <a:t>Because in multidimensional sets there are phenomena inherently associated with them, collectively referred to as the "curse of dimensionality". It turns out that even simple operations - such as finding the closest neighbor - yield unexpected results.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697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Example</a:t>
            </a:r>
            <a:r>
              <a:rPr lang="pl-PL" dirty="0"/>
              <a:t>, </a:t>
            </a:r>
            <a:r>
              <a:rPr lang="pl-PL" dirty="0" err="1"/>
              <a:t>concentration</a:t>
            </a:r>
            <a:r>
              <a:rPr lang="pl-PL" dirty="0"/>
              <a:t> of </a:t>
            </a:r>
            <a:r>
              <a:rPr lang="pl-PL" dirty="0" err="1"/>
              <a:t>distances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4</a:t>
            </a:fld>
            <a:endParaRPr lang="pl-PL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6689" y="2139757"/>
            <a:ext cx="7560840" cy="3723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4991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Feature</a:t>
            </a:r>
            <a:r>
              <a:rPr lang="pl-PL" dirty="0"/>
              <a:t> </a:t>
            </a:r>
            <a:r>
              <a:rPr lang="pl-PL" dirty="0" err="1"/>
              <a:t>selection</a:t>
            </a:r>
            <a:r>
              <a:rPr lang="pl-PL" dirty="0"/>
              <a:t> != </a:t>
            </a:r>
            <a:r>
              <a:rPr lang="pl-PL" dirty="0" err="1"/>
              <a:t>Feature</a:t>
            </a:r>
            <a:r>
              <a:rPr lang="pl-PL" dirty="0"/>
              <a:t> </a:t>
            </a:r>
            <a:r>
              <a:rPr lang="pl-PL" dirty="0" err="1"/>
              <a:t>reduction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Feature</a:t>
            </a:r>
            <a:r>
              <a:rPr lang="pl-PL" dirty="0"/>
              <a:t> </a:t>
            </a:r>
            <a:r>
              <a:rPr lang="pl-PL" dirty="0" err="1"/>
              <a:t>selection</a:t>
            </a:r>
            <a:r>
              <a:rPr lang="pl-PL" dirty="0"/>
              <a:t> – we </a:t>
            </a:r>
            <a:r>
              <a:rPr lang="pl-PL" dirty="0" err="1"/>
              <a:t>only</a:t>
            </a:r>
            <a:r>
              <a:rPr lang="pl-PL" dirty="0"/>
              <a:t> </a:t>
            </a:r>
            <a:r>
              <a:rPr lang="pl-PL" dirty="0" err="1"/>
              <a:t>choose</a:t>
            </a:r>
            <a:r>
              <a:rPr lang="pl-PL" dirty="0"/>
              <a:t> </a:t>
            </a:r>
            <a:r>
              <a:rPr lang="pl-PL" dirty="0" err="1"/>
              <a:t>some</a:t>
            </a:r>
            <a:r>
              <a:rPr lang="pl-PL" dirty="0"/>
              <a:t> </a:t>
            </a:r>
            <a:r>
              <a:rPr lang="pl-PL" dirty="0" err="1"/>
              <a:t>features</a:t>
            </a:r>
            <a:r>
              <a:rPr lang="pl-PL" dirty="0"/>
              <a:t> from the data set</a:t>
            </a:r>
          </a:p>
          <a:p>
            <a:r>
              <a:rPr lang="pl-PL" dirty="0" err="1"/>
              <a:t>Feature</a:t>
            </a:r>
            <a:r>
              <a:rPr lang="pl-PL" dirty="0"/>
              <a:t> </a:t>
            </a:r>
            <a:r>
              <a:rPr lang="pl-PL" dirty="0" err="1"/>
              <a:t>reduction</a:t>
            </a:r>
            <a:r>
              <a:rPr lang="pl-PL" dirty="0"/>
              <a:t> – we </a:t>
            </a:r>
            <a:r>
              <a:rPr lang="pl-PL" dirty="0" err="1"/>
              <a:t>transform</a:t>
            </a:r>
            <a:r>
              <a:rPr lang="pl-PL" dirty="0"/>
              <a:t> the </a:t>
            </a:r>
            <a:r>
              <a:rPr lang="pl-PL" dirty="0" err="1"/>
              <a:t>features</a:t>
            </a:r>
            <a:r>
              <a:rPr lang="pl-PL" dirty="0"/>
              <a:t> by </a:t>
            </a:r>
            <a:r>
              <a:rPr lang="pl-PL" dirty="0" err="1"/>
              <a:t>creating</a:t>
            </a:r>
            <a:r>
              <a:rPr lang="pl-PL" dirty="0"/>
              <a:t> </a:t>
            </a:r>
            <a:r>
              <a:rPr lang="pl-PL" dirty="0" err="1"/>
              <a:t>new</a:t>
            </a:r>
            <a:r>
              <a:rPr lang="pl-PL" dirty="0"/>
              <a:t> </a:t>
            </a:r>
            <a:r>
              <a:rPr lang="pl-PL" dirty="0" err="1"/>
              <a:t>features</a:t>
            </a:r>
            <a:r>
              <a:rPr lang="pl-PL" dirty="0"/>
              <a:t> </a:t>
            </a:r>
            <a:r>
              <a:rPr lang="pl-PL" dirty="0" err="1"/>
              <a:t>which</a:t>
            </a:r>
            <a:r>
              <a:rPr lang="pl-PL" dirty="0"/>
              <a:t> </a:t>
            </a:r>
            <a:r>
              <a:rPr lang="pl-PL" dirty="0" err="1"/>
              <a:t>consist</a:t>
            </a:r>
            <a:r>
              <a:rPr lang="pl-PL" dirty="0"/>
              <a:t> of „</a:t>
            </a:r>
            <a:r>
              <a:rPr lang="pl-PL" dirty="0" err="1"/>
              <a:t>old</a:t>
            </a:r>
            <a:r>
              <a:rPr lang="pl-PL" dirty="0"/>
              <a:t> </a:t>
            </a:r>
            <a:r>
              <a:rPr lang="pl-PL" dirty="0" err="1"/>
              <a:t>features</a:t>
            </a:r>
            <a:r>
              <a:rPr lang="pl-PL" dirty="0"/>
              <a:t>” </a:t>
            </a:r>
            <a:r>
              <a:rPr lang="pl-PL" dirty="0" err="1"/>
              <a:t>so</a:t>
            </a:r>
            <a:r>
              <a:rPr lang="pl-PL" dirty="0"/>
              <a:t> we </a:t>
            </a:r>
            <a:r>
              <a:rPr lang="pl-PL" dirty="0" err="1"/>
              <a:t>transform</a:t>
            </a:r>
            <a:r>
              <a:rPr lang="pl-PL" dirty="0"/>
              <a:t> the </a:t>
            </a:r>
            <a:r>
              <a:rPr lang="pl-PL" dirty="0" err="1"/>
              <a:t>original</a:t>
            </a:r>
            <a:r>
              <a:rPr lang="pl-PL" dirty="0"/>
              <a:t> data, but we do not </a:t>
            </a:r>
            <a:r>
              <a:rPr lang="pl-PL" dirty="0" err="1"/>
              <a:t>get</a:t>
            </a:r>
            <a:r>
              <a:rPr lang="pl-PL" dirty="0"/>
              <a:t> </a:t>
            </a:r>
            <a:r>
              <a:rPr lang="pl-PL" dirty="0" err="1"/>
              <a:t>rid</a:t>
            </a:r>
            <a:r>
              <a:rPr lang="pl-PL" dirty="0"/>
              <a:t> of </a:t>
            </a:r>
            <a:r>
              <a:rPr lang="pl-PL" dirty="0" err="1"/>
              <a:t>any</a:t>
            </a:r>
            <a:r>
              <a:rPr lang="pl-PL" dirty="0"/>
              <a:t> of the </a:t>
            </a:r>
            <a:r>
              <a:rPr lang="pl-PL" dirty="0" err="1"/>
              <a:t>features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8637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pl-PL" dirty="0" err="1"/>
              <a:t>Methods</a:t>
            </a:r>
            <a:r>
              <a:rPr lang="pl-PL" dirty="0"/>
              <a:t> of </a:t>
            </a:r>
            <a:r>
              <a:rPr lang="pl-PL" dirty="0" err="1"/>
              <a:t>dimensionality</a:t>
            </a:r>
            <a:r>
              <a:rPr lang="pl-PL" dirty="0"/>
              <a:t> </a:t>
            </a:r>
            <a:r>
              <a:rPr lang="pl-PL" dirty="0" err="1"/>
              <a:t>reduction</a:t>
            </a:r>
            <a:r>
              <a:rPr lang="pl-PL" dirty="0"/>
              <a:t> </a:t>
            </a:r>
            <a:r>
              <a:rPr lang="pl-PL" dirty="0" err="1"/>
              <a:t>classification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dirty="0"/>
              <a:t>A. </a:t>
            </a:r>
            <a:r>
              <a:rPr lang="en-US" dirty="0"/>
              <a:t>The nature of the relationship</a:t>
            </a:r>
          </a:p>
          <a:p>
            <a:r>
              <a:rPr lang="en-US" dirty="0"/>
              <a:t>linear, </a:t>
            </a:r>
            <a:r>
              <a:rPr lang="en-US" dirty="0" err="1"/>
              <a:t>i</a:t>
            </a:r>
            <a:r>
              <a:rPr lang="pl-PL" dirty="0"/>
              <a:t>.</a:t>
            </a:r>
            <a:r>
              <a:rPr lang="en-US" dirty="0"/>
              <a:t>e</a:t>
            </a:r>
            <a:r>
              <a:rPr lang="pl-PL" dirty="0"/>
              <a:t>.</a:t>
            </a:r>
            <a:r>
              <a:rPr lang="en-US" dirty="0"/>
              <a:t> Y = X A</a:t>
            </a:r>
          </a:p>
          <a:p>
            <a:r>
              <a:rPr lang="en-US" dirty="0"/>
              <a:t>non-linear </a:t>
            </a:r>
            <a:r>
              <a:rPr lang="en-US" dirty="0" err="1"/>
              <a:t>ie</a:t>
            </a:r>
            <a:r>
              <a:rPr lang="en-US" dirty="0"/>
              <a:t> Y = f (X) often not explicitly given</a:t>
            </a:r>
          </a:p>
          <a:p>
            <a:pPr marL="0" indent="0">
              <a:buNone/>
            </a:pPr>
            <a:r>
              <a:rPr lang="pl-PL" dirty="0"/>
              <a:t>(b) </a:t>
            </a:r>
            <a:r>
              <a:rPr lang="en-US" dirty="0"/>
              <a:t>The degree of interaction</a:t>
            </a:r>
          </a:p>
          <a:p>
            <a:r>
              <a:rPr lang="en-US" dirty="0"/>
              <a:t>unsupervised</a:t>
            </a:r>
          </a:p>
          <a:p>
            <a:r>
              <a:rPr lang="en-US" dirty="0"/>
              <a:t>supervised</a:t>
            </a:r>
          </a:p>
          <a:p>
            <a:pPr marL="0" indent="0">
              <a:buNone/>
            </a:pPr>
            <a:r>
              <a:rPr lang="pl-PL" dirty="0"/>
              <a:t>(c) </a:t>
            </a:r>
            <a:r>
              <a:rPr lang="en-US" dirty="0"/>
              <a:t>Unambiguity of mapping</a:t>
            </a:r>
          </a:p>
          <a:p>
            <a:r>
              <a:rPr lang="en-US" dirty="0"/>
              <a:t>general</a:t>
            </a:r>
          </a:p>
          <a:p>
            <a:r>
              <a:rPr lang="en-US" dirty="0"/>
              <a:t>point-to-point</a:t>
            </a:r>
          </a:p>
          <a:p>
            <a:r>
              <a:rPr lang="en-US" dirty="0"/>
              <a:t>and few others…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582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PCA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7</a:t>
            </a:fld>
            <a:endParaRPr lang="pl-PL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4688" y="1988840"/>
            <a:ext cx="5544616" cy="407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7945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43796"/>
          </a:xfrm>
        </p:spPr>
        <p:txBody>
          <a:bodyPr/>
          <a:lstStyle/>
          <a:p>
            <a:pPr algn="ctr"/>
            <a:r>
              <a:rPr lang="pl-PL" dirty="0"/>
              <a:t>How to </a:t>
            </a:r>
            <a:r>
              <a:rPr lang="pl-PL" dirty="0" err="1"/>
              <a:t>find</a:t>
            </a:r>
            <a:r>
              <a:rPr lang="pl-PL" dirty="0"/>
              <a:t> the PC </a:t>
            </a:r>
            <a:r>
              <a:rPr lang="pl-PL" dirty="0" err="1"/>
              <a:t>vectors</a:t>
            </a:r>
            <a:r>
              <a:rPr lang="pl-PL" dirty="0"/>
              <a:t>?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86109" y="1043797"/>
            <a:ext cx="11497574" cy="4351338"/>
          </a:xfrm>
        </p:spPr>
        <p:txBody>
          <a:bodyPr/>
          <a:lstStyle/>
          <a:p>
            <a:pPr algn="just"/>
            <a:r>
              <a:rPr lang="en-US" dirty="0"/>
              <a:t>We are looking for elements of the matrix A [</a:t>
            </a:r>
            <a:r>
              <a:rPr lang="en-US" dirty="0" err="1"/>
              <a:t>Nxn</a:t>
            </a:r>
            <a:r>
              <a:rPr lang="en-US" dirty="0"/>
              <a:t>] such that the data projected on the transformation axis represented by it will maximize the variance.</a:t>
            </a:r>
          </a:p>
          <a:p>
            <a:pPr algn="just"/>
            <a:r>
              <a:rPr lang="en-US" dirty="0"/>
              <a:t>We assume that the data set is normalized in such a way that µ is a </a:t>
            </a:r>
            <a:r>
              <a:rPr lang="pl-PL" dirty="0"/>
              <a:t>zero (</a:t>
            </a:r>
            <a:r>
              <a:rPr lang="pl-PL" dirty="0" err="1"/>
              <a:t>null</a:t>
            </a:r>
            <a:r>
              <a:rPr lang="pl-PL" dirty="0"/>
              <a:t>)</a:t>
            </a:r>
            <a:r>
              <a:rPr lang="en-US" dirty="0"/>
              <a:t> vector.</a:t>
            </a:r>
          </a:p>
          <a:p>
            <a:pPr algn="just"/>
            <a:r>
              <a:rPr lang="en-US" dirty="0"/>
              <a:t>It turns out that we find the matrix A by finding the eigenvectors of the covariance matrix </a:t>
            </a:r>
            <a:r>
              <a:rPr lang="en-US" dirty="0" err="1"/>
              <a:t>cov</a:t>
            </a:r>
            <a:r>
              <a:rPr lang="en-US" dirty="0"/>
              <a:t> (X).</a:t>
            </a:r>
          </a:p>
          <a:p>
            <a:r>
              <a:rPr lang="en-US" dirty="0"/>
              <a:t>What is an eigenvector?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8</a:t>
            </a:fld>
            <a:endParaRPr lang="pl-PL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3130294" y="4512666"/>
            <a:ext cx="5418484" cy="2208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4815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35539"/>
          </a:xfrm>
        </p:spPr>
        <p:txBody>
          <a:bodyPr>
            <a:normAutofit fontScale="90000"/>
          </a:bodyPr>
          <a:lstStyle/>
          <a:p>
            <a:pPr algn="ctr"/>
            <a:r>
              <a:rPr lang="pl-PL" dirty="0" err="1"/>
              <a:t>Calculation</a:t>
            </a:r>
            <a:r>
              <a:rPr lang="pl-PL" dirty="0"/>
              <a:t> of </a:t>
            </a:r>
            <a:r>
              <a:rPr lang="pl-PL" dirty="0" err="1"/>
              <a:t>eigenvectors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29242" y="859467"/>
            <a:ext cx="11350924" cy="536017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By definition, the vector Ai is called the eigenvector of the covariance matrix if:</a:t>
            </a:r>
          </a:p>
          <a:p>
            <a:endParaRPr lang="pl-PL" dirty="0"/>
          </a:p>
          <a:p>
            <a:endParaRPr lang="en-US" dirty="0"/>
          </a:p>
          <a:p>
            <a:pPr algn="just"/>
            <a:r>
              <a:rPr lang="en-US" dirty="0"/>
              <a:t>The matrix A consists of n eigenvectors placed in the rows, each of them being orthogonal to the others and the associated eigenvalue </a:t>
            </a:r>
            <a:r>
              <a:rPr lang="en-US" dirty="0" err="1"/>
              <a:t>λi</a:t>
            </a:r>
            <a:r>
              <a:rPr lang="en-US" dirty="0"/>
              <a:t> corresponds to the variance in the direction of this vector. The mere multiplication by such a "full" matrix corresponds to the rotation of the set so that one of the axes (the so-called main component) is with the axis with the maximum variance.</a:t>
            </a:r>
          </a:p>
          <a:p>
            <a:pPr algn="just"/>
            <a:r>
              <a:rPr lang="en-US" dirty="0"/>
              <a:t>To get the eigenvector, first get the eigenvalues ​​from the characteristic equation: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9</a:t>
            </a:fld>
            <a:endParaRPr lang="pl-PL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060806"/>
              </p:ext>
            </p:extLst>
          </p:nvPr>
        </p:nvGraphicFramePr>
        <p:xfrm>
          <a:off x="1564536" y="1817402"/>
          <a:ext cx="729932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7472918" imgH="1016101" progId="Word.Document.12">
                  <p:embed/>
                </p:oleObj>
              </mc:Choice>
              <mc:Fallback>
                <p:oleObj name="Dokument" r:id="rId2" imgW="7472918" imgH="101610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4536" y="1817402"/>
                        <a:ext cx="7299325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045253"/>
              </p:ext>
            </p:extLst>
          </p:nvPr>
        </p:nvGraphicFramePr>
        <p:xfrm>
          <a:off x="2067227" y="5847271"/>
          <a:ext cx="729932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4" imgW="7472918" imgH="1016101" progId="Word.Document.12">
                  <p:embed/>
                </p:oleObj>
              </mc:Choice>
              <mc:Fallback>
                <p:oleObj name="Dokument" r:id="rId4" imgW="7472918" imgH="101610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7227" y="5847271"/>
                        <a:ext cx="7299325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739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Calculation</a:t>
            </a:r>
            <a:r>
              <a:rPr lang="pl-PL" dirty="0"/>
              <a:t> of </a:t>
            </a:r>
            <a:r>
              <a:rPr lang="pl-PL" dirty="0" err="1"/>
              <a:t>eigenvectors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10</a:t>
            </a:fld>
            <a:endParaRPr lang="pl-PL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975308" y="2535301"/>
            <a:ext cx="1190625" cy="981075"/>
          </a:xfrm>
          <a:prstGeom prst="rect">
            <a:avLst/>
          </a:prstGeom>
        </p:spPr>
      </p:pic>
      <p:sp>
        <p:nvSpPr>
          <p:cNvPr id="6" name="Strzałka zakrzywiona w dół 5"/>
          <p:cNvSpPr/>
          <p:nvPr/>
        </p:nvSpPr>
        <p:spPr>
          <a:xfrm>
            <a:off x="1570620" y="1820423"/>
            <a:ext cx="5256584" cy="72008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53025" y="2490135"/>
            <a:ext cx="345757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0229" y="4868265"/>
            <a:ext cx="2266950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trzałka w prawo 8"/>
          <p:cNvSpPr/>
          <p:nvPr/>
        </p:nvSpPr>
        <p:spPr>
          <a:xfrm>
            <a:off x="3582942" y="5197832"/>
            <a:ext cx="1008112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66158" y="4468215"/>
            <a:ext cx="6762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23791" y="4468215"/>
            <a:ext cx="6381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01580" y="4881206"/>
            <a:ext cx="13525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49205" y="5377852"/>
            <a:ext cx="130492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82579" y="6091237"/>
            <a:ext cx="6381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Strzałka w prawo 14"/>
          <p:cNvSpPr/>
          <p:nvPr/>
        </p:nvSpPr>
        <p:spPr>
          <a:xfrm>
            <a:off x="8303080" y="5313087"/>
            <a:ext cx="1008112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813338" y="5063527"/>
            <a:ext cx="5238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2755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PCA - </a:t>
            </a:r>
            <a:r>
              <a:rPr lang="pl-PL" dirty="0" err="1"/>
              <a:t>example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11</a:t>
            </a:fld>
            <a:endParaRPr lang="pl-PL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2560" y="1916832"/>
            <a:ext cx="1608750" cy="4107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59224" y="1825625"/>
            <a:ext cx="5112568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1761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PCA - </a:t>
            </a:r>
            <a:r>
              <a:rPr lang="pl-PL" dirty="0" err="1"/>
              <a:t>example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12</a:t>
            </a:fld>
            <a:endParaRPr lang="pl-PL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91113" y="1825625"/>
            <a:ext cx="1767469" cy="3888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812342"/>
              </p:ext>
            </p:extLst>
          </p:nvPr>
        </p:nvGraphicFramePr>
        <p:xfrm>
          <a:off x="4054475" y="2058869"/>
          <a:ext cx="729932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3" imgW="7472918" imgH="1016101" progId="Word.Document.12">
                  <p:embed/>
                </p:oleObj>
              </mc:Choice>
              <mc:Fallback>
                <p:oleObj name="Dokument" r:id="rId3" imgW="7472918" imgH="101610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4475" y="2058869"/>
                        <a:ext cx="7299325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460544"/>
              </p:ext>
            </p:extLst>
          </p:nvPr>
        </p:nvGraphicFramePr>
        <p:xfrm>
          <a:off x="3964224" y="3024981"/>
          <a:ext cx="729932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5" imgW="7472918" imgH="1016101" progId="Word.Document.12">
                  <p:embed/>
                </p:oleObj>
              </mc:Choice>
              <mc:Fallback>
                <p:oleObj name="Dokument" r:id="rId5" imgW="7472918" imgH="101610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4224" y="3024981"/>
                        <a:ext cx="7299325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353915"/>
              </p:ext>
            </p:extLst>
          </p:nvPr>
        </p:nvGraphicFramePr>
        <p:xfrm>
          <a:off x="4116866" y="4097496"/>
          <a:ext cx="729932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7" imgW="7472918" imgH="1016101" progId="Word.Document.12">
                  <p:embed/>
                </p:oleObj>
              </mc:Choice>
              <mc:Fallback>
                <p:oleObj name="Dokument" r:id="rId7" imgW="7472918" imgH="101610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866" y="4097496"/>
                        <a:ext cx="7299325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039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PCA – casting </a:t>
            </a:r>
            <a:r>
              <a:rPr lang="pl-PL" dirty="0" err="1"/>
              <a:t>over</a:t>
            </a:r>
            <a:r>
              <a:rPr lang="pl-PL" dirty="0"/>
              <a:t> PC1 and PC2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13</a:t>
            </a:fld>
            <a:endParaRPr lang="pl-PL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2520" y="1844824"/>
            <a:ext cx="4464496" cy="435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46103" y="2016555"/>
            <a:ext cx="1728897" cy="3731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070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PCA – </a:t>
            </a:r>
            <a:r>
              <a:rPr lang="pl-PL" dirty="0" err="1"/>
              <a:t>example</a:t>
            </a:r>
            <a:r>
              <a:rPr lang="pl-PL" dirty="0"/>
              <a:t> 2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14</a:t>
            </a:fld>
            <a:endParaRPr lang="pl-PL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</a:blip>
          <a:srcRect/>
          <a:stretch>
            <a:fillRect/>
          </a:stretch>
        </p:blipFill>
        <p:spPr bwMode="auto">
          <a:xfrm>
            <a:off x="5474484" y="1364378"/>
            <a:ext cx="5544615" cy="458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pole tekstowe 6"/>
          <p:cNvSpPr txBox="1"/>
          <p:nvPr/>
        </p:nvSpPr>
        <p:spPr>
          <a:xfrm>
            <a:off x="1095459" y="4875936"/>
            <a:ext cx="3225994" cy="64633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l-PL" dirty="0"/>
              <a:t>PC1 – 80% of </a:t>
            </a:r>
            <a:r>
              <a:rPr lang="pl-PL" dirty="0" err="1"/>
              <a:t>variance</a:t>
            </a:r>
            <a:r>
              <a:rPr lang="pl-PL" dirty="0"/>
              <a:t> </a:t>
            </a:r>
            <a:r>
              <a:rPr lang="pl-PL" dirty="0" err="1"/>
              <a:t>explained</a:t>
            </a:r>
            <a:r>
              <a:rPr lang="pl-PL" dirty="0"/>
              <a:t> with PC1</a:t>
            </a:r>
          </a:p>
        </p:txBody>
      </p:sp>
    </p:spTree>
    <p:extLst>
      <p:ext uri="{BB962C8B-B14F-4D97-AF65-F5344CB8AC3E}">
        <p14:creationId xmlns:p14="http://schemas.microsoft.com/office/powerpoint/2010/main" val="201045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132213"/>
            <a:ext cx="10515600" cy="644166"/>
          </a:xfrm>
        </p:spPr>
        <p:txBody>
          <a:bodyPr>
            <a:normAutofit fontScale="90000"/>
          </a:bodyPr>
          <a:lstStyle/>
          <a:p>
            <a:pPr algn="ctr"/>
            <a:r>
              <a:rPr lang="pl-PL" dirty="0"/>
              <a:t>Multi-</a:t>
            </a:r>
            <a:r>
              <a:rPr lang="pl-PL" dirty="0" err="1"/>
              <a:t>dimentional</a:t>
            </a:r>
            <a:r>
              <a:rPr lang="pl-PL" dirty="0"/>
              <a:t> </a:t>
            </a:r>
            <a:r>
              <a:rPr lang="pl-PL" dirty="0" err="1"/>
              <a:t>scaling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48574" y="1043796"/>
            <a:ext cx="11386868" cy="547777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Multidimensional scaling (Young, Householder, 1938; </a:t>
            </a:r>
            <a:r>
              <a:rPr lang="en-US" dirty="0" err="1"/>
              <a:t>Torgerson</a:t>
            </a:r>
            <a:r>
              <a:rPr lang="en-US" dirty="0"/>
              <a:t> 1952) is a group of dimension reduction / visualization methods that attempts to preserve the distance (called distance preservation) between points in the original and reduced space. This is done by minimizing an indicator called stress: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dirty="0"/>
              <a:t>Since MDS only operates on distances, it does not really require specific point locations from the original set. The transformation performed by MDS is point-to-point and is not explicitly given.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15</a:t>
            </a:fld>
            <a:endParaRPr lang="pl-PL"/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72144"/>
              </p:ext>
            </p:extLst>
          </p:nvPr>
        </p:nvGraphicFramePr>
        <p:xfrm>
          <a:off x="2043358" y="3285138"/>
          <a:ext cx="7173912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7472918" imgH="1411452" progId="Word.Document.12">
                  <p:embed/>
                </p:oleObj>
              </mc:Choice>
              <mc:Fallback>
                <p:oleObj name="Dokument" r:id="rId2" imgW="7472918" imgH="1411452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358" y="3285138"/>
                        <a:ext cx="7173912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093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1969"/>
          </a:xfrm>
        </p:spPr>
        <p:txBody>
          <a:bodyPr/>
          <a:lstStyle/>
          <a:p>
            <a:pPr algn="ctr"/>
            <a:r>
              <a:rPr lang="pl-PL" dirty="0"/>
              <a:t>Non-</a:t>
            </a:r>
            <a:r>
              <a:rPr lang="pl-PL" dirty="0" err="1"/>
              <a:t>linear</a:t>
            </a:r>
            <a:r>
              <a:rPr lang="pl-PL" dirty="0"/>
              <a:t> </a:t>
            </a:r>
            <a:r>
              <a:rPr lang="pl-PL" dirty="0" err="1"/>
              <a:t>Sammom</a:t>
            </a:r>
            <a:r>
              <a:rPr lang="pl-PL" dirty="0"/>
              <a:t> </a:t>
            </a:r>
            <a:r>
              <a:rPr lang="pl-PL" dirty="0" err="1"/>
              <a:t>mapping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200" y="1406106"/>
            <a:ext cx="10515600" cy="4770857"/>
          </a:xfrm>
        </p:spPr>
        <p:txBody>
          <a:bodyPr/>
          <a:lstStyle/>
          <a:p>
            <a:pPr algn="just"/>
            <a:r>
              <a:rPr lang="en-US" dirty="0"/>
              <a:t>Nonlinear </a:t>
            </a:r>
            <a:r>
              <a:rPr lang="en-US" dirty="0" err="1"/>
              <a:t>Sammon</a:t>
            </a:r>
            <a:r>
              <a:rPr lang="en-US" dirty="0"/>
              <a:t> Mapping is the most widely used MDS variant with a well-defined optimization engine and character cost index: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dirty="0"/>
              <a:t>In order to minimize this indicator, a modified iterative Newton algorithm is used. The rule for updating the position of each point is implemented as follows (α = 0.3 ÷ 0.4):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16</a:t>
            </a:fld>
            <a:endParaRPr lang="pl-PL"/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993704"/>
              </p:ext>
            </p:extLst>
          </p:nvPr>
        </p:nvGraphicFramePr>
        <p:xfrm>
          <a:off x="2304990" y="2523045"/>
          <a:ext cx="7172325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7473815" imgH="1411251" progId="Word.Document.12">
                  <p:embed/>
                </p:oleObj>
              </mc:Choice>
              <mc:Fallback>
                <p:oleObj name="Dokument" r:id="rId2" imgW="7473815" imgH="1411251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4990" y="2523045"/>
                        <a:ext cx="7172325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818249"/>
              </p:ext>
            </p:extLst>
          </p:nvPr>
        </p:nvGraphicFramePr>
        <p:xfrm>
          <a:off x="1667652" y="5199268"/>
          <a:ext cx="7172325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4" imgW="7473815" imgH="1464173" progId="Word.Document.12">
                  <p:embed/>
                </p:oleObj>
              </mc:Choice>
              <mc:Fallback>
                <p:oleObj name="Dokument" r:id="rId4" imgW="7473815" imgH="1464173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652" y="5199268"/>
                        <a:ext cx="7172325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73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NSM – </a:t>
            </a:r>
            <a:r>
              <a:rPr lang="pl-PL" dirty="0" err="1"/>
              <a:t>procedure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1. </a:t>
            </a:r>
            <a:r>
              <a:rPr lang="en-US" dirty="0"/>
              <a:t>Find all distances between the elements of the set.</a:t>
            </a:r>
          </a:p>
          <a:p>
            <a:r>
              <a:rPr lang="pl-PL" dirty="0"/>
              <a:t>2. </a:t>
            </a:r>
            <a:r>
              <a:rPr lang="en-US" dirty="0"/>
              <a:t>Determine initial positions of points in the reduced space - either randomly or using </a:t>
            </a:r>
            <a:r>
              <a:rPr lang="en-US" dirty="0" err="1"/>
              <a:t>eg</a:t>
            </a:r>
            <a:r>
              <a:rPr lang="en-US" dirty="0"/>
              <a:t> PCA.</a:t>
            </a:r>
          </a:p>
          <a:p>
            <a:r>
              <a:rPr lang="pl-PL" dirty="0"/>
              <a:t>3. </a:t>
            </a:r>
            <a:r>
              <a:rPr lang="en-US" dirty="0"/>
              <a:t>Find the offset value for each set point.</a:t>
            </a:r>
          </a:p>
          <a:p>
            <a:r>
              <a:rPr lang="pl-PL" dirty="0"/>
              <a:t>4. </a:t>
            </a:r>
            <a:r>
              <a:rPr lang="en-US" dirty="0"/>
              <a:t>Update point locations.</a:t>
            </a:r>
          </a:p>
          <a:p>
            <a:r>
              <a:rPr lang="pl-PL" dirty="0"/>
              <a:t>5. </a:t>
            </a:r>
            <a:r>
              <a:rPr lang="en-US" dirty="0"/>
              <a:t>Do 3 - 4 until the stress value does not decrease.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1763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9056"/>
          </a:xfrm>
        </p:spPr>
        <p:txBody>
          <a:bodyPr/>
          <a:lstStyle/>
          <a:p>
            <a:pPr algn="ctr"/>
            <a:r>
              <a:rPr lang="pl-PL" dirty="0"/>
              <a:t>t-SNE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286109" y="859466"/>
            <a:ext cx="11618343" cy="54205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t-SNE - t-Distributed Stochastic Neighborhood Embedding - modification of the original SNE algorithm, developed by Laurens van der </a:t>
            </a:r>
            <a:r>
              <a:rPr lang="en-US" dirty="0" err="1"/>
              <a:t>Maaten</a:t>
            </a:r>
            <a:r>
              <a:rPr lang="en-US" dirty="0"/>
              <a:t> (2008). It is based on the concept of preserving the local data distribution.</a:t>
            </a:r>
          </a:p>
          <a:p>
            <a:r>
              <a:rPr lang="pl-PL" dirty="0"/>
              <a:t>SNE</a:t>
            </a:r>
            <a:r>
              <a:rPr lang="en-US" dirty="0"/>
              <a:t>:</a:t>
            </a:r>
          </a:p>
          <a:p>
            <a:r>
              <a:rPr lang="en-US" dirty="0"/>
              <a:t>For two points in the primary space 𝑥_𝑖 and 𝑥_𝑗, the probabilities determining their similarity are determined: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wherein: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the sum of 𝑝_𝑖𝑗 after all 𝑖, 𝑗 is 1. The parameter 𝜎_𝑖𝑗 is selected on the basis of the so-called perplexity (number of neighbors - generally in the range of 5-50).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18</a:t>
            </a:fld>
            <a:endParaRPr lang="pl-P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164AB-B644-B34C-9DED-EC43CF08F03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39377" y="2940904"/>
            <a:ext cx="4127500" cy="9398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5273723-0A89-3C49-BE40-CC57F757A61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55942" y="4448276"/>
            <a:ext cx="18669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37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78671"/>
          </a:xfrm>
        </p:spPr>
        <p:txBody>
          <a:bodyPr>
            <a:normAutofit fontScale="90000"/>
          </a:bodyPr>
          <a:lstStyle/>
          <a:p>
            <a:pPr algn="ctr"/>
            <a:r>
              <a:rPr lang="pl-PL" dirty="0"/>
              <a:t>t-SNE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98253" y="850840"/>
            <a:ext cx="11126638" cy="52911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Similar probabilities can be defined in the reduced space: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all the magic - we set 𝑦_𝑖 in such a way as to minimize the coefficient of divergence of </a:t>
            </a:r>
            <a:r>
              <a:rPr lang="en-US" dirty="0" err="1"/>
              <a:t>Kullback-Leibler</a:t>
            </a:r>
            <a:r>
              <a:rPr lang="en-US" dirty="0"/>
              <a:t> distributions: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t-SNE uses the t-Student distribution instead of the Gaussian distribution.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19</a:t>
            </a:fld>
            <a:endParaRPr lang="pl-PL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4E709F3-33F5-6347-9E39-71327468827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52062" y="1771517"/>
            <a:ext cx="4051300" cy="95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93B7EA-A35A-7648-BF73-29BA9969AD8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50512" y="4177592"/>
            <a:ext cx="34544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85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t-SNE </a:t>
            </a:r>
            <a:r>
              <a:rPr lang="pl-PL" dirty="0" err="1"/>
              <a:t>illustration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20</a:t>
            </a:fld>
            <a:endParaRPr lang="pl-PL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188A28AD-734E-0545-9D40-1DD9E3E381B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334" y="1825625"/>
            <a:ext cx="4064000" cy="4064000"/>
          </a:xfrm>
          <a:prstGeom prst="rect">
            <a:avLst/>
          </a:prstGeom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095AACCB-62D8-7D4B-B6FD-54A63E9FB5C6}"/>
              </a:ext>
            </a:extLst>
          </p:cNvPr>
          <p:cNvSpPr/>
          <p:nvPr/>
        </p:nvSpPr>
        <p:spPr>
          <a:xfrm>
            <a:off x="506588" y="5988411"/>
            <a:ext cx="82653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x-none" sz="1200" dirty="0"/>
              <a:t>https://www.oreilly.com/content/an-illustrated-introduction-to-the-t-sne-algorithm/</a:t>
            </a:r>
          </a:p>
        </p:txBody>
      </p:sp>
    </p:spTree>
    <p:extLst>
      <p:ext uri="{BB962C8B-B14F-4D97-AF65-F5344CB8AC3E}">
        <p14:creationId xmlns:p14="http://schemas.microsoft.com/office/powerpoint/2010/main" val="3883866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21</a:t>
            </a:fld>
            <a:endParaRPr lang="pl-PL"/>
          </a:p>
        </p:txBody>
      </p:sp>
      <p:pic>
        <p:nvPicPr>
          <p:cNvPr id="5" name="Picture 2" descr="http://upload.wikimedia.org/wikipedia/commons/4/48/SlideQualityLif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741" y="528611"/>
            <a:ext cx="9001000" cy="5827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37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PCA – </a:t>
            </a:r>
            <a:r>
              <a:rPr lang="pl-PL" dirty="0" err="1"/>
              <a:t>graphical</a:t>
            </a:r>
            <a:r>
              <a:rPr lang="pl-PL" dirty="0"/>
              <a:t> </a:t>
            </a:r>
            <a:r>
              <a:rPr lang="pl-PL" dirty="0" err="1"/>
              <a:t>explanation</a:t>
            </a:r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57647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33091" y="228956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lang="pl-PL" dirty="0" err="1"/>
              <a:t>Let</a:t>
            </a:r>
            <a:r>
              <a:rPr lang="pl-PL" dirty="0"/>
              <a:t> </a:t>
            </a:r>
            <a:r>
              <a:rPr lang="pl-PL" dirty="0" err="1"/>
              <a:t>us</a:t>
            </a:r>
            <a:r>
              <a:rPr lang="pl-PL" dirty="0"/>
              <a:t> </a:t>
            </a:r>
            <a:r>
              <a:rPr lang="pl-PL" dirty="0" err="1"/>
              <a:t>imagine</a:t>
            </a:r>
            <a:r>
              <a:rPr lang="pl-PL" dirty="0"/>
              <a:t> a data set…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23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 rotWithShape="1">
          <a:blip r:embed="rId2"/>
          <a:srcRect l="2193" t="30440" r="69859" b="43271"/>
          <a:stretch/>
        </p:blipFill>
        <p:spPr>
          <a:xfrm>
            <a:off x="838200" y="1492369"/>
            <a:ext cx="4572002" cy="2419110"/>
          </a:xfrm>
          <a:prstGeom prst="rect">
            <a:avLst/>
          </a:prstGeom>
        </p:spPr>
      </p:pic>
      <p:pic>
        <p:nvPicPr>
          <p:cNvPr id="6" name="Obraz 5"/>
          <p:cNvPicPr>
            <a:picLocks noChangeAspect="1"/>
          </p:cNvPicPr>
          <p:nvPr/>
        </p:nvPicPr>
        <p:blipFill rotWithShape="1">
          <a:blip r:embed="rId3"/>
          <a:srcRect l="2264" t="31572" r="70778" b="44402"/>
          <a:stretch/>
        </p:blipFill>
        <p:spPr>
          <a:xfrm>
            <a:off x="6096000" y="1492369"/>
            <a:ext cx="4501552" cy="2256683"/>
          </a:xfrm>
          <a:prstGeom prst="rect">
            <a:avLst/>
          </a:prstGeom>
        </p:spPr>
      </p:pic>
      <p:pic>
        <p:nvPicPr>
          <p:cNvPr id="7" name="Obraz 6"/>
          <p:cNvPicPr>
            <a:picLocks noChangeAspect="1"/>
          </p:cNvPicPr>
          <p:nvPr/>
        </p:nvPicPr>
        <p:blipFill rotWithShape="1">
          <a:blip r:embed="rId4"/>
          <a:srcRect l="29646" t="26667" r="39788" b="30440"/>
          <a:stretch/>
        </p:blipFill>
        <p:spPr>
          <a:xfrm>
            <a:off x="3546896" y="3911479"/>
            <a:ext cx="3726611" cy="2941608"/>
          </a:xfrm>
          <a:prstGeom prst="rect">
            <a:avLst/>
          </a:prstGeom>
        </p:spPr>
      </p:pic>
      <p:sp>
        <p:nvSpPr>
          <p:cNvPr id="8" name="Objaśnienie liniowe 2 7"/>
          <p:cNvSpPr/>
          <p:nvPr/>
        </p:nvSpPr>
        <p:spPr>
          <a:xfrm>
            <a:off x="7893170" y="3911479"/>
            <a:ext cx="3460630" cy="171294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7751"/>
              <a:gd name="adj6" fmla="val -3196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We </a:t>
            </a:r>
            <a:r>
              <a:rPr lang="pl-PL" dirty="0" err="1">
                <a:solidFill>
                  <a:schemeClr val="tx1"/>
                </a:solidFill>
              </a:rPr>
              <a:t>can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pl-PL" dirty="0" err="1">
                <a:solidFill>
                  <a:schemeClr val="tx1"/>
                </a:solidFill>
              </a:rPr>
              <a:t>see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pl-PL" dirty="0" err="1">
                <a:solidFill>
                  <a:schemeClr val="tx1"/>
                </a:solidFill>
              </a:rPr>
              <a:t>that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pl-PL" dirty="0" err="1">
                <a:solidFill>
                  <a:schemeClr val="tx1"/>
                </a:solidFill>
              </a:rPr>
              <a:t>points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pl-PL" dirty="0" err="1">
                <a:solidFill>
                  <a:schemeClr val="tx1"/>
                </a:solidFill>
              </a:rPr>
              <a:t>create</a:t>
            </a:r>
            <a:r>
              <a:rPr lang="pl-PL" dirty="0">
                <a:solidFill>
                  <a:schemeClr val="tx1"/>
                </a:solidFill>
              </a:rPr>
              <a:t> 2 </a:t>
            </a:r>
            <a:r>
              <a:rPr lang="pl-PL" dirty="0" err="1">
                <a:solidFill>
                  <a:schemeClr val="tx1"/>
                </a:solidFill>
              </a:rPr>
              <a:t>clusters</a:t>
            </a:r>
            <a:r>
              <a:rPr lang="pl-PL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767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86953"/>
          </a:xfrm>
        </p:spPr>
        <p:txBody>
          <a:bodyPr>
            <a:normAutofit/>
          </a:bodyPr>
          <a:lstStyle/>
          <a:p>
            <a:pPr algn="ctr"/>
            <a:r>
              <a:rPr lang="pl-PL" sz="2800" b="1" dirty="0"/>
              <a:t>For 4 </a:t>
            </a:r>
            <a:r>
              <a:rPr lang="pl-PL" sz="2800" b="1" dirty="0" err="1"/>
              <a:t>features</a:t>
            </a:r>
            <a:r>
              <a:rPr lang="pl-PL" sz="2800" b="1" dirty="0"/>
              <a:t>, we </a:t>
            </a:r>
            <a:r>
              <a:rPr lang="pl-PL" sz="2800" b="1" dirty="0" err="1"/>
              <a:t>cannot</a:t>
            </a:r>
            <a:r>
              <a:rPr lang="pl-PL" sz="2800" b="1" dirty="0"/>
              <a:t> plot data </a:t>
            </a:r>
            <a:r>
              <a:rPr lang="pl-PL" sz="2800" b="1" dirty="0" err="1"/>
              <a:t>any</a:t>
            </a:r>
            <a:r>
              <a:rPr lang="pl-PL" sz="2800" b="1" dirty="0"/>
              <a:t> </a:t>
            </a:r>
            <a:r>
              <a:rPr lang="pl-PL" sz="2800" b="1" dirty="0" err="1"/>
              <a:t>more</a:t>
            </a:r>
            <a:r>
              <a:rPr lang="pl-PL" sz="2800" b="1" dirty="0"/>
              <a:t>, </a:t>
            </a:r>
            <a:r>
              <a:rPr lang="pl-PL" sz="2800" b="1" dirty="0" err="1"/>
              <a:t>unless</a:t>
            </a:r>
            <a:r>
              <a:rPr lang="pl-PL" sz="2800" b="1" dirty="0"/>
              <a:t> we </a:t>
            </a:r>
            <a:r>
              <a:rPr lang="pl-PL" sz="2800" b="1" dirty="0" err="1"/>
              <a:t>apply</a:t>
            </a:r>
            <a:r>
              <a:rPr lang="pl-PL" sz="2800" b="1" dirty="0"/>
              <a:t> the PCA </a:t>
            </a:r>
            <a:r>
              <a:rPr lang="pl-PL" sz="2800" b="1" dirty="0" err="1"/>
              <a:t>technique</a:t>
            </a:r>
            <a:endParaRPr lang="pl-PL" sz="2800" b="1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24</a:t>
            </a:fld>
            <a:endParaRPr lang="pl-PL"/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60" y="1414297"/>
            <a:ext cx="10886635" cy="446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48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PCA </a:t>
            </a:r>
            <a:r>
              <a:rPr lang="pl-PL" dirty="0" err="1"/>
              <a:t>helps</a:t>
            </a:r>
            <a:r>
              <a:rPr lang="pl-PL" dirty="0"/>
              <a:t> to </a:t>
            </a:r>
            <a:r>
              <a:rPr lang="pl-PL" dirty="0" err="1"/>
              <a:t>reduce</a:t>
            </a:r>
            <a:r>
              <a:rPr lang="pl-PL" dirty="0"/>
              <a:t> </a:t>
            </a:r>
            <a:r>
              <a:rPr lang="pl-PL" dirty="0" err="1"/>
              <a:t>dimentions</a:t>
            </a:r>
            <a:r>
              <a:rPr lang="pl-PL" dirty="0"/>
              <a:t>, but </a:t>
            </a:r>
            <a:r>
              <a:rPr lang="pl-PL" dirty="0" err="1"/>
              <a:t>at</a:t>
            </a:r>
            <a:r>
              <a:rPr lang="pl-PL" dirty="0"/>
              <a:t> the same </a:t>
            </a:r>
            <a:r>
              <a:rPr lang="pl-PL" dirty="0" err="1"/>
              <a:t>time</a:t>
            </a:r>
            <a:r>
              <a:rPr lang="pl-PL" dirty="0"/>
              <a:t> </a:t>
            </a:r>
            <a:r>
              <a:rPr lang="pl-PL" dirty="0" err="1"/>
              <a:t>it</a:t>
            </a:r>
            <a:r>
              <a:rPr lang="pl-PL" dirty="0"/>
              <a:t> </a:t>
            </a:r>
            <a:r>
              <a:rPr lang="pl-PL" dirty="0" err="1"/>
              <a:t>helps</a:t>
            </a:r>
            <a:r>
              <a:rPr lang="pl-PL" dirty="0"/>
              <a:t> </a:t>
            </a:r>
            <a:r>
              <a:rPr lang="pl-PL" dirty="0" err="1"/>
              <a:t>understand</a:t>
            </a:r>
            <a:r>
              <a:rPr lang="pl-PL" dirty="0"/>
              <a:t> a data set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25</a:t>
            </a:fld>
            <a:endParaRPr lang="pl-PL"/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 rotWithShape="1">
          <a:blip r:embed="rId2"/>
          <a:srcRect l="1769" t="25157" r="39151" b="30063"/>
          <a:stretch/>
        </p:blipFill>
        <p:spPr>
          <a:xfrm>
            <a:off x="1751162" y="2061713"/>
            <a:ext cx="7203057" cy="307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71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26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 rotWithShape="1">
          <a:blip r:embed="rId2"/>
          <a:srcRect l="1627" t="31572" r="40283" b="27924"/>
          <a:stretch/>
        </p:blipFill>
        <p:spPr>
          <a:xfrm>
            <a:off x="2835584" y="1531493"/>
            <a:ext cx="5840083" cy="2290508"/>
          </a:xfrm>
          <a:prstGeom prst="rect">
            <a:avLst/>
          </a:prstGeom>
        </p:spPr>
      </p:pic>
      <p:pic>
        <p:nvPicPr>
          <p:cNvPr id="7" name="Obraz 6"/>
          <p:cNvPicPr>
            <a:picLocks noChangeAspect="1"/>
          </p:cNvPicPr>
          <p:nvPr/>
        </p:nvPicPr>
        <p:blipFill rotWithShape="1">
          <a:blip r:embed="rId3"/>
          <a:srcRect l="2052" t="28679" r="39576" b="27421"/>
          <a:stretch/>
        </p:blipFill>
        <p:spPr>
          <a:xfrm>
            <a:off x="2835584" y="3849972"/>
            <a:ext cx="5434642" cy="229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26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0430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27</a:t>
            </a:fld>
            <a:endParaRPr lang="pl-PL"/>
          </a:p>
        </p:txBody>
      </p:sp>
      <p:pic>
        <p:nvPicPr>
          <p:cNvPr id="8" name="Obraz 7"/>
          <p:cNvPicPr>
            <a:picLocks noChangeAspect="1"/>
          </p:cNvPicPr>
          <p:nvPr/>
        </p:nvPicPr>
        <p:blipFill rotWithShape="1">
          <a:blip r:embed="rId2"/>
          <a:srcRect l="2548" t="28302" r="40495" b="29434"/>
          <a:stretch/>
        </p:blipFill>
        <p:spPr>
          <a:xfrm>
            <a:off x="2549842" y="730430"/>
            <a:ext cx="5962992" cy="2488902"/>
          </a:xfrm>
          <a:prstGeom prst="rect">
            <a:avLst/>
          </a:prstGeom>
        </p:spPr>
      </p:pic>
      <p:pic>
        <p:nvPicPr>
          <p:cNvPr id="10" name="Obraz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769" y="3340198"/>
            <a:ext cx="6288297" cy="338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36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235730"/>
            <a:ext cx="10515600" cy="816694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28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1754757"/>
            <a:ext cx="6896100" cy="4038600"/>
          </a:xfrm>
          <a:prstGeom prst="rect">
            <a:avLst/>
          </a:prstGeom>
        </p:spPr>
      </p:pic>
      <p:sp>
        <p:nvSpPr>
          <p:cNvPr id="7" name="Objaśnienie owalne 6"/>
          <p:cNvSpPr/>
          <p:nvPr/>
        </p:nvSpPr>
        <p:spPr>
          <a:xfrm>
            <a:off x="7384212" y="1276709"/>
            <a:ext cx="4149306" cy="2467155"/>
          </a:xfrm>
          <a:prstGeom prst="wedgeEllipseCallout">
            <a:avLst>
              <a:gd name="adj1" fmla="val -40615"/>
              <a:gd name="adj2" fmla="val 5886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dirty="0"/>
              <a:t>We </a:t>
            </a:r>
            <a:r>
              <a:rPr lang="pl-PL" dirty="0" err="1"/>
              <a:t>will</a:t>
            </a:r>
            <a:r>
              <a:rPr lang="pl-PL" dirty="0"/>
              <a:t> </a:t>
            </a:r>
            <a:r>
              <a:rPr lang="pl-PL" dirty="0" err="1"/>
              <a:t>now</a:t>
            </a:r>
            <a:r>
              <a:rPr lang="pl-PL" dirty="0"/>
              <a:t> </a:t>
            </a:r>
            <a:r>
              <a:rPr lang="pl-PL" dirty="0" err="1"/>
              <a:t>try</a:t>
            </a:r>
            <a:r>
              <a:rPr lang="pl-PL" dirty="0"/>
              <a:t> to </a:t>
            </a:r>
            <a:r>
              <a:rPr lang="pl-PL" dirty="0" err="1"/>
              <a:t>find</a:t>
            </a:r>
            <a:r>
              <a:rPr lang="pl-PL" dirty="0"/>
              <a:t> the </a:t>
            </a:r>
            <a:r>
              <a:rPr lang="pl-PL" dirty="0" err="1"/>
              <a:t>line</a:t>
            </a:r>
            <a:r>
              <a:rPr lang="pl-PL" dirty="0"/>
              <a:t> </a:t>
            </a:r>
            <a:r>
              <a:rPr lang="pl-PL" dirty="0" err="1"/>
              <a:t>which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the </a:t>
            </a:r>
            <a:r>
              <a:rPr lang="pl-PL" dirty="0" err="1"/>
              <a:t>closest</a:t>
            </a:r>
            <a:r>
              <a:rPr lang="pl-PL" dirty="0"/>
              <a:t> from </a:t>
            </a:r>
            <a:r>
              <a:rPr lang="pl-PL" dirty="0" err="1"/>
              <a:t>all</a:t>
            </a:r>
            <a:r>
              <a:rPr lang="pl-PL" dirty="0"/>
              <a:t> the </a:t>
            </a:r>
            <a:r>
              <a:rPr lang="pl-PL" dirty="0" err="1"/>
              <a:t>points</a:t>
            </a:r>
            <a:r>
              <a:rPr lang="pl-PL" dirty="0"/>
              <a:t>. PCA </a:t>
            </a:r>
            <a:r>
              <a:rPr lang="pl-PL" dirty="0" err="1"/>
              <a:t>projects</a:t>
            </a:r>
            <a:r>
              <a:rPr lang="pl-PL" dirty="0"/>
              <a:t> the </a:t>
            </a:r>
            <a:r>
              <a:rPr lang="pl-PL" dirty="0" err="1"/>
              <a:t>points</a:t>
            </a:r>
            <a:r>
              <a:rPr lang="pl-PL" dirty="0"/>
              <a:t> </a:t>
            </a:r>
            <a:r>
              <a:rPr lang="pl-PL" dirty="0" err="1"/>
              <a:t>onto</a:t>
            </a:r>
            <a:r>
              <a:rPr lang="pl-PL" dirty="0"/>
              <a:t> the </a:t>
            </a:r>
            <a:r>
              <a:rPr lang="pl-PL" dirty="0" err="1"/>
              <a:t>line</a:t>
            </a:r>
            <a:r>
              <a:rPr lang="pl-PL" dirty="0"/>
              <a:t> and </a:t>
            </a:r>
            <a:r>
              <a:rPr lang="pl-PL" dirty="0" err="1"/>
              <a:t>measures</a:t>
            </a:r>
            <a:r>
              <a:rPr lang="pl-PL" dirty="0"/>
              <a:t> </a:t>
            </a:r>
            <a:r>
              <a:rPr lang="pl-PL" dirty="0" err="1"/>
              <a:t>distances</a:t>
            </a:r>
            <a:r>
              <a:rPr lang="pl-PL" dirty="0"/>
              <a:t> from the </a:t>
            </a:r>
            <a:r>
              <a:rPr lang="pl-PL" dirty="0" err="1"/>
              <a:t>points</a:t>
            </a:r>
            <a:r>
              <a:rPr lang="pl-PL" dirty="0"/>
              <a:t> </a:t>
            </a:r>
            <a:r>
              <a:rPr lang="pl-PL" dirty="0" err="1"/>
              <a:t>towards</a:t>
            </a:r>
            <a:r>
              <a:rPr lang="pl-PL" dirty="0"/>
              <a:t> </a:t>
            </a:r>
            <a:r>
              <a:rPr lang="pl-PL" dirty="0" err="1"/>
              <a:t>these</a:t>
            </a:r>
            <a:r>
              <a:rPr lang="pl-PL" dirty="0"/>
              <a:t> </a:t>
            </a:r>
            <a:r>
              <a:rPr lang="pl-PL" dirty="0" err="1"/>
              <a:t>projected</a:t>
            </a:r>
            <a:r>
              <a:rPr lang="pl-PL" dirty="0"/>
              <a:t> </a:t>
            </a:r>
            <a:r>
              <a:rPr lang="pl-PL" dirty="0" err="1"/>
              <a:t>points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2059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29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094" y="1870075"/>
            <a:ext cx="7334250" cy="3971925"/>
          </a:xfrm>
          <a:prstGeom prst="rect">
            <a:avLst/>
          </a:prstGeom>
        </p:spPr>
      </p:pic>
      <p:sp>
        <p:nvSpPr>
          <p:cNvPr id="7" name="Objaśnienie owalne 6"/>
          <p:cNvSpPr/>
          <p:nvPr/>
        </p:nvSpPr>
        <p:spPr>
          <a:xfrm>
            <a:off x="7384212" y="1276709"/>
            <a:ext cx="4149306" cy="2467155"/>
          </a:xfrm>
          <a:prstGeom prst="wedgeEllipseCallout">
            <a:avLst>
              <a:gd name="adj1" fmla="val -40615"/>
              <a:gd name="adj2" fmla="val 5886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dirty="0" err="1"/>
              <a:t>Technically</a:t>
            </a:r>
            <a:r>
              <a:rPr lang="pl-PL" dirty="0"/>
              <a:t>, PCA </a:t>
            </a:r>
            <a:r>
              <a:rPr lang="pl-PL" dirty="0" err="1"/>
              <a:t>does</a:t>
            </a:r>
            <a:r>
              <a:rPr lang="pl-PL" dirty="0"/>
              <a:t> not </a:t>
            </a:r>
            <a:r>
              <a:rPr lang="pl-PL" dirty="0" err="1"/>
              <a:t>maximize</a:t>
            </a:r>
            <a:r>
              <a:rPr lang="pl-PL" dirty="0"/>
              <a:t> </a:t>
            </a:r>
            <a:r>
              <a:rPr lang="pl-PL" dirty="0" err="1"/>
              <a:t>distances</a:t>
            </a:r>
            <a:r>
              <a:rPr lang="pl-PL" dirty="0"/>
              <a:t> </a:t>
            </a:r>
            <a:r>
              <a:rPr lang="pl-PL" dirty="0" err="1"/>
              <a:t>between</a:t>
            </a:r>
            <a:r>
              <a:rPr lang="pl-PL" dirty="0"/>
              <a:t> </a:t>
            </a:r>
            <a:r>
              <a:rPr lang="pl-PL" dirty="0" err="1"/>
              <a:t>points</a:t>
            </a:r>
            <a:r>
              <a:rPr lang="pl-PL" dirty="0"/>
              <a:t> and </a:t>
            </a:r>
            <a:r>
              <a:rPr lang="pl-PL" dirty="0" err="1"/>
              <a:t>their</a:t>
            </a:r>
            <a:r>
              <a:rPr lang="pl-PL" dirty="0"/>
              <a:t> </a:t>
            </a:r>
            <a:r>
              <a:rPr lang="pl-PL" dirty="0" err="1"/>
              <a:t>projections</a:t>
            </a:r>
            <a:r>
              <a:rPr lang="pl-PL" dirty="0"/>
              <a:t>. </a:t>
            </a:r>
            <a:r>
              <a:rPr lang="pl-PL" dirty="0" err="1"/>
              <a:t>Equivalent</a:t>
            </a:r>
            <a:r>
              <a:rPr lang="pl-PL" dirty="0"/>
              <a:t> </a:t>
            </a:r>
            <a:r>
              <a:rPr lang="pl-PL" dirty="0" err="1"/>
              <a:t>approach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to </a:t>
            </a:r>
            <a:r>
              <a:rPr lang="pl-PL" dirty="0" err="1"/>
              <a:t>maximize</a:t>
            </a:r>
            <a:r>
              <a:rPr lang="pl-PL" dirty="0"/>
              <a:t> </a:t>
            </a:r>
            <a:r>
              <a:rPr lang="pl-PL" dirty="0" err="1"/>
              <a:t>squared</a:t>
            </a:r>
            <a:r>
              <a:rPr lang="pl-PL" dirty="0"/>
              <a:t> </a:t>
            </a:r>
            <a:r>
              <a:rPr lang="pl-PL" dirty="0" err="1"/>
              <a:t>distances</a:t>
            </a:r>
            <a:r>
              <a:rPr lang="pl-PL" dirty="0"/>
              <a:t> from </a:t>
            </a:r>
            <a:r>
              <a:rPr lang="pl-PL" dirty="0" err="1"/>
              <a:t>projected</a:t>
            </a:r>
            <a:r>
              <a:rPr lang="pl-PL" dirty="0"/>
              <a:t> </a:t>
            </a:r>
            <a:r>
              <a:rPr lang="pl-PL" dirty="0" err="1"/>
              <a:t>points</a:t>
            </a:r>
            <a:r>
              <a:rPr lang="pl-PL" dirty="0"/>
              <a:t> from the point of </a:t>
            </a:r>
            <a:r>
              <a:rPr lang="pl-PL" dirty="0" err="1"/>
              <a:t>origin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8586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0211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30</a:t>
            </a:fld>
            <a:endParaRPr lang="pl-PL"/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687" y="1825625"/>
            <a:ext cx="652462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29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31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792" y="2024856"/>
            <a:ext cx="62674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183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32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926" y="1870075"/>
            <a:ext cx="8150255" cy="4371399"/>
          </a:xfrm>
          <a:prstGeom prst="rect">
            <a:avLst/>
          </a:prstGeom>
        </p:spPr>
      </p:pic>
      <p:sp>
        <p:nvSpPr>
          <p:cNvPr id="7" name="pole tekstowe 6"/>
          <p:cNvSpPr txBox="1"/>
          <p:nvPr/>
        </p:nvSpPr>
        <p:spPr>
          <a:xfrm>
            <a:off x="1725283" y="3655664"/>
            <a:ext cx="3838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 dirty="0"/>
              <a:t>The </a:t>
            </a:r>
            <a:r>
              <a:rPr lang="pl-PL" sz="2000" b="1" dirty="0" err="1"/>
              <a:t>slope</a:t>
            </a:r>
            <a:r>
              <a:rPr lang="pl-PL" sz="2000" b="1" dirty="0"/>
              <a:t> </a:t>
            </a:r>
            <a:r>
              <a:rPr lang="pl-PL" sz="2000" b="1" dirty="0" err="1"/>
              <a:t>coefficient</a:t>
            </a:r>
            <a:r>
              <a:rPr lang="pl-PL" sz="2000" b="1" dirty="0"/>
              <a:t> </a:t>
            </a:r>
            <a:r>
              <a:rPr lang="pl-PL" sz="2000" b="1" dirty="0" err="1"/>
              <a:t>is</a:t>
            </a:r>
            <a:r>
              <a:rPr lang="pl-PL" sz="2000" b="1" dirty="0"/>
              <a:t> 0.25</a:t>
            </a:r>
          </a:p>
        </p:txBody>
      </p:sp>
    </p:spTree>
    <p:extLst>
      <p:ext uri="{BB962C8B-B14F-4D97-AF65-F5344CB8AC3E}">
        <p14:creationId xmlns:p14="http://schemas.microsoft.com/office/powerpoint/2010/main" val="26749394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3947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33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539" y="1751880"/>
            <a:ext cx="7172325" cy="3733800"/>
          </a:xfrm>
          <a:prstGeom prst="rect">
            <a:avLst/>
          </a:prstGeom>
        </p:spPr>
      </p:pic>
      <p:sp>
        <p:nvSpPr>
          <p:cNvPr id="7" name="Objaśnienie owalne 6"/>
          <p:cNvSpPr/>
          <p:nvPr/>
        </p:nvSpPr>
        <p:spPr>
          <a:xfrm>
            <a:off x="8238226" y="1199073"/>
            <a:ext cx="3786997" cy="2907102"/>
          </a:xfrm>
          <a:prstGeom prst="wedgeEllipseCallout">
            <a:avLst>
              <a:gd name="adj1" fmla="val -64797"/>
              <a:gd name="adj2" fmla="val 4131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dirty="0" err="1"/>
              <a:t>So</a:t>
            </a:r>
            <a:r>
              <a:rPr lang="pl-PL" dirty="0"/>
              <a:t> data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mostly</a:t>
            </a:r>
            <a:r>
              <a:rPr lang="pl-PL" dirty="0"/>
              <a:t> </a:t>
            </a:r>
            <a:r>
              <a:rPr lang="pl-PL" dirty="0" err="1"/>
              <a:t>spread</a:t>
            </a:r>
            <a:r>
              <a:rPr lang="pl-PL" dirty="0"/>
              <a:t> out </a:t>
            </a:r>
            <a:r>
              <a:rPr lang="pl-PL" dirty="0" err="1"/>
              <a:t>along</a:t>
            </a:r>
            <a:r>
              <a:rPr lang="pl-PL" dirty="0"/>
              <a:t> </a:t>
            </a:r>
            <a:r>
              <a:rPr lang="pl-PL" dirty="0" err="1"/>
              <a:t>ox</a:t>
            </a:r>
            <a:r>
              <a:rPr lang="pl-PL" dirty="0"/>
              <a:t> (</a:t>
            </a:r>
            <a:r>
              <a:rPr lang="pl-PL" dirty="0" err="1"/>
              <a:t>gene</a:t>
            </a:r>
            <a:r>
              <a:rPr lang="pl-PL" dirty="0"/>
              <a:t> 1) </a:t>
            </a:r>
            <a:r>
              <a:rPr lang="pl-PL" dirty="0" err="1"/>
              <a:t>axis</a:t>
            </a:r>
            <a:r>
              <a:rPr lang="pl-PL" dirty="0"/>
              <a:t> and </a:t>
            </a:r>
            <a:r>
              <a:rPr lang="pl-PL" dirty="0" err="1"/>
              <a:t>only</a:t>
            </a:r>
            <a:r>
              <a:rPr lang="pl-PL" dirty="0"/>
              <a:t> a </a:t>
            </a:r>
            <a:r>
              <a:rPr lang="pl-PL" dirty="0" err="1"/>
              <a:t>little</a:t>
            </a:r>
            <a:r>
              <a:rPr lang="pl-PL" dirty="0"/>
              <a:t> bit </a:t>
            </a:r>
            <a:r>
              <a:rPr lang="pl-PL" dirty="0" err="1"/>
              <a:t>over</a:t>
            </a:r>
            <a:r>
              <a:rPr lang="pl-PL" dirty="0"/>
              <a:t> the </a:t>
            </a:r>
            <a:r>
              <a:rPr lang="pl-PL" dirty="0" err="1"/>
              <a:t>oy</a:t>
            </a:r>
            <a:r>
              <a:rPr lang="pl-PL" dirty="0"/>
              <a:t> (</a:t>
            </a:r>
            <a:r>
              <a:rPr lang="pl-PL" dirty="0" err="1"/>
              <a:t>gene</a:t>
            </a:r>
            <a:r>
              <a:rPr lang="pl-PL" dirty="0"/>
              <a:t> 2) </a:t>
            </a:r>
            <a:r>
              <a:rPr lang="pl-PL" dirty="0" err="1"/>
              <a:t>axis</a:t>
            </a:r>
            <a:r>
              <a:rPr lang="pl-PL" dirty="0"/>
              <a:t>. </a:t>
            </a:r>
            <a:br>
              <a:rPr lang="pl-PL" dirty="0"/>
            </a:br>
            <a:r>
              <a:rPr lang="pl-PL" dirty="0"/>
              <a:t>The ratio of </a:t>
            </a:r>
            <a:r>
              <a:rPr lang="pl-PL" dirty="0" err="1"/>
              <a:t>ox</a:t>
            </a:r>
            <a:r>
              <a:rPr lang="pl-PL" dirty="0"/>
              <a:t>/</a:t>
            </a:r>
            <a:r>
              <a:rPr lang="pl-PL" dirty="0" err="1"/>
              <a:t>oy</a:t>
            </a:r>
            <a:r>
              <a:rPr lang="pl-PL" dirty="0"/>
              <a:t> </a:t>
            </a:r>
            <a:r>
              <a:rPr lang="pl-PL" dirty="0" err="1"/>
              <a:t>tells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ox</a:t>
            </a:r>
            <a:r>
              <a:rPr lang="pl-PL" dirty="0"/>
              <a:t> (</a:t>
            </a:r>
            <a:r>
              <a:rPr lang="pl-PL" dirty="0" err="1"/>
              <a:t>gene</a:t>
            </a:r>
            <a:r>
              <a:rPr lang="pl-PL" dirty="0"/>
              <a:t> 1)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important</a:t>
            </a:r>
            <a:r>
              <a:rPr lang="pl-PL" dirty="0"/>
              <a:t>. </a:t>
            </a:r>
            <a:r>
              <a:rPr lang="pl-PL" dirty="0" err="1"/>
              <a:t>Linear</a:t>
            </a:r>
            <a:r>
              <a:rPr lang="pl-PL" dirty="0"/>
              <a:t> </a:t>
            </a:r>
            <a:r>
              <a:rPr lang="pl-PL" dirty="0" err="1"/>
              <a:t>combination</a:t>
            </a:r>
            <a:r>
              <a:rPr lang="pl-PL" dirty="0"/>
              <a:t> of </a:t>
            </a:r>
            <a:r>
              <a:rPr lang="pl-PL" dirty="0" err="1"/>
              <a:t>ox</a:t>
            </a:r>
            <a:r>
              <a:rPr lang="pl-PL" dirty="0"/>
              <a:t> and </a:t>
            </a:r>
            <a:r>
              <a:rPr lang="pl-PL" dirty="0" err="1"/>
              <a:t>oy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4*</a:t>
            </a:r>
            <a:r>
              <a:rPr lang="pl-PL" dirty="0" err="1"/>
              <a:t>ox</a:t>
            </a:r>
            <a:r>
              <a:rPr lang="pl-PL" dirty="0"/>
              <a:t> + 1 * </a:t>
            </a:r>
            <a:r>
              <a:rPr lang="pl-PL" dirty="0" err="1"/>
              <a:t>oy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2149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46090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5120" y="960167"/>
            <a:ext cx="11445816" cy="5466511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34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1710396"/>
            <a:ext cx="600075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50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9222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pic>
        <p:nvPicPr>
          <p:cNvPr id="6" name="Symbol zastępczy zawartości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4675" y="2110581"/>
            <a:ext cx="5962650" cy="3781425"/>
          </a:xfrm>
          <a:prstGeom prst="rect">
            <a:avLst/>
          </a:prstGeom>
        </p:spPr>
      </p:pic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67325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36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319338"/>
            <a:ext cx="6096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72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37</a:t>
            </a:fld>
            <a:endParaRPr lang="pl-PL"/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807" y="1825625"/>
            <a:ext cx="6743700" cy="4000500"/>
          </a:xfrm>
          <a:prstGeom prst="rect">
            <a:avLst/>
          </a:prstGeom>
        </p:spPr>
      </p:pic>
      <p:sp>
        <p:nvSpPr>
          <p:cNvPr id="6" name="Objaśnienie owalne 5"/>
          <p:cNvSpPr/>
          <p:nvPr/>
        </p:nvSpPr>
        <p:spPr>
          <a:xfrm>
            <a:off x="8220973" y="1300762"/>
            <a:ext cx="3786997" cy="2907102"/>
          </a:xfrm>
          <a:prstGeom prst="wedgeEllipseCallout">
            <a:avLst>
              <a:gd name="adj1" fmla="val -85981"/>
              <a:gd name="adj2" fmla="val 3834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dirty="0" err="1"/>
              <a:t>Now</a:t>
            </a:r>
            <a:r>
              <a:rPr lang="pl-PL" dirty="0"/>
              <a:t> </a:t>
            </a:r>
            <a:r>
              <a:rPr lang="pl-PL" dirty="0" err="1"/>
              <a:t>our</a:t>
            </a:r>
            <a:r>
              <a:rPr lang="pl-PL" dirty="0"/>
              <a:t> </a:t>
            </a:r>
            <a:r>
              <a:rPr lang="pl-PL" dirty="0" err="1"/>
              <a:t>proportions</a:t>
            </a:r>
            <a:r>
              <a:rPr lang="pl-PL" dirty="0"/>
              <a:t> of </a:t>
            </a:r>
            <a:r>
              <a:rPr lang="pl-PL" dirty="0" err="1"/>
              <a:t>importance</a:t>
            </a:r>
            <a:r>
              <a:rPr lang="pl-PL" dirty="0"/>
              <a:t> of data on </a:t>
            </a:r>
            <a:r>
              <a:rPr lang="pl-PL" dirty="0" err="1"/>
              <a:t>ox</a:t>
            </a:r>
            <a:r>
              <a:rPr lang="pl-PL" dirty="0"/>
              <a:t> </a:t>
            </a:r>
            <a:r>
              <a:rPr lang="pl-PL" dirty="0" err="1"/>
              <a:t>axis</a:t>
            </a:r>
            <a:r>
              <a:rPr lang="pl-PL" dirty="0"/>
              <a:t> (</a:t>
            </a:r>
            <a:r>
              <a:rPr lang="pl-PL" dirty="0" err="1"/>
              <a:t>gene</a:t>
            </a:r>
            <a:r>
              <a:rPr lang="pl-PL" dirty="0"/>
              <a:t> 1) and data on </a:t>
            </a:r>
            <a:r>
              <a:rPr lang="pl-PL" dirty="0" err="1"/>
              <a:t>oy</a:t>
            </a:r>
            <a:r>
              <a:rPr lang="pl-PL" dirty="0"/>
              <a:t> </a:t>
            </a:r>
            <a:r>
              <a:rPr lang="pl-PL" dirty="0" err="1"/>
              <a:t>axis</a:t>
            </a:r>
            <a:r>
              <a:rPr lang="pl-PL" dirty="0"/>
              <a:t> (</a:t>
            </a:r>
            <a:r>
              <a:rPr lang="pl-PL" dirty="0" err="1"/>
              <a:t>gene</a:t>
            </a:r>
            <a:r>
              <a:rPr lang="pl-PL" dirty="0"/>
              <a:t> 2) </a:t>
            </a:r>
            <a:r>
              <a:rPr lang="pl-PL" dirty="0" err="1"/>
              <a:t>are</a:t>
            </a:r>
            <a:r>
              <a:rPr lang="pl-PL" dirty="0"/>
              <a:t>: 0.97 for </a:t>
            </a:r>
            <a:r>
              <a:rPr lang="pl-PL" dirty="0" err="1"/>
              <a:t>ox</a:t>
            </a:r>
            <a:r>
              <a:rPr lang="pl-PL" dirty="0"/>
              <a:t> and 0.242 for </a:t>
            </a:r>
            <a:r>
              <a:rPr lang="pl-PL" dirty="0" err="1"/>
              <a:t>oy</a:t>
            </a:r>
            <a:r>
              <a:rPr lang="pl-PL" dirty="0"/>
              <a:t>, but the relations </a:t>
            </a:r>
            <a:r>
              <a:rPr lang="pl-PL" dirty="0" err="1"/>
              <a:t>between</a:t>
            </a:r>
            <a:r>
              <a:rPr lang="pl-PL" dirty="0"/>
              <a:t> </a:t>
            </a:r>
            <a:r>
              <a:rPr lang="pl-PL" dirty="0" err="1"/>
              <a:t>them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still</a:t>
            </a:r>
            <a:r>
              <a:rPr lang="pl-PL" dirty="0"/>
              <a:t> 4:1/</a:t>
            </a:r>
          </a:p>
        </p:txBody>
      </p:sp>
    </p:spTree>
    <p:extLst>
      <p:ext uri="{BB962C8B-B14F-4D97-AF65-F5344CB8AC3E}">
        <p14:creationId xmlns:p14="http://schemas.microsoft.com/office/powerpoint/2010/main" val="10616658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4298"/>
            <a:ext cx="10515600" cy="1325563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38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650" y="1590314"/>
            <a:ext cx="7874210" cy="5050441"/>
          </a:xfrm>
          <a:prstGeom prst="rect">
            <a:avLst/>
          </a:prstGeom>
        </p:spPr>
      </p:pic>
      <p:sp>
        <p:nvSpPr>
          <p:cNvPr id="7" name="Objaśnienie owalne 6"/>
          <p:cNvSpPr/>
          <p:nvPr/>
        </p:nvSpPr>
        <p:spPr>
          <a:xfrm>
            <a:off x="6452827" y="1122827"/>
            <a:ext cx="5373988" cy="2595158"/>
          </a:xfrm>
          <a:prstGeom prst="wedgeEllipseCallout">
            <a:avLst>
              <a:gd name="adj1" fmla="val -64076"/>
              <a:gd name="adj2" fmla="val 946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dirty="0" err="1"/>
              <a:t>This</a:t>
            </a:r>
            <a:r>
              <a:rPr lang="pl-PL" dirty="0"/>
              <a:t> </a:t>
            </a:r>
            <a:r>
              <a:rPr lang="pl-PL" dirty="0" err="1"/>
              <a:t>normalized</a:t>
            </a:r>
            <a:r>
              <a:rPr lang="pl-PL" dirty="0"/>
              <a:t> </a:t>
            </a:r>
            <a:r>
              <a:rPr lang="pl-PL" dirty="0" err="1"/>
              <a:t>vector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called</a:t>
            </a:r>
            <a:r>
              <a:rPr lang="pl-PL" dirty="0"/>
              <a:t> the </a:t>
            </a:r>
            <a:r>
              <a:rPr lang="pl-PL" dirty="0" err="1"/>
              <a:t>singular</a:t>
            </a:r>
            <a:r>
              <a:rPr lang="pl-PL" dirty="0"/>
              <a:t> </a:t>
            </a:r>
            <a:r>
              <a:rPr lang="pl-PL" dirty="0" err="1"/>
              <a:t>vector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the </a:t>
            </a:r>
            <a:r>
              <a:rPr lang="pl-PL" dirty="0" err="1"/>
              <a:t>eigenvector</a:t>
            </a:r>
            <a:r>
              <a:rPr lang="pl-PL" dirty="0"/>
              <a:t> for PC1. The </a:t>
            </a:r>
            <a:r>
              <a:rPr lang="pl-PL" dirty="0" err="1"/>
              <a:t>proportions</a:t>
            </a:r>
            <a:r>
              <a:rPr lang="pl-PL" dirty="0"/>
              <a:t> of 0.97 and 0.242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called</a:t>
            </a:r>
            <a:r>
              <a:rPr lang="pl-PL" dirty="0"/>
              <a:t> „</a:t>
            </a:r>
            <a:r>
              <a:rPr lang="pl-PL" dirty="0" err="1"/>
              <a:t>loading</a:t>
            </a:r>
            <a:r>
              <a:rPr lang="pl-PL" dirty="0"/>
              <a:t> </a:t>
            </a:r>
            <a:r>
              <a:rPr lang="pl-PL" dirty="0" err="1"/>
              <a:t>scores</a:t>
            </a:r>
            <a:r>
              <a:rPr lang="pl-PL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307713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7683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39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737" y="1595400"/>
            <a:ext cx="7945648" cy="458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321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6997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40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165" y="1870075"/>
            <a:ext cx="8681049" cy="457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3832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00819" y="320676"/>
            <a:ext cx="10515600" cy="1119936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41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37" y="1825625"/>
            <a:ext cx="8458379" cy="466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333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42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577" y="1870075"/>
            <a:ext cx="7767008" cy="450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0105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2958"/>
          </a:xfrm>
        </p:spPr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43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531" y="1646238"/>
            <a:ext cx="7955352" cy="464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852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44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794" y="1870075"/>
            <a:ext cx="7406407" cy="437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61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45</a:t>
            </a:fld>
            <a:endParaRPr lang="pl-PL"/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320" y="1609153"/>
            <a:ext cx="8479046" cy="465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55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46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 rotWithShape="1">
          <a:blip r:embed="rId2"/>
          <a:srcRect l="7288" t="35471" r="45165" b="21761"/>
          <a:stretch/>
        </p:blipFill>
        <p:spPr>
          <a:xfrm>
            <a:off x="1571445" y="1758797"/>
            <a:ext cx="8909649" cy="450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241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47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 rotWithShape="1">
          <a:blip r:embed="rId2"/>
          <a:srcRect l="22571" t="37988" r="45236" b="22390"/>
          <a:stretch/>
        </p:blipFill>
        <p:spPr>
          <a:xfrm>
            <a:off x="2053086" y="1625854"/>
            <a:ext cx="7203057" cy="498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5902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48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 rotWithShape="1">
          <a:blip r:embed="rId2"/>
          <a:srcRect l="2263" t="24151" r="45378" b="21510"/>
          <a:stretch/>
        </p:blipFill>
        <p:spPr>
          <a:xfrm>
            <a:off x="2156602" y="1690688"/>
            <a:ext cx="7755147" cy="452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423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49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 rotWithShape="1">
          <a:blip r:embed="rId2"/>
          <a:srcRect l="2193" t="24906" r="44812" b="22264"/>
          <a:stretch/>
        </p:blipFill>
        <p:spPr>
          <a:xfrm>
            <a:off x="1774166" y="1690688"/>
            <a:ext cx="8643668" cy="484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521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</a:t>
            </a:r>
            <a:r>
              <a:rPr lang="pl-PL" dirty="0" err="1"/>
              <a:t>only</a:t>
            </a:r>
            <a:r>
              <a:rPr lang="pl-PL" dirty="0"/>
              <a:t> 2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50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214" y="1690688"/>
            <a:ext cx="9056748" cy="434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850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Scree</a:t>
            </a:r>
            <a:r>
              <a:rPr lang="pl-PL" dirty="0"/>
              <a:t> plot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51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340" y="2148083"/>
            <a:ext cx="8381192" cy="349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676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52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 rotWithShape="1">
          <a:blip r:embed="rId2"/>
          <a:srcRect l="2335" t="22390" r="39576" b="28428"/>
          <a:stretch/>
        </p:blipFill>
        <p:spPr>
          <a:xfrm>
            <a:off x="1147312" y="1700636"/>
            <a:ext cx="9661585" cy="460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522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53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935" y="1464695"/>
            <a:ext cx="7793607" cy="507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52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54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761675"/>
            <a:ext cx="7340360" cy="454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436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55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675" y="1690688"/>
            <a:ext cx="7691438" cy="444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974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56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216" y="1690688"/>
            <a:ext cx="8259074" cy="474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879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57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566" y="1690688"/>
            <a:ext cx="8223229" cy="46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5227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58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465" y="1484192"/>
            <a:ext cx="938212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1224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The </a:t>
            </a:r>
            <a:r>
              <a:rPr lang="pl-PL" dirty="0" err="1"/>
              <a:t>number</a:t>
            </a:r>
            <a:r>
              <a:rPr lang="pl-PL" dirty="0"/>
              <a:t> of PCs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either</a:t>
            </a:r>
            <a:r>
              <a:rPr lang="pl-PL" dirty="0"/>
              <a:t> </a:t>
            </a:r>
            <a:r>
              <a:rPr lang="pl-PL" dirty="0" err="1"/>
              <a:t>equal</a:t>
            </a:r>
            <a:r>
              <a:rPr lang="pl-PL" dirty="0"/>
              <a:t> to the </a:t>
            </a:r>
            <a:r>
              <a:rPr lang="pl-PL" dirty="0" err="1"/>
              <a:t>number</a:t>
            </a:r>
            <a:r>
              <a:rPr lang="pl-PL" dirty="0"/>
              <a:t> of </a:t>
            </a:r>
            <a:r>
              <a:rPr lang="pl-PL" dirty="0" err="1"/>
              <a:t>features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the </a:t>
            </a:r>
            <a:r>
              <a:rPr lang="pl-PL" dirty="0" err="1"/>
              <a:t>number</a:t>
            </a:r>
            <a:r>
              <a:rPr lang="pl-PL" dirty="0"/>
              <a:t> of </a:t>
            </a:r>
            <a:r>
              <a:rPr lang="pl-PL" dirty="0" err="1"/>
              <a:t>observations</a:t>
            </a:r>
            <a:r>
              <a:rPr lang="pl-PL" dirty="0"/>
              <a:t>, </a:t>
            </a:r>
            <a:r>
              <a:rPr lang="pl-PL" dirty="0" err="1"/>
              <a:t>whichever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smaller</a:t>
            </a:r>
            <a:r>
              <a:rPr lang="pl-PL" dirty="0"/>
              <a:t>. 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59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6833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60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879" y="1508813"/>
            <a:ext cx="8042245" cy="4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142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61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87" y="1962944"/>
            <a:ext cx="6905625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1976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62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446" y="1499559"/>
            <a:ext cx="7928305" cy="461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6183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63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942" y="1754397"/>
            <a:ext cx="9236824" cy="453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905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64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840" y="1825625"/>
            <a:ext cx="8244428" cy="417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203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65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 rotWithShape="1">
          <a:blip r:embed="rId2"/>
          <a:srcRect l="12807" t="32075" r="43396" b="27170"/>
          <a:stretch/>
        </p:blipFill>
        <p:spPr>
          <a:xfrm>
            <a:off x="1431985" y="1690687"/>
            <a:ext cx="7824158" cy="409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608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66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113" y="2049133"/>
            <a:ext cx="9109135" cy="425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120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The idea of PCA (for 3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67</a:t>
            </a:fld>
            <a:endParaRPr lang="pl-PL"/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45" y="1955140"/>
            <a:ext cx="9762497" cy="357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997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l-PL" dirty="0"/>
              <a:t>The idea of PCA (for 4 </a:t>
            </a:r>
            <a:r>
              <a:rPr lang="pl-PL" dirty="0" err="1"/>
              <a:t>dimensions</a:t>
            </a:r>
            <a:r>
              <a:rPr lang="pl-PL" dirty="0"/>
              <a:t>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68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 rotWithShape="1">
          <a:blip r:embed="rId2"/>
          <a:srcRect l="2830" t="27547" r="48208" b="31698"/>
          <a:stretch/>
        </p:blipFill>
        <p:spPr>
          <a:xfrm>
            <a:off x="80512" y="1206335"/>
            <a:ext cx="5969480" cy="2794959"/>
          </a:xfrm>
          <a:prstGeom prst="rect">
            <a:avLst/>
          </a:prstGeom>
        </p:spPr>
      </p:pic>
      <p:pic>
        <p:nvPicPr>
          <p:cNvPr id="6" name="Obraz 5"/>
          <p:cNvPicPr>
            <a:picLocks noChangeAspect="1"/>
          </p:cNvPicPr>
          <p:nvPr/>
        </p:nvPicPr>
        <p:blipFill rotWithShape="1">
          <a:blip r:embed="rId3"/>
          <a:srcRect l="2618" t="39371" r="45236" b="34214"/>
          <a:stretch/>
        </p:blipFill>
        <p:spPr>
          <a:xfrm>
            <a:off x="5667554" y="1258093"/>
            <a:ext cx="6357669" cy="1811547"/>
          </a:xfrm>
          <a:prstGeom prst="rect">
            <a:avLst/>
          </a:prstGeom>
        </p:spPr>
      </p:pic>
      <p:pic>
        <p:nvPicPr>
          <p:cNvPr id="7" name="Obraz 6"/>
          <p:cNvPicPr>
            <a:picLocks noChangeAspect="1"/>
          </p:cNvPicPr>
          <p:nvPr/>
        </p:nvPicPr>
        <p:blipFill rotWithShape="1">
          <a:blip r:embed="rId4"/>
          <a:srcRect l="5448" t="25409" r="38797" b="33585"/>
          <a:stretch/>
        </p:blipFill>
        <p:spPr>
          <a:xfrm>
            <a:off x="2651184" y="3569702"/>
            <a:ext cx="6797615" cy="281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65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RapidMiner</a:t>
            </a:r>
            <a:r>
              <a:rPr lang="pl-PL" dirty="0"/>
              <a:t> </a:t>
            </a:r>
            <a:r>
              <a:rPr lang="pl-PL" dirty="0" err="1"/>
              <a:t>example</a:t>
            </a:r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Example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 </a:t>
            </a:r>
            <a:r>
              <a:rPr lang="pl-PL" dirty="0" err="1"/>
              <a:t>based</a:t>
            </a:r>
            <a:r>
              <a:rPr lang="pl-PL" dirty="0"/>
              <a:t> on </a:t>
            </a:r>
            <a:r>
              <a:rPr lang="pl-PL" dirty="0" err="1"/>
              <a:t>Iris</a:t>
            </a:r>
            <a:r>
              <a:rPr lang="pl-PL" dirty="0"/>
              <a:t> data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69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61447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70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272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71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595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72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987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73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5827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74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680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3841-6F98-4C0D-9A2A-6A112E4CFB2A}" type="slidenum">
              <a:rPr lang="pl-PL" smtClean="0"/>
              <a:t>75</a:t>
            </a:fld>
            <a:endParaRPr lang="pl-PL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0046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1583</Words>
  <Application>Microsoft Office PowerPoint</Application>
  <PresentationFormat>Widescreen</PresentationFormat>
  <Paragraphs>221</Paragraphs>
  <Slides>75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Arial</vt:lpstr>
      <vt:lpstr>Calibri</vt:lpstr>
      <vt:lpstr>Calibri Light</vt:lpstr>
      <vt:lpstr>Motyw pakietu Office</vt:lpstr>
      <vt:lpstr>Dokument</vt:lpstr>
      <vt:lpstr>Dimentionality reduction and the Principal Component Analysis</vt:lpstr>
      <vt:lpstr>Dimensionality reduction</vt:lpstr>
      <vt:lpstr>Why we reduce dimensions</vt:lpstr>
      <vt:lpstr>Example, concentration of distances</vt:lpstr>
      <vt:lpstr>Feature selection != Feature reduction</vt:lpstr>
      <vt:lpstr>Methods of dimensionality reduction classification</vt:lpstr>
      <vt:lpstr>PCA</vt:lpstr>
      <vt:lpstr>How to find the PC vectors?</vt:lpstr>
      <vt:lpstr>Calculation of eigenvectors</vt:lpstr>
      <vt:lpstr>Calculation of eigenvectors</vt:lpstr>
      <vt:lpstr>PCA - example</vt:lpstr>
      <vt:lpstr>PCA - example</vt:lpstr>
      <vt:lpstr>PCA – casting over PC1 and PC2</vt:lpstr>
      <vt:lpstr>PCA – example 2</vt:lpstr>
      <vt:lpstr>Multi-dimentional scaling</vt:lpstr>
      <vt:lpstr>Non-linear Sammom mapping</vt:lpstr>
      <vt:lpstr>NSM – procedure</vt:lpstr>
      <vt:lpstr>t-SNE</vt:lpstr>
      <vt:lpstr>t-SNE</vt:lpstr>
      <vt:lpstr>t-SNE illustration</vt:lpstr>
      <vt:lpstr>PowerPoint Presentation</vt:lpstr>
      <vt:lpstr>PCA – graphical explanation</vt:lpstr>
      <vt:lpstr>Let us imagine a data set…</vt:lpstr>
      <vt:lpstr>For 4 features, we cannot plot data any more, unless we apply the PCA technique</vt:lpstr>
      <vt:lpstr>PCA helps to reduce dimentions, but at the same time it helps understand a data set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The idea of PCA (for only 2 dimensions)</vt:lpstr>
      <vt:lpstr>Scree plot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3 dimensions)</vt:lpstr>
      <vt:lpstr>The idea of PCA (for 4 dimensions)</vt:lpstr>
      <vt:lpstr>RapidMiner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Joanna Wyrobek</dc:creator>
  <cp:lastModifiedBy>Joanna Wyrobek</cp:lastModifiedBy>
  <cp:revision>72</cp:revision>
  <dcterms:created xsi:type="dcterms:W3CDTF">2020-12-09T18:04:55Z</dcterms:created>
  <dcterms:modified xsi:type="dcterms:W3CDTF">2025-12-08T06:56:51Z</dcterms:modified>
</cp:coreProperties>
</file>