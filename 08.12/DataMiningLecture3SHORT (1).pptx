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62"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263" r:id="rId17"/>
    <p:sldId id="264" r:id="rId18"/>
    <p:sldId id="265" r:id="rId19"/>
    <p:sldId id="296" r:id="rId20"/>
    <p:sldId id="297" r:id="rId21"/>
    <p:sldId id="298" r:id="rId22"/>
    <p:sldId id="313" r:id="rId23"/>
    <p:sldId id="299" r:id="rId24"/>
    <p:sldId id="314" r:id="rId25"/>
    <p:sldId id="315" r:id="rId26"/>
    <p:sldId id="271" r:id="rId27"/>
    <p:sldId id="272" r:id="rId28"/>
    <p:sldId id="273" r:id="rId29"/>
    <p:sldId id="274" r:id="rId30"/>
    <p:sldId id="275" r:id="rId31"/>
    <p:sldId id="276" r:id="rId32"/>
    <p:sldId id="277" r:id="rId33"/>
    <p:sldId id="278" r:id="rId34"/>
    <p:sldId id="279" r:id="rId35"/>
    <p:sldId id="280" r:id="rId36"/>
    <p:sldId id="334" r:id="rId37"/>
    <p:sldId id="320" r:id="rId38"/>
    <p:sldId id="319" r:id="rId39"/>
    <p:sldId id="281" r:id="rId40"/>
    <p:sldId id="316" r:id="rId41"/>
    <p:sldId id="318" r:id="rId42"/>
    <p:sldId id="336" r:id="rId43"/>
    <p:sldId id="352" r:id="rId44"/>
    <p:sldId id="353" r:id="rId45"/>
    <p:sldId id="354" r:id="rId46"/>
    <p:sldId id="355" r:id="rId47"/>
    <p:sldId id="356" r:id="rId48"/>
    <p:sldId id="357" r:id="rId49"/>
    <p:sldId id="358" r:id="rId50"/>
    <p:sldId id="359" r:id="rId51"/>
    <p:sldId id="360" r:id="rId52"/>
    <p:sldId id="361" r:id="rId53"/>
    <p:sldId id="362" r:id="rId54"/>
    <p:sldId id="317" r:id="rId55"/>
    <p:sldId id="337" r:id="rId56"/>
    <p:sldId id="338" r:id="rId57"/>
    <p:sldId id="339" r:id="rId58"/>
    <p:sldId id="340" r:id="rId59"/>
    <p:sldId id="341" r:id="rId60"/>
    <p:sldId id="342" r:id="rId61"/>
    <p:sldId id="343" r:id="rId62"/>
    <p:sldId id="344" r:id="rId63"/>
    <p:sldId id="345" r:id="rId64"/>
    <p:sldId id="346" r:id="rId65"/>
    <p:sldId id="347" r:id="rId66"/>
    <p:sldId id="348" r:id="rId67"/>
    <p:sldId id="349" r:id="rId68"/>
    <p:sldId id="350" r:id="rId69"/>
    <p:sldId id="351" r:id="rId70"/>
    <p:sldId id="363" r:id="rId71"/>
    <p:sldId id="368" r:id="rId72"/>
    <p:sldId id="364" r:id="rId73"/>
    <p:sldId id="369" r:id="rId74"/>
    <p:sldId id="366" r:id="rId75"/>
    <p:sldId id="367" r:id="rId76"/>
    <p:sldId id="370" r:id="rId77"/>
    <p:sldId id="372" r:id="rId78"/>
    <p:sldId id="371" r:id="rId79"/>
    <p:sldId id="373" r:id="rId80"/>
    <p:sldId id="375" r:id="rId81"/>
    <p:sldId id="376" r:id="rId82"/>
    <p:sldId id="378" r:id="rId83"/>
    <p:sldId id="379" r:id="rId84"/>
    <p:sldId id="374" r:id="rId85"/>
    <p:sldId id="380" r:id="rId86"/>
    <p:sldId id="381" r:id="rId87"/>
    <p:sldId id="382" r:id="rId88"/>
    <p:sldId id="383" r:id="rId89"/>
    <p:sldId id="384" r:id="rId90"/>
    <p:sldId id="385" r:id="rId91"/>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13" autoAdjust="0"/>
    <p:restoredTop sz="94660"/>
  </p:normalViewPr>
  <p:slideViewPr>
    <p:cSldViewPr snapToGrid="0">
      <p:cViewPr varScale="1">
        <p:scale>
          <a:sx n="82" d="100"/>
          <a:sy n="82" d="100"/>
        </p:scale>
        <p:origin x="5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enovo\Downloads\LDA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enovo\Downloads\LDA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novo\Desktop\DataMining\Kopia%20LDA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enovo\Desktop\DataMining\Kopia%20LDA2.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Passed</c:v>
          </c:tx>
          <c:spPr>
            <a:ln w="19050" cap="rnd">
              <a:noFill/>
              <a:round/>
            </a:ln>
            <a:effectLst/>
          </c:spPr>
          <c:marker>
            <c:symbol val="circle"/>
            <c:size val="5"/>
            <c:spPr>
              <a:solidFill>
                <a:schemeClr val="accent1"/>
              </a:solidFill>
              <a:ln w="9525">
                <a:solidFill>
                  <a:schemeClr val="accent1"/>
                </a:solidFill>
              </a:ln>
              <a:effectLst/>
            </c:spPr>
          </c:marker>
          <c:xVal>
            <c:numRef>
              <c:f>Arkusz1!$A$2:$A$5</c:f>
              <c:numCache>
                <c:formatCode>General</c:formatCode>
                <c:ptCount val="4"/>
                <c:pt idx="0">
                  <c:v>2.95</c:v>
                </c:pt>
                <c:pt idx="1">
                  <c:v>2.5299999999999998</c:v>
                </c:pt>
                <c:pt idx="2">
                  <c:v>3.57</c:v>
                </c:pt>
                <c:pt idx="3">
                  <c:v>3.16</c:v>
                </c:pt>
              </c:numCache>
            </c:numRef>
          </c:xVal>
          <c:yVal>
            <c:numRef>
              <c:f>Arkusz1!$B$2:$B$5</c:f>
              <c:numCache>
                <c:formatCode>General</c:formatCode>
                <c:ptCount val="4"/>
                <c:pt idx="0">
                  <c:v>6.63</c:v>
                </c:pt>
                <c:pt idx="1">
                  <c:v>7.79</c:v>
                </c:pt>
                <c:pt idx="2">
                  <c:v>5.65</c:v>
                </c:pt>
                <c:pt idx="3">
                  <c:v>5.47</c:v>
                </c:pt>
              </c:numCache>
            </c:numRef>
          </c:yVal>
          <c:smooth val="0"/>
          <c:extLst>
            <c:ext xmlns:c16="http://schemas.microsoft.com/office/drawing/2014/chart" uri="{C3380CC4-5D6E-409C-BE32-E72D297353CC}">
              <c16:uniqueId val="{00000000-6C01-4002-9184-25CD3F894073}"/>
            </c:ext>
          </c:extLst>
        </c:ser>
        <c:ser>
          <c:idx val="1"/>
          <c:order val="1"/>
          <c:tx>
            <c:v>Failed</c:v>
          </c:tx>
          <c:spPr>
            <a:ln w="25400" cap="rnd">
              <a:noFill/>
              <a:round/>
            </a:ln>
            <a:effectLst/>
          </c:spPr>
          <c:marker>
            <c:symbol val="circle"/>
            <c:size val="5"/>
            <c:spPr>
              <a:solidFill>
                <a:schemeClr val="accent2"/>
              </a:solidFill>
              <a:ln w="9525">
                <a:solidFill>
                  <a:schemeClr val="accent2"/>
                </a:solidFill>
              </a:ln>
              <a:effectLst/>
            </c:spPr>
          </c:marker>
          <c:xVal>
            <c:numRef>
              <c:f>Arkusz1!$A$6:$A$8</c:f>
              <c:numCache>
                <c:formatCode>General</c:formatCode>
                <c:ptCount val="3"/>
                <c:pt idx="0">
                  <c:v>2.58</c:v>
                </c:pt>
                <c:pt idx="1">
                  <c:v>2.16</c:v>
                </c:pt>
                <c:pt idx="2">
                  <c:v>3.27</c:v>
                </c:pt>
              </c:numCache>
            </c:numRef>
          </c:xVal>
          <c:yVal>
            <c:numRef>
              <c:f>Arkusz1!$B$6:$B$8</c:f>
              <c:numCache>
                <c:formatCode>General</c:formatCode>
                <c:ptCount val="3"/>
                <c:pt idx="0">
                  <c:v>4.46</c:v>
                </c:pt>
                <c:pt idx="1">
                  <c:v>6.22</c:v>
                </c:pt>
                <c:pt idx="2">
                  <c:v>3.52</c:v>
                </c:pt>
              </c:numCache>
            </c:numRef>
          </c:yVal>
          <c:smooth val="0"/>
          <c:extLst>
            <c:ext xmlns:c16="http://schemas.microsoft.com/office/drawing/2014/chart" uri="{C3380CC4-5D6E-409C-BE32-E72D297353CC}">
              <c16:uniqueId val="{00000001-6C01-4002-9184-25CD3F894073}"/>
            </c:ext>
          </c:extLst>
        </c:ser>
        <c:ser>
          <c:idx val="2"/>
          <c:order val="2"/>
          <c:tx>
            <c:v>Srodek</c:v>
          </c:tx>
          <c:spPr>
            <a:ln w="25400" cap="rnd">
              <a:noFill/>
              <a:round/>
            </a:ln>
            <a:effectLst/>
          </c:spPr>
          <c:marker>
            <c:symbol val="circle"/>
            <c:size val="5"/>
            <c:spPr>
              <a:solidFill>
                <a:schemeClr val="accent3"/>
              </a:solidFill>
              <a:ln w="47625">
                <a:solidFill>
                  <a:srgbClr val="FF0000"/>
                </a:solidFill>
              </a:ln>
              <a:effectLst/>
            </c:spPr>
          </c:marker>
          <c:dPt>
            <c:idx val="0"/>
            <c:marker>
              <c:symbol val="triangle"/>
              <c:size val="5"/>
              <c:spPr>
                <a:solidFill>
                  <a:srgbClr val="FF0000"/>
                </a:solidFill>
                <a:ln w="47625">
                  <a:solidFill>
                    <a:srgbClr val="FF0000"/>
                  </a:solidFill>
                </a:ln>
                <a:effectLst/>
              </c:spPr>
            </c:marker>
            <c:bubble3D val="0"/>
            <c:extLst>
              <c:ext xmlns:c16="http://schemas.microsoft.com/office/drawing/2014/chart" uri="{C3380CC4-5D6E-409C-BE32-E72D297353CC}">
                <c16:uniqueId val="{00000002-6C01-4002-9184-25CD3F894073}"/>
              </c:ext>
            </c:extLst>
          </c:dPt>
          <c:xVal>
            <c:numRef>
              <c:f>Arkusz1!$A$9</c:f>
              <c:numCache>
                <c:formatCode>General</c:formatCode>
                <c:ptCount val="1"/>
                <c:pt idx="0">
                  <c:v>2.8885714285714288</c:v>
                </c:pt>
              </c:numCache>
            </c:numRef>
          </c:xVal>
          <c:yVal>
            <c:numRef>
              <c:f>Arkusz1!$B$9</c:f>
              <c:numCache>
                <c:formatCode>General</c:formatCode>
                <c:ptCount val="1"/>
                <c:pt idx="0">
                  <c:v>5.677142857142857</c:v>
                </c:pt>
              </c:numCache>
            </c:numRef>
          </c:yVal>
          <c:smooth val="0"/>
          <c:extLst>
            <c:ext xmlns:c16="http://schemas.microsoft.com/office/drawing/2014/chart" uri="{C3380CC4-5D6E-409C-BE32-E72D297353CC}">
              <c16:uniqueId val="{00000003-6C01-4002-9184-25CD3F894073}"/>
            </c:ext>
          </c:extLst>
        </c:ser>
        <c:dLbls>
          <c:showLegendKey val="0"/>
          <c:showVal val="0"/>
          <c:showCatName val="0"/>
          <c:showSerName val="0"/>
          <c:showPercent val="0"/>
          <c:showBubbleSize val="0"/>
        </c:dLbls>
        <c:axId val="1003397000"/>
        <c:axId val="932542088"/>
      </c:scatterChart>
      <c:valAx>
        <c:axId val="1003397000"/>
        <c:scaling>
          <c:orientation val="minMax"/>
          <c:min val="1.5"/>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932542088"/>
        <c:crosses val="autoZero"/>
        <c:crossBetween val="midCat"/>
      </c:valAx>
      <c:valAx>
        <c:axId val="932542088"/>
        <c:scaling>
          <c:orientation val="minMax"/>
          <c:min val="3"/>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00339700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Passed</c:v>
          </c:tx>
          <c:spPr>
            <a:ln w="19050" cap="rnd">
              <a:noFill/>
              <a:round/>
            </a:ln>
            <a:effectLst/>
          </c:spPr>
          <c:marker>
            <c:symbol val="circle"/>
            <c:size val="5"/>
            <c:spPr>
              <a:solidFill>
                <a:schemeClr val="accent1"/>
              </a:solidFill>
              <a:ln w="9525">
                <a:solidFill>
                  <a:schemeClr val="accent1"/>
                </a:solidFill>
              </a:ln>
              <a:effectLst/>
            </c:spPr>
          </c:marker>
          <c:xVal>
            <c:numRef>
              <c:f>Arkusz1!$A$2:$A$5</c:f>
              <c:numCache>
                <c:formatCode>General</c:formatCode>
                <c:ptCount val="4"/>
                <c:pt idx="0">
                  <c:v>2.95</c:v>
                </c:pt>
                <c:pt idx="1">
                  <c:v>2.5299999999999998</c:v>
                </c:pt>
                <c:pt idx="2">
                  <c:v>3.57</c:v>
                </c:pt>
                <c:pt idx="3">
                  <c:v>3.16</c:v>
                </c:pt>
              </c:numCache>
            </c:numRef>
          </c:xVal>
          <c:yVal>
            <c:numRef>
              <c:f>Arkusz1!$B$2:$B$5</c:f>
              <c:numCache>
                <c:formatCode>General</c:formatCode>
                <c:ptCount val="4"/>
                <c:pt idx="0">
                  <c:v>6.63</c:v>
                </c:pt>
                <c:pt idx="1">
                  <c:v>7.79</c:v>
                </c:pt>
                <c:pt idx="2">
                  <c:v>5.65</c:v>
                </c:pt>
                <c:pt idx="3">
                  <c:v>5.47</c:v>
                </c:pt>
              </c:numCache>
            </c:numRef>
          </c:yVal>
          <c:smooth val="0"/>
          <c:extLst>
            <c:ext xmlns:c16="http://schemas.microsoft.com/office/drawing/2014/chart" uri="{C3380CC4-5D6E-409C-BE32-E72D297353CC}">
              <c16:uniqueId val="{00000000-7D2B-40AB-B8EC-CDACBA2589CE}"/>
            </c:ext>
          </c:extLst>
        </c:ser>
        <c:ser>
          <c:idx val="1"/>
          <c:order val="1"/>
          <c:tx>
            <c:v>Failed</c:v>
          </c:tx>
          <c:spPr>
            <a:ln w="25400" cap="rnd">
              <a:noFill/>
              <a:round/>
            </a:ln>
            <a:effectLst/>
          </c:spPr>
          <c:marker>
            <c:symbol val="circle"/>
            <c:size val="5"/>
            <c:spPr>
              <a:solidFill>
                <a:schemeClr val="accent2"/>
              </a:solidFill>
              <a:ln w="9525">
                <a:solidFill>
                  <a:schemeClr val="accent2"/>
                </a:solidFill>
              </a:ln>
              <a:effectLst/>
            </c:spPr>
          </c:marker>
          <c:xVal>
            <c:numRef>
              <c:f>Arkusz1!$A$6:$A$8</c:f>
              <c:numCache>
                <c:formatCode>General</c:formatCode>
                <c:ptCount val="3"/>
                <c:pt idx="0">
                  <c:v>2.58</c:v>
                </c:pt>
                <c:pt idx="1">
                  <c:v>2.16</c:v>
                </c:pt>
                <c:pt idx="2">
                  <c:v>3.27</c:v>
                </c:pt>
              </c:numCache>
            </c:numRef>
          </c:xVal>
          <c:yVal>
            <c:numRef>
              <c:f>Arkusz1!$B$6:$B$8</c:f>
              <c:numCache>
                <c:formatCode>General</c:formatCode>
                <c:ptCount val="3"/>
                <c:pt idx="0">
                  <c:v>4.46</c:v>
                </c:pt>
                <c:pt idx="1">
                  <c:v>6.22</c:v>
                </c:pt>
                <c:pt idx="2">
                  <c:v>3.52</c:v>
                </c:pt>
              </c:numCache>
            </c:numRef>
          </c:yVal>
          <c:smooth val="0"/>
          <c:extLst>
            <c:ext xmlns:c16="http://schemas.microsoft.com/office/drawing/2014/chart" uri="{C3380CC4-5D6E-409C-BE32-E72D297353CC}">
              <c16:uniqueId val="{00000001-7D2B-40AB-B8EC-CDACBA2589CE}"/>
            </c:ext>
          </c:extLst>
        </c:ser>
        <c:ser>
          <c:idx val="2"/>
          <c:order val="2"/>
          <c:tx>
            <c:v>Srodek</c:v>
          </c:tx>
          <c:spPr>
            <a:ln w="25400" cap="rnd">
              <a:noFill/>
              <a:round/>
            </a:ln>
            <a:effectLst/>
          </c:spPr>
          <c:marker>
            <c:symbol val="circle"/>
            <c:size val="5"/>
            <c:spPr>
              <a:solidFill>
                <a:schemeClr val="accent3"/>
              </a:solidFill>
              <a:ln w="47625">
                <a:solidFill>
                  <a:srgbClr val="FF0000"/>
                </a:solidFill>
              </a:ln>
              <a:effectLst/>
            </c:spPr>
          </c:marker>
          <c:dPt>
            <c:idx val="0"/>
            <c:marker>
              <c:symbol val="triangle"/>
              <c:size val="5"/>
              <c:spPr>
                <a:solidFill>
                  <a:srgbClr val="FF0000"/>
                </a:solidFill>
                <a:ln w="47625">
                  <a:solidFill>
                    <a:srgbClr val="FF0000"/>
                  </a:solidFill>
                </a:ln>
                <a:effectLst/>
              </c:spPr>
            </c:marker>
            <c:bubble3D val="0"/>
            <c:extLst>
              <c:ext xmlns:c16="http://schemas.microsoft.com/office/drawing/2014/chart" uri="{C3380CC4-5D6E-409C-BE32-E72D297353CC}">
                <c16:uniqueId val="{00000002-7D2B-40AB-B8EC-CDACBA2589CE}"/>
              </c:ext>
            </c:extLst>
          </c:dPt>
          <c:xVal>
            <c:numRef>
              <c:f>Arkusz1!$A$9</c:f>
              <c:numCache>
                <c:formatCode>General</c:formatCode>
                <c:ptCount val="1"/>
                <c:pt idx="0">
                  <c:v>2.8885714285714288</c:v>
                </c:pt>
              </c:numCache>
            </c:numRef>
          </c:xVal>
          <c:yVal>
            <c:numRef>
              <c:f>Arkusz1!$B$9</c:f>
              <c:numCache>
                <c:formatCode>General</c:formatCode>
                <c:ptCount val="1"/>
                <c:pt idx="0">
                  <c:v>5.677142857142857</c:v>
                </c:pt>
              </c:numCache>
            </c:numRef>
          </c:yVal>
          <c:smooth val="0"/>
          <c:extLst>
            <c:ext xmlns:c16="http://schemas.microsoft.com/office/drawing/2014/chart" uri="{C3380CC4-5D6E-409C-BE32-E72D297353CC}">
              <c16:uniqueId val="{00000003-7D2B-40AB-B8EC-CDACBA2589CE}"/>
            </c:ext>
          </c:extLst>
        </c:ser>
        <c:dLbls>
          <c:showLegendKey val="0"/>
          <c:showVal val="0"/>
          <c:showCatName val="0"/>
          <c:showSerName val="0"/>
          <c:showPercent val="0"/>
          <c:showBubbleSize val="0"/>
        </c:dLbls>
        <c:axId val="1003397000"/>
        <c:axId val="932542088"/>
      </c:scatterChart>
      <c:valAx>
        <c:axId val="1003397000"/>
        <c:scaling>
          <c:orientation val="minMax"/>
          <c:min val="1.5"/>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932542088"/>
        <c:crosses val="autoZero"/>
        <c:crossBetween val="midCat"/>
      </c:valAx>
      <c:valAx>
        <c:axId val="932542088"/>
        <c:scaling>
          <c:orientation val="minMax"/>
          <c:min val="3"/>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00339700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class1</c:v>
          </c:tx>
          <c:spPr>
            <a:ln w="19050" cap="rnd">
              <a:noFill/>
              <a:round/>
            </a:ln>
            <a:effectLst/>
          </c:spPr>
          <c:marker>
            <c:symbol val="circle"/>
            <c:size val="5"/>
            <c:spPr>
              <a:solidFill>
                <a:schemeClr val="accent1"/>
              </a:solidFill>
              <a:ln w="9525">
                <a:solidFill>
                  <a:schemeClr val="accent1"/>
                </a:solidFill>
              </a:ln>
              <a:effectLst/>
            </c:spPr>
          </c:marker>
          <c:xVal>
            <c:numRef>
              <c:f>Arkusz1!$H$117:$H$120</c:f>
              <c:numCache>
                <c:formatCode>General</c:formatCode>
                <c:ptCount val="4"/>
                <c:pt idx="0">
                  <c:v>54.982694684620036</c:v>
                </c:pt>
                <c:pt idx="1">
                  <c:v>53.47409208258366</c:v>
                </c:pt>
                <c:pt idx="2">
                  <c:v>62.221068830100059</c:v>
                </c:pt>
                <c:pt idx="3">
                  <c:v>51.76828842339291</c:v>
                </c:pt>
              </c:numCache>
            </c:numRef>
          </c:xVal>
          <c:yVal>
            <c:numRef>
              <c:f>Arkusz1!$I$117:$I$120</c:f>
              <c:numCache>
                <c:formatCode>General</c:formatCode>
                <c:ptCount val="4"/>
                <c:pt idx="0">
                  <c:v>52.831373671068405</c:v>
                </c:pt>
                <c:pt idx="1">
                  <c:v>51.102359153889438</c:v>
                </c:pt>
                <c:pt idx="2">
                  <c:v>59.332006061586114</c:v>
                </c:pt>
                <c:pt idx="3">
                  <c:v>50.569091495481871</c:v>
                </c:pt>
              </c:numCache>
            </c:numRef>
          </c:yVal>
          <c:smooth val="0"/>
          <c:extLst>
            <c:ext xmlns:c16="http://schemas.microsoft.com/office/drawing/2014/chart" uri="{C3380CC4-5D6E-409C-BE32-E72D297353CC}">
              <c16:uniqueId val="{00000000-449C-4283-B3E4-EEBA4B3D16C7}"/>
            </c:ext>
          </c:extLst>
        </c:ser>
        <c:ser>
          <c:idx val="1"/>
          <c:order val="1"/>
          <c:tx>
            <c:v>class2</c:v>
          </c:tx>
          <c:spPr>
            <a:ln w="25400" cap="rnd">
              <a:noFill/>
              <a:round/>
            </a:ln>
            <a:effectLst/>
          </c:spPr>
          <c:marker>
            <c:symbol val="circle"/>
            <c:size val="5"/>
            <c:spPr>
              <a:solidFill>
                <a:schemeClr val="accent2"/>
              </a:solidFill>
              <a:ln w="9525">
                <a:solidFill>
                  <a:schemeClr val="accent2"/>
                </a:solidFill>
              </a:ln>
              <a:effectLst/>
            </c:spPr>
          </c:marker>
          <c:xVal>
            <c:numRef>
              <c:f>Arkusz1!$H$121:$H$123</c:f>
              <c:numCache>
                <c:formatCode>General</c:formatCode>
                <c:ptCount val="3"/>
                <c:pt idx="0">
                  <c:v>31.812762515723993</c:v>
                </c:pt>
                <c:pt idx="1">
                  <c:v>34.409719460837955</c:v>
                </c:pt>
                <c:pt idx="2">
                  <c:v>40.899176918768539</c:v>
                </c:pt>
              </c:numCache>
            </c:numRef>
          </c:xVal>
          <c:yVal>
            <c:numRef>
              <c:f>Arkusz1!$I$121:$I$123</c:f>
              <c:numCache>
                <c:formatCode>General</c:formatCode>
                <c:ptCount val="3"/>
                <c:pt idx="0">
                  <c:v>34.100583725079019</c:v>
                </c:pt>
                <c:pt idx="1">
                  <c:v>35.606178967392509</c:v>
                </c:pt>
                <c:pt idx="2">
                  <c:v>42.147288997151392</c:v>
                </c:pt>
              </c:numCache>
            </c:numRef>
          </c:yVal>
          <c:smooth val="0"/>
          <c:extLst>
            <c:ext xmlns:c16="http://schemas.microsoft.com/office/drawing/2014/chart" uri="{C3380CC4-5D6E-409C-BE32-E72D297353CC}">
              <c16:uniqueId val="{00000001-449C-4283-B3E4-EEBA4B3D16C7}"/>
            </c:ext>
          </c:extLst>
        </c:ser>
        <c:ser>
          <c:idx val="2"/>
          <c:order val="2"/>
          <c:tx>
            <c:v>Prediction</c:v>
          </c:tx>
          <c:spPr>
            <a:ln w="25400" cap="rnd">
              <a:noFill/>
              <a:round/>
            </a:ln>
            <a:effectLst/>
          </c:spPr>
          <c:marker>
            <c:symbol val="circle"/>
            <c:size val="5"/>
            <c:spPr>
              <a:solidFill>
                <a:schemeClr val="accent3"/>
              </a:solidFill>
              <a:ln w="9525">
                <a:solidFill>
                  <a:schemeClr val="accent3"/>
                </a:solidFill>
              </a:ln>
              <a:effectLst/>
            </c:spPr>
          </c:marker>
          <c:xVal>
            <c:numRef>
              <c:f>Arkusz1!$H$124</c:f>
              <c:numCache>
                <c:formatCode>General</c:formatCode>
                <c:ptCount val="1"/>
                <c:pt idx="0">
                  <c:v>47.081114702289618</c:v>
                </c:pt>
              </c:numCache>
            </c:numRef>
          </c:xVal>
          <c:yVal>
            <c:numRef>
              <c:f>Arkusz1!$I$124</c:f>
              <c:numCache>
                <c:formatCode>General</c:formatCode>
                <c:ptCount val="1"/>
                <c:pt idx="0">
                  <c:v>46.526983153092687</c:v>
                </c:pt>
              </c:numCache>
            </c:numRef>
          </c:yVal>
          <c:smooth val="0"/>
          <c:extLst>
            <c:ext xmlns:c16="http://schemas.microsoft.com/office/drawing/2014/chart" uri="{C3380CC4-5D6E-409C-BE32-E72D297353CC}">
              <c16:uniqueId val="{00000002-449C-4283-B3E4-EEBA4B3D16C7}"/>
            </c:ext>
          </c:extLst>
        </c:ser>
        <c:ser>
          <c:idx val="3"/>
          <c:order val="3"/>
          <c:tx>
            <c:v>DiscriminantLine</c:v>
          </c:tx>
          <c:spPr>
            <a:ln w="25400" cap="rnd">
              <a:solidFill>
                <a:srgbClr val="FF0000"/>
              </a:solidFill>
              <a:round/>
            </a:ln>
            <a:effectLst/>
          </c:spPr>
          <c:marker>
            <c:symbol val="circle"/>
            <c:size val="5"/>
            <c:spPr>
              <a:solidFill>
                <a:schemeClr val="accent4"/>
              </a:solidFill>
              <a:ln w="9525">
                <a:solidFill>
                  <a:schemeClr val="accent4"/>
                </a:solidFill>
              </a:ln>
              <a:effectLst/>
            </c:spPr>
          </c:marker>
          <c:xVal>
            <c:numRef>
              <c:f>(Arkusz1!$H$117:$H$124,Arkusz1!$I$117:$I$124)</c:f>
              <c:numCache>
                <c:formatCode>General</c:formatCode>
                <c:ptCount val="16"/>
                <c:pt idx="0">
                  <c:v>54.982694684620036</c:v>
                </c:pt>
                <c:pt idx="1">
                  <c:v>53.47409208258366</c:v>
                </c:pt>
                <c:pt idx="2">
                  <c:v>62.221068830100059</c:v>
                </c:pt>
                <c:pt idx="3">
                  <c:v>51.76828842339291</c:v>
                </c:pt>
                <c:pt idx="4">
                  <c:v>31.812762515723993</c:v>
                </c:pt>
                <c:pt idx="5">
                  <c:v>34.409719460837955</c:v>
                </c:pt>
                <c:pt idx="6">
                  <c:v>40.899176918768539</c:v>
                </c:pt>
                <c:pt idx="7">
                  <c:v>47.081114702289618</c:v>
                </c:pt>
                <c:pt idx="8">
                  <c:v>52.831373671068405</c:v>
                </c:pt>
                <c:pt idx="9">
                  <c:v>51.102359153889438</c:v>
                </c:pt>
                <c:pt idx="10">
                  <c:v>59.332006061586114</c:v>
                </c:pt>
                <c:pt idx="11">
                  <c:v>50.569091495481871</c:v>
                </c:pt>
                <c:pt idx="12">
                  <c:v>34.100583725079019</c:v>
                </c:pt>
                <c:pt idx="13">
                  <c:v>35.606178967392509</c:v>
                </c:pt>
                <c:pt idx="14">
                  <c:v>42.147288997151392</c:v>
                </c:pt>
                <c:pt idx="15">
                  <c:v>46.526983153092687</c:v>
                </c:pt>
              </c:numCache>
            </c:numRef>
          </c:xVal>
          <c:yVal>
            <c:numRef>
              <c:f>(Arkusz1!$H$117:$H$124,Arkusz1!$I$117:$I$124)</c:f>
              <c:numCache>
                <c:formatCode>General</c:formatCode>
                <c:ptCount val="16"/>
                <c:pt idx="0">
                  <c:v>54.982694684620036</c:v>
                </c:pt>
                <c:pt idx="1">
                  <c:v>53.47409208258366</c:v>
                </c:pt>
                <c:pt idx="2">
                  <c:v>62.221068830100059</c:v>
                </c:pt>
                <c:pt idx="3">
                  <c:v>51.76828842339291</c:v>
                </c:pt>
                <c:pt idx="4">
                  <c:v>31.812762515723993</c:v>
                </c:pt>
                <c:pt idx="5">
                  <c:v>34.409719460837955</c:v>
                </c:pt>
                <c:pt idx="6">
                  <c:v>40.899176918768539</c:v>
                </c:pt>
                <c:pt idx="7">
                  <c:v>47.081114702289618</c:v>
                </c:pt>
                <c:pt idx="8">
                  <c:v>52.831373671068405</c:v>
                </c:pt>
                <c:pt idx="9">
                  <c:v>51.102359153889438</c:v>
                </c:pt>
                <c:pt idx="10">
                  <c:v>59.332006061586114</c:v>
                </c:pt>
                <c:pt idx="11">
                  <c:v>50.569091495481871</c:v>
                </c:pt>
                <c:pt idx="12">
                  <c:v>34.100583725079019</c:v>
                </c:pt>
                <c:pt idx="13">
                  <c:v>35.606178967392509</c:v>
                </c:pt>
                <c:pt idx="14">
                  <c:v>42.147288997151392</c:v>
                </c:pt>
                <c:pt idx="15">
                  <c:v>46.526983153092687</c:v>
                </c:pt>
              </c:numCache>
            </c:numRef>
          </c:yVal>
          <c:smooth val="0"/>
          <c:extLst>
            <c:ext xmlns:c16="http://schemas.microsoft.com/office/drawing/2014/chart" uri="{C3380CC4-5D6E-409C-BE32-E72D297353CC}">
              <c16:uniqueId val="{00000003-449C-4283-B3E4-EEBA4B3D16C7}"/>
            </c:ext>
          </c:extLst>
        </c:ser>
        <c:dLbls>
          <c:showLegendKey val="0"/>
          <c:showVal val="0"/>
          <c:showCatName val="0"/>
          <c:showSerName val="0"/>
          <c:showPercent val="0"/>
          <c:showBubbleSize val="0"/>
        </c:dLbls>
        <c:axId val="1012055640"/>
        <c:axId val="1195322560"/>
      </c:scatterChart>
      <c:valAx>
        <c:axId val="1012055640"/>
        <c:scaling>
          <c:orientation val="minMax"/>
          <c:min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pl-PL"/>
                  <a:t>f(1)</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195322560"/>
        <c:crosses val="autoZero"/>
        <c:crossBetween val="midCat"/>
      </c:valAx>
      <c:valAx>
        <c:axId val="1195322560"/>
        <c:scaling>
          <c:orientation val="minMax"/>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pl-PL"/>
                  <a:t>f(2)</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01205564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v>class1</c:v>
          </c:tx>
          <c:spPr>
            <a:ln w="25400" cap="rnd">
              <a:noFill/>
              <a:round/>
            </a:ln>
            <a:effectLst/>
          </c:spPr>
          <c:marker>
            <c:symbol val="circle"/>
            <c:size val="5"/>
            <c:spPr>
              <a:solidFill>
                <a:schemeClr val="accent1"/>
              </a:solidFill>
              <a:ln w="9525">
                <a:solidFill>
                  <a:schemeClr val="accent1"/>
                </a:solidFill>
              </a:ln>
              <a:effectLst/>
            </c:spPr>
          </c:marker>
          <c:xVal>
            <c:numRef>
              <c:f>Arkusz1!$B$117:$B$120</c:f>
              <c:numCache>
                <c:formatCode>General</c:formatCode>
                <c:ptCount val="4"/>
                <c:pt idx="0">
                  <c:v>2.95</c:v>
                </c:pt>
                <c:pt idx="1">
                  <c:v>2.5299999999999998</c:v>
                </c:pt>
                <c:pt idx="2">
                  <c:v>3.57</c:v>
                </c:pt>
                <c:pt idx="3">
                  <c:v>3.16</c:v>
                </c:pt>
              </c:numCache>
            </c:numRef>
          </c:xVal>
          <c:yVal>
            <c:numRef>
              <c:f>Arkusz1!$C$117:$C$120</c:f>
              <c:numCache>
                <c:formatCode>General</c:formatCode>
                <c:ptCount val="4"/>
                <c:pt idx="0">
                  <c:v>6.63</c:v>
                </c:pt>
                <c:pt idx="1">
                  <c:v>7.79</c:v>
                </c:pt>
                <c:pt idx="2">
                  <c:v>5.65</c:v>
                </c:pt>
                <c:pt idx="3">
                  <c:v>5.47</c:v>
                </c:pt>
              </c:numCache>
            </c:numRef>
          </c:yVal>
          <c:smooth val="0"/>
          <c:extLst>
            <c:ext xmlns:c16="http://schemas.microsoft.com/office/drawing/2014/chart" uri="{C3380CC4-5D6E-409C-BE32-E72D297353CC}">
              <c16:uniqueId val="{00000000-A84F-43FA-80AC-01621FDB6244}"/>
            </c:ext>
          </c:extLst>
        </c:ser>
        <c:ser>
          <c:idx val="1"/>
          <c:order val="1"/>
          <c:tx>
            <c:v>class2</c:v>
          </c:tx>
          <c:spPr>
            <a:ln w="25400" cap="rnd">
              <a:noFill/>
              <a:round/>
            </a:ln>
            <a:effectLst/>
          </c:spPr>
          <c:marker>
            <c:symbol val="circle"/>
            <c:size val="5"/>
            <c:spPr>
              <a:solidFill>
                <a:schemeClr val="accent2"/>
              </a:solidFill>
              <a:ln w="9525">
                <a:solidFill>
                  <a:schemeClr val="accent2"/>
                </a:solidFill>
              </a:ln>
              <a:effectLst/>
            </c:spPr>
          </c:marker>
          <c:xVal>
            <c:numRef>
              <c:f>Arkusz1!$B$121:$B$123</c:f>
              <c:numCache>
                <c:formatCode>General</c:formatCode>
                <c:ptCount val="3"/>
                <c:pt idx="0">
                  <c:v>2.58</c:v>
                </c:pt>
                <c:pt idx="1">
                  <c:v>2.16</c:v>
                </c:pt>
                <c:pt idx="2">
                  <c:v>3.27</c:v>
                </c:pt>
              </c:numCache>
            </c:numRef>
          </c:xVal>
          <c:yVal>
            <c:numRef>
              <c:f>Arkusz1!$C$121:$C$123</c:f>
              <c:numCache>
                <c:formatCode>General</c:formatCode>
                <c:ptCount val="3"/>
                <c:pt idx="0">
                  <c:v>4.46</c:v>
                </c:pt>
                <c:pt idx="1">
                  <c:v>6.22</c:v>
                </c:pt>
                <c:pt idx="2">
                  <c:v>3.52</c:v>
                </c:pt>
              </c:numCache>
            </c:numRef>
          </c:yVal>
          <c:smooth val="0"/>
          <c:extLst>
            <c:ext xmlns:c16="http://schemas.microsoft.com/office/drawing/2014/chart" uri="{C3380CC4-5D6E-409C-BE32-E72D297353CC}">
              <c16:uniqueId val="{00000001-A84F-43FA-80AC-01621FDB6244}"/>
            </c:ext>
          </c:extLst>
        </c:ser>
        <c:ser>
          <c:idx val="2"/>
          <c:order val="2"/>
          <c:tx>
            <c:v>prediction</c:v>
          </c:tx>
          <c:spPr>
            <a:ln w="25400" cap="rnd">
              <a:noFill/>
              <a:round/>
            </a:ln>
            <a:effectLst/>
          </c:spPr>
          <c:marker>
            <c:symbol val="circle"/>
            <c:size val="5"/>
            <c:spPr>
              <a:solidFill>
                <a:schemeClr val="accent3"/>
              </a:solidFill>
              <a:ln w="9525">
                <a:solidFill>
                  <a:schemeClr val="accent3"/>
                </a:solidFill>
              </a:ln>
              <a:effectLst/>
            </c:spPr>
          </c:marker>
          <c:dPt>
            <c:idx val="0"/>
            <c:marker>
              <c:symbol val="triangle"/>
              <c:size val="14"/>
              <c:spPr>
                <a:solidFill>
                  <a:srgbClr val="FF0000"/>
                </a:solidFill>
                <a:ln w="9525">
                  <a:solidFill>
                    <a:schemeClr val="accent3"/>
                  </a:solidFill>
                </a:ln>
                <a:effectLst/>
              </c:spPr>
            </c:marker>
            <c:bubble3D val="0"/>
            <c:extLst>
              <c:ext xmlns:c16="http://schemas.microsoft.com/office/drawing/2014/chart" uri="{C3380CC4-5D6E-409C-BE32-E72D297353CC}">
                <c16:uniqueId val="{00000002-A84F-43FA-80AC-01621FDB6244}"/>
              </c:ext>
            </c:extLst>
          </c:dPt>
          <c:xVal>
            <c:numRef>
              <c:f>Arkusz1!$B$124</c:f>
              <c:numCache>
                <c:formatCode>General</c:formatCode>
                <c:ptCount val="1"/>
                <c:pt idx="0">
                  <c:v>2.8885714285714288</c:v>
                </c:pt>
              </c:numCache>
            </c:numRef>
          </c:xVal>
          <c:yVal>
            <c:numRef>
              <c:f>Arkusz1!$C$124</c:f>
              <c:numCache>
                <c:formatCode>General</c:formatCode>
                <c:ptCount val="1"/>
                <c:pt idx="0">
                  <c:v>5.677142857142857</c:v>
                </c:pt>
              </c:numCache>
            </c:numRef>
          </c:yVal>
          <c:smooth val="0"/>
          <c:extLst>
            <c:ext xmlns:c16="http://schemas.microsoft.com/office/drawing/2014/chart" uri="{C3380CC4-5D6E-409C-BE32-E72D297353CC}">
              <c16:uniqueId val="{00000003-A84F-43FA-80AC-01621FDB6244}"/>
            </c:ext>
          </c:extLst>
        </c:ser>
        <c:dLbls>
          <c:showLegendKey val="0"/>
          <c:showVal val="0"/>
          <c:showCatName val="0"/>
          <c:showSerName val="0"/>
          <c:showPercent val="0"/>
          <c:showBubbleSize val="0"/>
        </c:dLbls>
        <c:axId val="1198203344"/>
        <c:axId val="1198202952"/>
      </c:scatterChart>
      <c:valAx>
        <c:axId val="11982033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198202952"/>
        <c:crosses val="autoZero"/>
        <c:crossBetween val="midCat"/>
      </c:valAx>
      <c:valAx>
        <c:axId val="1198202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11982033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4CA569-77BC-49B9-85A7-A1CD8BC7CD91}" type="datetimeFigureOut">
              <a:rPr lang="pl-PL" smtClean="0"/>
              <a:t>08.12.2025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996337-E27A-4867-B246-48521107185A}" type="slidenum">
              <a:rPr lang="pl-PL" smtClean="0"/>
              <a:t>‹#›</a:t>
            </a:fld>
            <a:endParaRPr lang="pl-PL"/>
          </a:p>
        </p:txBody>
      </p:sp>
    </p:spTree>
    <p:extLst>
      <p:ext uri="{BB962C8B-B14F-4D97-AF65-F5344CB8AC3E}">
        <p14:creationId xmlns:p14="http://schemas.microsoft.com/office/powerpoint/2010/main" val="578518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466207B-3CA7-438D-8F3D-BBFBE326A1E2}"/>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88BAD9C8-5CEA-4F54-A8B8-5AA887EF0B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AA47D31A-B682-495A-B403-013F9D875270}"/>
              </a:ext>
            </a:extLst>
          </p:cNvPr>
          <p:cNvSpPr>
            <a:spLocks noGrp="1"/>
          </p:cNvSpPr>
          <p:nvPr>
            <p:ph type="dt" sz="half" idx="10"/>
          </p:nvPr>
        </p:nvSpPr>
        <p:spPr/>
        <p:txBody>
          <a:bodyPr/>
          <a:lstStyle/>
          <a:p>
            <a:fld id="{A3FE8BEE-542C-402B-960A-E4FB16D3B2E8}" type="datetime1">
              <a:rPr lang="pl-PL" smtClean="0"/>
              <a:t>08.12.2025</a:t>
            </a:fld>
            <a:endParaRPr lang="pl-PL"/>
          </a:p>
        </p:txBody>
      </p:sp>
      <p:sp>
        <p:nvSpPr>
          <p:cNvPr id="5" name="Symbol zastępczy stopki 4">
            <a:extLst>
              <a:ext uri="{FF2B5EF4-FFF2-40B4-BE49-F238E27FC236}">
                <a16:creationId xmlns:a16="http://schemas.microsoft.com/office/drawing/2014/main" id="{B4431170-8407-41FA-998A-3668DC95EF7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5E7A3F57-7AC5-4B53-9129-73612ED6292C}"/>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2077724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88E4A5-4E59-4CDE-8F26-7A29CDD5E74B}"/>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86661A37-986A-44BC-89D0-9BEFAF786160}"/>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9BEABE75-E8A7-4942-91A4-67C94B1E3471}"/>
              </a:ext>
            </a:extLst>
          </p:cNvPr>
          <p:cNvSpPr>
            <a:spLocks noGrp="1"/>
          </p:cNvSpPr>
          <p:nvPr>
            <p:ph type="dt" sz="half" idx="10"/>
          </p:nvPr>
        </p:nvSpPr>
        <p:spPr/>
        <p:txBody>
          <a:bodyPr/>
          <a:lstStyle/>
          <a:p>
            <a:fld id="{FF9DA6F0-3170-489A-A06C-2C8559E7779D}" type="datetime1">
              <a:rPr lang="pl-PL" smtClean="0"/>
              <a:t>08.12.2025</a:t>
            </a:fld>
            <a:endParaRPr lang="pl-PL"/>
          </a:p>
        </p:txBody>
      </p:sp>
      <p:sp>
        <p:nvSpPr>
          <p:cNvPr id="5" name="Symbol zastępczy stopki 4">
            <a:extLst>
              <a:ext uri="{FF2B5EF4-FFF2-40B4-BE49-F238E27FC236}">
                <a16:creationId xmlns:a16="http://schemas.microsoft.com/office/drawing/2014/main" id="{1C769519-6D23-496B-B50C-29FE803FF26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DEC984E-20BC-4535-AC06-C4F3D28DE3AA}"/>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1275332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A028D6A-B05E-4DB1-B8E8-6D6233FBFB91}"/>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ACB147C5-D019-42B3-AFA7-505251CEAE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1C5CB194-CA11-4EDA-8134-720E949C3E5E}"/>
              </a:ext>
            </a:extLst>
          </p:cNvPr>
          <p:cNvSpPr>
            <a:spLocks noGrp="1"/>
          </p:cNvSpPr>
          <p:nvPr>
            <p:ph type="dt" sz="half" idx="10"/>
          </p:nvPr>
        </p:nvSpPr>
        <p:spPr/>
        <p:txBody>
          <a:bodyPr/>
          <a:lstStyle/>
          <a:p>
            <a:fld id="{A1169F13-64ED-493E-BFA4-AEF1DF3301C8}" type="datetime1">
              <a:rPr lang="pl-PL" smtClean="0"/>
              <a:t>08.12.2025</a:t>
            </a:fld>
            <a:endParaRPr lang="pl-PL"/>
          </a:p>
        </p:txBody>
      </p:sp>
      <p:sp>
        <p:nvSpPr>
          <p:cNvPr id="5" name="Symbol zastępczy stopki 4">
            <a:extLst>
              <a:ext uri="{FF2B5EF4-FFF2-40B4-BE49-F238E27FC236}">
                <a16:creationId xmlns:a16="http://schemas.microsoft.com/office/drawing/2014/main" id="{B58FD9A8-4EC5-4DD3-A2CA-409F2434763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61DA4D61-6640-490B-974A-E42F3D523F94}"/>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470972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7CA523A-D11D-470F-B4E9-21C9C4D90D9F}"/>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6030EB9D-E955-4F61-9981-530F61366BD3}"/>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EBA3DA2D-A4EC-4F63-83DB-83BB3B5654F2}"/>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E8019EB7-5ADA-4C52-99DA-AB963FB58E2E}"/>
              </a:ext>
            </a:extLst>
          </p:cNvPr>
          <p:cNvSpPr>
            <a:spLocks noGrp="1"/>
          </p:cNvSpPr>
          <p:nvPr>
            <p:ph type="dt" sz="half" idx="10"/>
          </p:nvPr>
        </p:nvSpPr>
        <p:spPr/>
        <p:txBody>
          <a:bodyPr/>
          <a:lstStyle/>
          <a:p>
            <a:fld id="{30FC1CE6-69B7-4C27-9EF1-5FFC0747EB3F}" type="datetime1">
              <a:rPr lang="pl-PL" smtClean="0"/>
              <a:t>08.12.2025</a:t>
            </a:fld>
            <a:endParaRPr lang="pl-PL"/>
          </a:p>
        </p:txBody>
      </p:sp>
      <p:sp>
        <p:nvSpPr>
          <p:cNvPr id="6" name="Symbol zastępczy stopki 5">
            <a:extLst>
              <a:ext uri="{FF2B5EF4-FFF2-40B4-BE49-F238E27FC236}">
                <a16:creationId xmlns:a16="http://schemas.microsoft.com/office/drawing/2014/main" id="{97FA7FDE-8B84-44A2-BB56-F2AB7D0FB0E3}"/>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AECA26F6-879E-411E-8CE9-E9D9FC71D11B}"/>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4075227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08F473-D17F-432A-9679-FFD3672A3007}"/>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6016C240-C0CD-4DA5-B911-0C726EBD97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9758B92D-818F-4BDD-A4F8-4279AF16B41B}"/>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2F1853D2-A4F8-4EBB-BC44-7A1897E6E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B803C5BC-2CC2-4352-A891-42BA598AE292}"/>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2E81B8CE-9767-42AF-AD23-42FE89292F19}"/>
              </a:ext>
            </a:extLst>
          </p:cNvPr>
          <p:cNvSpPr>
            <a:spLocks noGrp="1"/>
          </p:cNvSpPr>
          <p:nvPr>
            <p:ph type="dt" sz="half" idx="10"/>
          </p:nvPr>
        </p:nvSpPr>
        <p:spPr/>
        <p:txBody>
          <a:bodyPr/>
          <a:lstStyle/>
          <a:p>
            <a:fld id="{E35004D3-C86F-4302-8C26-0C312AFD0E07}" type="datetime1">
              <a:rPr lang="pl-PL" smtClean="0"/>
              <a:t>08.12.2025</a:t>
            </a:fld>
            <a:endParaRPr lang="pl-PL"/>
          </a:p>
        </p:txBody>
      </p:sp>
      <p:sp>
        <p:nvSpPr>
          <p:cNvPr id="8" name="Symbol zastępczy stopki 7">
            <a:extLst>
              <a:ext uri="{FF2B5EF4-FFF2-40B4-BE49-F238E27FC236}">
                <a16:creationId xmlns:a16="http://schemas.microsoft.com/office/drawing/2014/main" id="{E8911AD5-3F00-4207-AE52-2655C9FA3B22}"/>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7414443A-5CD1-44E9-B3D2-8B30F377FB76}"/>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1701122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05044-B86A-4ECD-8267-5EE8C5961090}"/>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AC986828-707F-4BE2-9D98-B764E96809F4}"/>
              </a:ext>
            </a:extLst>
          </p:cNvPr>
          <p:cNvSpPr>
            <a:spLocks noGrp="1"/>
          </p:cNvSpPr>
          <p:nvPr>
            <p:ph type="dt" sz="half" idx="10"/>
          </p:nvPr>
        </p:nvSpPr>
        <p:spPr/>
        <p:txBody>
          <a:bodyPr/>
          <a:lstStyle/>
          <a:p>
            <a:fld id="{777CAD92-30A7-4BCE-885A-E32E4724B989}" type="datetime1">
              <a:rPr lang="pl-PL" smtClean="0"/>
              <a:t>08.12.2025</a:t>
            </a:fld>
            <a:endParaRPr lang="pl-PL"/>
          </a:p>
        </p:txBody>
      </p:sp>
      <p:sp>
        <p:nvSpPr>
          <p:cNvPr id="4" name="Symbol zastępczy stopki 3">
            <a:extLst>
              <a:ext uri="{FF2B5EF4-FFF2-40B4-BE49-F238E27FC236}">
                <a16:creationId xmlns:a16="http://schemas.microsoft.com/office/drawing/2014/main" id="{9CBD07D5-0759-4DD3-8548-7F9C9944929B}"/>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215682ED-7A8B-44FB-BC91-1EBCBA2EE0A0}"/>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2591056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C95B5582-C3D7-4ED1-B169-FC3964922496}"/>
              </a:ext>
            </a:extLst>
          </p:cNvPr>
          <p:cNvSpPr>
            <a:spLocks noGrp="1"/>
          </p:cNvSpPr>
          <p:nvPr>
            <p:ph type="dt" sz="half" idx="10"/>
          </p:nvPr>
        </p:nvSpPr>
        <p:spPr/>
        <p:txBody>
          <a:bodyPr/>
          <a:lstStyle/>
          <a:p>
            <a:fld id="{65A58917-A456-4867-AFA0-6025AA78C6F4}" type="datetime1">
              <a:rPr lang="pl-PL" smtClean="0"/>
              <a:t>08.12.2025</a:t>
            </a:fld>
            <a:endParaRPr lang="pl-PL"/>
          </a:p>
        </p:txBody>
      </p:sp>
      <p:sp>
        <p:nvSpPr>
          <p:cNvPr id="3" name="Symbol zastępczy stopki 2">
            <a:extLst>
              <a:ext uri="{FF2B5EF4-FFF2-40B4-BE49-F238E27FC236}">
                <a16:creationId xmlns:a16="http://schemas.microsoft.com/office/drawing/2014/main" id="{C0E2A5D8-3CC2-400C-85F0-A947DFAA27BE}"/>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FD09AA00-310B-45BA-AF7A-7D7F26C867D5}"/>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361134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8ADF0B5-7535-4C99-83A0-5657726AF06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5CF08FAD-9F23-4B28-A7A6-4144D0DA8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041A51EE-2B36-4B8E-9E97-286350EF88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1152801F-C6DF-45A4-A64B-B6D603E24897}"/>
              </a:ext>
            </a:extLst>
          </p:cNvPr>
          <p:cNvSpPr>
            <a:spLocks noGrp="1"/>
          </p:cNvSpPr>
          <p:nvPr>
            <p:ph type="dt" sz="half" idx="10"/>
          </p:nvPr>
        </p:nvSpPr>
        <p:spPr/>
        <p:txBody>
          <a:bodyPr/>
          <a:lstStyle/>
          <a:p>
            <a:fld id="{A96F7906-699D-44AC-AB00-3B245CAF76AD}" type="datetime1">
              <a:rPr lang="pl-PL" smtClean="0"/>
              <a:t>08.12.2025</a:t>
            </a:fld>
            <a:endParaRPr lang="pl-PL"/>
          </a:p>
        </p:txBody>
      </p:sp>
      <p:sp>
        <p:nvSpPr>
          <p:cNvPr id="6" name="Symbol zastępczy stopki 5">
            <a:extLst>
              <a:ext uri="{FF2B5EF4-FFF2-40B4-BE49-F238E27FC236}">
                <a16:creationId xmlns:a16="http://schemas.microsoft.com/office/drawing/2014/main" id="{1BB2D124-77D3-468D-8D8C-1893C06F5344}"/>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4FFE88E-DAA3-45C2-A185-EBE938134E06}"/>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1053025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87F5A32-AA9E-4BDC-A214-077CE5B465B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9477B3C2-E98F-41A2-93A7-B48C0F9FAB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527F10FF-412E-4F40-949B-C679A88671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C1A27719-E13E-49AA-A276-33C386FB6F5E}"/>
              </a:ext>
            </a:extLst>
          </p:cNvPr>
          <p:cNvSpPr>
            <a:spLocks noGrp="1"/>
          </p:cNvSpPr>
          <p:nvPr>
            <p:ph type="dt" sz="half" idx="10"/>
          </p:nvPr>
        </p:nvSpPr>
        <p:spPr/>
        <p:txBody>
          <a:bodyPr/>
          <a:lstStyle/>
          <a:p>
            <a:fld id="{77977715-A06B-41F4-B919-91F09C5B8373}" type="datetime1">
              <a:rPr lang="pl-PL" smtClean="0"/>
              <a:t>08.12.2025</a:t>
            </a:fld>
            <a:endParaRPr lang="pl-PL"/>
          </a:p>
        </p:txBody>
      </p:sp>
      <p:sp>
        <p:nvSpPr>
          <p:cNvPr id="6" name="Symbol zastępczy stopki 5">
            <a:extLst>
              <a:ext uri="{FF2B5EF4-FFF2-40B4-BE49-F238E27FC236}">
                <a16:creationId xmlns:a16="http://schemas.microsoft.com/office/drawing/2014/main" id="{15FF903E-24B5-4475-9B18-966ADE86C15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B50B5F07-E98F-4B36-8547-8EC01505D55F}"/>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2125687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3A0D14-8D57-4E3A-863F-E213E76E4D19}"/>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D7C58F0B-44B2-4C67-AC46-4C29A847A0E6}"/>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68D5ACC-FFD6-44B0-83A7-C2268665CA71}"/>
              </a:ext>
            </a:extLst>
          </p:cNvPr>
          <p:cNvSpPr>
            <a:spLocks noGrp="1"/>
          </p:cNvSpPr>
          <p:nvPr>
            <p:ph type="dt" sz="half" idx="10"/>
          </p:nvPr>
        </p:nvSpPr>
        <p:spPr/>
        <p:txBody>
          <a:bodyPr/>
          <a:lstStyle/>
          <a:p>
            <a:fld id="{50C8027E-1F10-4FD3-997D-DB55A2266E20}" type="datetime1">
              <a:rPr lang="pl-PL" smtClean="0"/>
              <a:t>08.12.2025</a:t>
            </a:fld>
            <a:endParaRPr lang="pl-PL"/>
          </a:p>
        </p:txBody>
      </p:sp>
      <p:sp>
        <p:nvSpPr>
          <p:cNvPr id="5" name="Symbol zastępczy stopki 4">
            <a:extLst>
              <a:ext uri="{FF2B5EF4-FFF2-40B4-BE49-F238E27FC236}">
                <a16:creationId xmlns:a16="http://schemas.microsoft.com/office/drawing/2014/main" id="{B8D7D0B7-964D-4F8E-8723-1A9A3D3C903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602C6D0F-8D1C-47F8-9DEC-CEA309C0B158}"/>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3782176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466FF7E5-E590-4023-B069-653C0B5A30D6}"/>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F1E2C50F-D822-40A7-AB85-7A5F7846C8D4}"/>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E3EC49D-19E1-4888-BA55-A93468FFDCEA}"/>
              </a:ext>
            </a:extLst>
          </p:cNvPr>
          <p:cNvSpPr>
            <a:spLocks noGrp="1"/>
          </p:cNvSpPr>
          <p:nvPr>
            <p:ph type="dt" sz="half" idx="10"/>
          </p:nvPr>
        </p:nvSpPr>
        <p:spPr/>
        <p:txBody>
          <a:bodyPr/>
          <a:lstStyle/>
          <a:p>
            <a:fld id="{7087BE26-FD12-4C5B-B4D0-019B701FD81A}" type="datetime1">
              <a:rPr lang="pl-PL" smtClean="0"/>
              <a:t>08.12.2025</a:t>
            </a:fld>
            <a:endParaRPr lang="pl-PL"/>
          </a:p>
        </p:txBody>
      </p:sp>
      <p:sp>
        <p:nvSpPr>
          <p:cNvPr id="5" name="Symbol zastępczy stopki 4">
            <a:extLst>
              <a:ext uri="{FF2B5EF4-FFF2-40B4-BE49-F238E27FC236}">
                <a16:creationId xmlns:a16="http://schemas.microsoft.com/office/drawing/2014/main" id="{210613F9-94DE-4725-BACE-56A00DEA3139}"/>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759DB90-6B62-4A23-A0EB-85020E9D36A0}"/>
              </a:ext>
            </a:extLst>
          </p:cNvPr>
          <p:cNvSpPr>
            <a:spLocks noGrp="1"/>
          </p:cNvSpPr>
          <p:nvPr>
            <p:ph type="sldNum" sz="quarter" idx="12"/>
          </p:nvPr>
        </p:nvSpPr>
        <p:spPr/>
        <p:txBody>
          <a:bodyPr/>
          <a:lstStyle/>
          <a:p>
            <a:fld id="{A7544F9A-EF6A-47CB-A458-C95835DAEA60}" type="slidenum">
              <a:rPr lang="pl-PL" smtClean="0"/>
              <a:t>‹#›</a:t>
            </a:fld>
            <a:endParaRPr lang="pl-PL"/>
          </a:p>
        </p:txBody>
      </p:sp>
    </p:spTree>
    <p:extLst>
      <p:ext uri="{BB962C8B-B14F-4D97-AF65-F5344CB8AC3E}">
        <p14:creationId xmlns:p14="http://schemas.microsoft.com/office/powerpoint/2010/main" val="7500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128D322F-1B73-40AF-8EF0-6368B5E26E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55494A8C-830B-4C95-AD41-3DCBD6C019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1DD809A3-E2C7-486A-A62C-BBD95F6BB9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45C4FE-CA6D-44B5-871A-0D452840C276}" type="datetime1">
              <a:rPr lang="pl-PL" smtClean="0"/>
              <a:t>08.12.2025</a:t>
            </a:fld>
            <a:endParaRPr lang="pl-PL"/>
          </a:p>
        </p:txBody>
      </p:sp>
      <p:sp>
        <p:nvSpPr>
          <p:cNvPr id="5" name="Symbol zastępczy stopki 4">
            <a:extLst>
              <a:ext uri="{FF2B5EF4-FFF2-40B4-BE49-F238E27FC236}">
                <a16:creationId xmlns:a16="http://schemas.microsoft.com/office/drawing/2014/main" id="{161F3EC7-4EEC-4337-A8B1-13EFCAC423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a:extLst>
              <a:ext uri="{FF2B5EF4-FFF2-40B4-BE49-F238E27FC236}">
                <a16:creationId xmlns:a16="http://schemas.microsoft.com/office/drawing/2014/main" id="{2C9CE8D4-38A5-41FF-9CDC-6D3497AB87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544F9A-EF6A-47CB-A458-C95835DAEA60}" type="slidenum">
              <a:rPr lang="pl-PL" smtClean="0"/>
              <a:t>‹#›</a:t>
            </a:fld>
            <a:endParaRPr lang="pl-PL"/>
          </a:p>
        </p:txBody>
      </p:sp>
    </p:spTree>
    <p:extLst>
      <p:ext uri="{BB962C8B-B14F-4D97-AF65-F5344CB8AC3E}">
        <p14:creationId xmlns:p14="http://schemas.microsoft.com/office/powerpoint/2010/main" val="1239301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ebastianraschka.com/Articles/2014_python_lda.html" TargetMode="External"/><Relationship Id="rId2" Type="http://schemas.openxmlformats.org/officeDocument/2006/relationships/hyperlink" Target="http://personal.psu.edu/jol2/course/stat597e/notes2/lda.pdf"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package" Target="../embeddings/Microsoft_Excel_Worksheet2.xlsx"/></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package" Target="../embeddings/Microsoft_Excel_Worksheet3.xlsx"/></Relationships>
</file>

<file path=ppt/slides/_rels/slide3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package" Target="../embeddings/Microsoft_Excel_Worksheet4.xlsx"/><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B52CB53-A383-4546-AE59-091CA89BAB15}"/>
              </a:ext>
            </a:extLst>
          </p:cNvPr>
          <p:cNvSpPr>
            <a:spLocks noGrp="1"/>
          </p:cNvSpPr>
          <p:nvPr>
            <p:ph type="ctrTitle"/>
          </p:nvPr>
        </p:nvSpPr>
        <p:spPr/>
        <p:txBody>
          <a:bodyPr/>
          <a:lstStyle/>
          <a:p>
            <a:r>
              <a:rPr lang="pl-PL" dirty="0" err="1"/>
              <a:t>Linear</a:t>
            </a:r>
            <a:r>
              <a:rPr lang="pl-PL" dirty="0"/>
              <a:t> </a:t>
            </a:r>
            <a:r>
              <a:rPr lang="pl-PL" dirty="0" err="1"/>
              <a:t>discriminant</a:t>
            </a:r>
            <a:r>
              <a:rPr lang="pl-PL" dirty="0"/>
              <a:t> </a:t>
            </a:r>
            <a:r>
              <a:rPr lang="pl-PL" dirty="0" err="1"/>
              <a:t>analysis</a:t>
            </a:r>
            <a:endParaRPr lang="pl-PL" dirty="0"/>
          </a:p>
        </p:txBody>
      </p:sp>
      <p:sp>
        <p:nvSpPr>
          <p:cNvPr id="3" name="Podtytuł 2">
            <a:extLst>
              <a:ext uri="{FF2B5EF4-FFF2-40B4-BE49-F238E27FC236}">
                <a16:creationId xmlns:a16="http://schemas.microsoft.com/office/drawing/2014/main" id="{B031622F-3A3B-4E48-B9CD-15C22748DA55}"/>
              </a:ext>
            </a:extLst>
          </p:cNvPr>
          <p:cNvSpPr>
            <a:spLocks noGrp="1"/>
          </p:cNvSpPr>
          <p:nvPr>
            <p:ph type="subTitle" idx="1"/>
          </p:nvPr>
        </p:nvSpPr>
        <p:spPr/>
        <p:txBody>
          <a:bodyPr>
            <a:normAutofit fontScale="77500" lnSpcReduction="20000"/>
          </a:bodyPr>
          <a:lstStyle/>
          <a:p>
            <a:r>
              <a:rPr lang="pl-PL" dirty="0"/>
              <a:t>Joanna Wyrobek</a:t>
            </a:r>
          </a:p>
          <a:p>
            <a:endParaRPr lang="pl-PL" dirty="0"/>
          </a:p>
          <a:p>
            <a:r>
              <a:rPr lang="pl-PL" dirty="0">
                <a:hlinkClick r:id="rId2"/>
              </a:rPr>
              <a:t>http://personal.psu.edu/jol2/course/stat597e/notes2/lda.pdf</a:t>
            </a:r>
            <a:endParaRPr lang="pl-PL" dirty="0"/>
          </a:p>
          <a:p>
            <a:r>
              <a:rPr lang="pl-PL" dirty="0">
                <a:hlinkClick r:id="rId3"/>
              </a:rPr>
              <a:t>https://sebastianraschka.com/Articles/2014_python_lda.html</a:t>
            </a:r>
            <a:endParaRPr lang="pl-PL" dirty="0"/>
          </a:p>
          <a:p>
            <a:r>
              <a:rPr lang="pl-PL" dirty="0"/>
              <a:t>https://www.youtube.com/watch?v=azXCzI57Yfc</a:t>
            </a:r>
          </a:p>
        </p:txBody>
      </p:sp>
      <p:sp>
        <p:nvSpPr>
          <p:cNvPr id="4" name="Symbol zastępczy numeru slajdu 3">
            <a:extLst>
              <a:ext uri="{FF2B5EF4-FFF2-40B4-BE49-F238E27FC236}">
                <a16:creationId xmlns:a16="http://schemas.microsoft.com/office/drawing/2014/main" id="{DE2361BA-5EFE-4287-94AE-2FCB50A86281}"/>
              </a:ext>
            </a:extLst>
          </p:cNvPr>
          <p:cNvSpPr>
            <a:spLocks noGrp="1"/>
          </p:cNvSpPr>
          <p:nvPr>
            <p:ph type="sldNum" sz="quarter" idx="12"/>
          </p:nvPr>
        </p:nvSpPr>
        <p:spPr/>
        <p:txBody>
          <a:bodyPr/>
          <a:lstStyle/>
          <a:p>
            <a:fld id="{A7544F9A-EF6A-47CB-A458-C95835DAEA60}" type="slidenum">
              <a:rPr lang="pl-PL" smtClean="0"/>
              <a:t>1</a:t>
            </a:fld>
            <a:endParaRPr lang="pl-PL"/>
          </a:p>
        </p:txBody>
      </p:sp>
    </p:spTree>
    <p:extLst>
      <p:ext uri="{BB962C8B-B14F-4D97-AF65-F5344CB8AC3E}">
        <p14:creationId xmlns:p14="http://schemas.microsoft.com/office/powerpoint/2010/main" val="1297944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5595453-CBB0-45AD-9CEF-494EC8B2893F}"/>
              </a:ext>
            </a:extLst>
          </p:cNvPr>
          <p:cNvSpPr>
            <a:spLocks noGrp="1"/>
          </p:cNvSpPr>
          <p:nvPr>
            <p:ph type="title"/>
          </p:nvPr>
        </p:nvSpPr>
        <p:spPr/>
        <p:txBody>
          <a:bodyPr/>
          <a:lstStyle/>
          <a:p>
            <a:r>
              <a:rPr lang="pl-PL" dirty="0" err="1"/>
              <a:t>Discriminant</a:t>
            </a:r>
            <a:r>
              <a:rPr lang="pl-PL" dirty="0"/>
              <a:t> Analysis</a:t>
            </a:r>
          </a:p>
        </p:txBody>
      </p:sp>
      <p:sp>
        <p:nvSpPr>
          <p:cNvPr id="3" name="Symbol zastępczy zawartości 2">
            <a:extLst>
              <a:ext uri="{FF2B5EF4-FFF2-40B4-BE49-F238E27FC236}">
                <a16:creationId xmlns:a16="http://schemas.microsoft.com/office/drawing/2014/main" id="{3B045038-313A-4741-A376-59E99DF7A1FF}"/>
              </a:ext>
            </a:extLst>
          </p:cNvPr>
          <p:cNvSpPr>
            <a:spLocks noGrp="1"/>
          </p:cNvSpPr>
          <p:nvPr>
            <p:ph idx="1"/>
          </p:nvPr>
        </p:nvSpPr>
        <p:spPr/>
        <p:txBody>
          <a:bodyPr>
            <a:normAutofit fontScale="92500" lnSpcReduction="20000"/>
          </a:bodyPr>
          <a:lstStyle/>
          <a:p>
            <a:r>
              <a:rPr lang="en-US" dirty="0"/>
              <a:t>It is used as a dimensionality reduction technique. </a:t>
            </a:r>
            <a:endParaRPr lang="pl-PL" dirty="0"/>
          </a:p>
          <a:p>
            <a:r>
              <a:rPr lang="en-US" dirty="0"/>
              <a:t>Also known as a commonly used in the pre-processing step in machine learning and pattern classification projects. </a:t>
            </a:r>
            <a:endParaRPr lang="pl-PL" dirty="0"/>
          </a:p>
          <a:p>
            <a:r>
              <a:rPr lang="en-US" dirty="0"/>
              <a:t>It is used as a dimensionality reduction technique. Also known as a commonly used in the pre-processing step in machine learning and pattern classification projects.</a:t>
            </a:r>
          </a:p>
          <a:p>
            <a:r>
              <a:rPr lang="en-US" dirty="0"/>
              <a:t>In Python, it helps to reduce high-dimensional data set onto a lower-dimensional space. The goal is to do this while having a decent separation between classes and reducing resources and costs of computing.</a:t>
            </a:r>
          </a:p>
          <a:p>
            <a:r>
              <a:rPr lang="en-US" dirty="0"/>
              <a:t>Original technique that was developed was known as the Linear Discriminant or Fisher’s Discriminant Analysis. This was a two-class technique. The multi-class version, as generalized by C.R. Rao, was called Multiple Discriminant Analysis. </a:t>
            </a:r>
            <a:endParaRPr lang="pl-PL" dirty="0"/>
          </a:p>
        </p:txBody>
      </p:sp>
      <p:sp>
        <p:nvSpPr>
          <p:cNvPr id="4" name="Symbol zastępczy numeru slajdu 3">
            <a:extLst>
              <a:ext uri="{FF2B5EF4-FFF2-40B4-BE49-F238E27FC236}">
                <a16:creationId xmlns:a16="http://schemas.microsoft.com/office/drawing/2014/main" id="{9A1DF5D7-D457-432B-BD37-CDE696D0E0F2}"/>
              </a:ext>
            </a:extLst>
          </p:cNvPr>
          <p:cNvSpPr>
            <a:spLocks noGrp="1"/>
          </p:cNvSpPr>
          <p:nvPr>
            <p:ph type="sldNum" sz="quarter" idx="12"/>
          </p:nvPr>
        </p:nvSpPr>
        <p:spPr/>
        <p:txBody>
          <a:bodyPr/>
          <a:lstStyle/>
          <a:p>
            <a:fld id="{A7544F9A-EF6A-47CB-A458-C95835DAEA60}" type="slidenum">
              <a:rPr lang="pl-PL" smtClean="0"/>
              <a:t>2</a:t>
            </a:fld>
            <a:endParaRPr lang="pl-PL"/>
          </a:p>
        </p:txBody>
      </p:sp>
    </p:spTree>
    <p:extLst>
      <p:ext uri="{BB962C8B-B14F-4D97-AF65-F5344CB8AC3E}">
        <p14:creationId xmlns:p14="http://schemas.microsoft.com/office/powerpoint/2010/main" val="99745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DA9A04E-7630-4EEE-8B89-8E043CE4B136}"/>
              </a:ext>
            </a:extLst>
          </p:cNvPr>
          <p:cNvSpPr>
            <a:spLocks noGrp="1"/>
          </p:cNvSpPr>
          <p:nvPr>
            <p:ph type="title"/>
          </p:nvPr>
        </p:nvSpPr>
        <p:spPr/>
        <p:txBody>
          <a:bodyPr/>
          <a:lstStyle/>
          <a:p>
            <a:pPr algn="ctr"/>
            <a:r>
              <a:rPr lang="pl-PL" dirty="0" err="1"/>
              <a:t>Sometimes</a:t>
            </a:r>
            <a:r>
              <a:rPr lang="pl-PL" dirty="0"/>
              <a:t> one </a:t>
            </a:r>
            <a:r>
              <a:rPr lang="pl-PL" dirty="0" err="1"/>
              <a:t>feature</a:t>
            </a:r>
            <a:r>
              <a:rPr lang="pl-PL" dirty="0"/>
              <a:t> </a:t>
            </a:r>
            <a:r>
              <a:rPr lang="pl-PL" dirty="0" err="1"/>
              <a:t>does</a:t>
            </a:r>
            <a:r>
              <a:rPr lang="pl-PL" dirty="0"/>
              <a:t> not </a:t>
            </a:r>
            <a:r>
              <a:rPr lang="pl-PL" dirty="0" err="1"/>
              <a:t>let</a:t>
            </a:r>
            <a:r>
              <a:rPr lang="pl-PL" dirty="0"/>
              <a:t> to </a:t>
            </a:r>
            <a:r>
              <a:rPr lang="pl-PL" dirty="0" err="1"/>
              <a:t>divide</a:t>
            </a:r>
            <a:r>
              <a:rPr lang="pl-PL" dirty="0"/>
              <a:t> the </a:t>
            </a:r>
            <a:r>
              <a:rPr lang="pl-PL" dirty="0" err="1"/>
              <a:t>sample</a:t>
            </a:r>
            <a:r>
              <a:rPr lang="pl-PL" dirty="0"/>
              <a:t> </a:t>
            </a:r>
            <a:r>
              <a:rPr lang="pl-PL" dirty="0" err="1"/>
              <a:t>into</a:t>
            </a:r>
            <a:r>
              <a:rPr lang="pl-PL" dirty="0"/>
              <a:t> 2 </a:t>
            </a:r>
            <a:r>
              <a:rPr lang="pl-PL" dirty="0" err="1"/>
              <a:t>parts</a:t>
            </a:r>
            <a:endParaRPr lang="pl-PL" dirty="0"/>
          </a:p>
        </p:txBody>
      </p:sp>
      <p:sp>
        <p:nvSpPr>
          <p:cNvPr id="3" name="Symbol zastępczy zawartości 2">
            <a:extLst>
              <a:ext uri="{FF2B5EF4-FFF2-40B4-BE49-F238E27FC236}">
                <a16:creationId xmlns:a16="http://schemas.microsoft.com/office/drawing/2014/main" id="{690DACC3-78CD-4D9A-91B8-E2BFC2A13D4D}"/>
              </a:ext>
            </a:extLst>
          </p:cNvPr>
          <p:cNvSpPr>
            <a:spLocks noGrp="1"/>
          </p:cNvSpPr>
          <p:nvPr>
            <p:ph idx="1"/>
          </p:nvPr>
        </p:nvSpPr>
        <p:spPr/>
        <p:txBody>
          <a:bodyPr/>
          <a:lstStyle/>
          <a:p>
            <a:endParaRPr lang="pl-PL" dirty="0"/>
          </a:p>
        </p:txBody>
      </p:sp>
      <p:sp>
        <p:nvSpPr>
          <p:cNvPr id="4" name="Symbol zastępczy numeru slajdu 3">
            <a:extLst>
              <a:ext uri="{FF2B5EF4-FFF2-40B4-BE49-F238E27FC236}">
                <a16:creationId xmlns:a16="http://schemas.microsoft.com/office/drawing/2014/main" id="{18BFD823-C7D5-4915-B14C-5FE77B1D6C30}"/>
              </a:ext>
            </a:extLst>
          </p:cNvPr>
          <p:cNvSpPr>
            <a:spLocks noGrp="1"/>
          </p:cNvSpPr>
          <p:nvPr>
            <p:ph type="sldNum" sz="quarter" idx="12"/>
          </p:nvPr>
        </p:nvSpPr>
        <p:spPr/>
        <p:txBody>
          <a:bodyPr/>
          <a:lstStyle/>
          <a:p>
            <a:fld id="{A7544F9A-EF6A-47CB-A458-C95835DAEA60}" type="slidenum">
              <a:rPr lang="pl-PL" smtClean="0"/>
              <a:t>3</a:t>
            </a:fld>
            <a:endParaRPr lang="pl-PL"/>
          </a:p>
        </p:txBody>
      </p:sp>
      <p:cxnSp>
        <p:nvCxnSpPr>
          <p:cNvPr id="6" name="Łącznik prosty ze strzałką 5">
            <a:extLst>
              <a:ext uri="{FF2B5EF4-FFF2-40B4-BE49-F238E27FC236}">
                <a16:creationId xmlns:a16="http://schemas.microsoft.com/office/drawing/2014/main" id="{1E4475F3-8498-46FD-8CEC-79540438CD13}"/>
              </a:ext>
            </a:extLst>
          </p:cNvPr>
          <p:cNvCxnSpPr/>
          <p:nvPr/>
        </p:nvCxnSpPr>
        <p:spPr>
          <a:xfrm>
            <a:off x="479394" y="3648722"/>
            <a:ext cx="1123025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wal 6">
            <a:extLst>
              <a:ext uri="{FF2B5EF4-FFF2-40B4-BE49-F238E27FC236}">
                <a16:creationId xmlns:a16="http://schemas.microsoft.com/office/drawing/2014/main" id="{9EAA974A-18AB-4034-A8C4-82D7B4DE9ACB}"/>
              </a:ext>
            </a:extLst>
          </p:cNvPr>
          <p:cNvSpPr/>
          <p:nvPr/>
        </p:nvSpPr>
        <p:spPr>
          <a:xfrm>
            <a:off x="1376039" y="3338004"/>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E1EF79E7-F49C-4499-B84A-666114EFA908}"/>
              </a:ext>
            </a:extLst>
          </p:cNvPr>
          <p:cNvSpPr/>
          <p:nvPr/>
        </p:nvSpPr>
        <p:spPr>
          <a:xfrm>
            <a:off x="1749690" y="3331731"/>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1" name="Owal 10">
            <a:extLst>
              <a:ext uri="{FF2B5EF4-FFF2-40B4-BE49-F238E27FC236}">
                <a16:creationId xmlns:a16="http://schemas.microsoft.com/office/drawing/2014/main" id="{3AAA1F4F-4875-4118-A760-6F06B2653A6B}"/>
              </a:ext>
            </a:extLst>
          </p:cNvPr>
          <p:cNvSpPr/>
          <p:nvPr/>
        </p:nvSpPr>
        <p:spPr>
          <a:xfrm>
            <a:off x="834916" y="3339780"/>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3" name="Owal 12">
            <a:extLst>
              <a:ext uri="{FF2B5EF4-FFF2-40B4-BE49-F238E27FC236}">
                <a16:creationId xmlns:a16="http://schemas.microsoft.com/office/drawing/2014/main" id="{26AEAB68-ED26-45CC-A47F-A60171A5923A}"/>
              </a:ext>
            </a:extLst>
          </p:cNvPr>
          <p:cNvSpPr/>
          <p:nvPr/>
        </p:nvSpPr>
        <p:spPr>
          <a:xfrm>
            <a:off x="2099849" y="3333565"/>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5" name="Owal 14">
            <a:extLst>
              <a:ext uri="{FF2B5EF4-FFF2-40B4-BE49-F238E27FC236}">
                <a16:creationId xmlns:a16="http://schemas.microsoft.com/office/drawing/2014/main" id="{6921EEBE-4D25-47D1-95CC-CCA8045D3A6C}"/>
              </a:ext>
            </a:extLst>
          </p:cNvPr>
          <p:cNvSpPr/>
          <p:nvPr/>
        </p:nvSpPr>
        <p:spPr>
          <a:xfrm>
            <a:off x="2610685" y="3335045"/>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7" name="Owal 16">
            <a:extLst>
              <a:ext uri="{FF2B5EF4-FFF2-40B4-BE49-F238E27FC236}">
                <a16:creationId xmlns:a16="http://schemas.microsoft.com/office/drawing/2014/main" id="{E521DE7B-C41B-4F17-A8C9-EC1D1C44C144}"/>
              </a:ext>
            </a:extLst>
          </p:cNvPr>
          <p:cNvSpPr/>
          <p:nvPr/>
        </p:nvSpPr>
        <p:spPr>
          <a:xfrm>
            <a:off x="3235913" y="3325813"/>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9" name="Owal 18">
            <a:extLst>
              <a:ext uri="{FF2B5EF4-FFF2-40B4-BE49-F238E27FC236}">
                <a16:creationId xmlns:a16="http://schemas.microsoft.com/office/drawing/2014/main" id="{9441BFCB-DCEE-4168-A9B5-3D965E8503FF}"/>
              </a:ext>
            </a:extLst>
          </p:cNvPr>
          <p:cNvSpPr/>
          <p:nvPr/>
        </p:nvSpPr>
        <p:spPr>
          <a:xfrm>
            <a:off x="5183449" y="3321728"/>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3CEB0843-261C-4D00-948D-792E0FB95583}"/>
              </a:ext>
            </a:extLst>
          </p:cNvPr>
          <p:cNvSpPr/>
          <p:nvPr/>
        </p:nvSpPr>
        <p:spPr>
          <a:xfrm>
            <a:off x="6196243" y="3331731"/>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3" name="Owal 22">
            <a:extLst>
              <a:ext uri="{FF2B5EF4-FFF2-40B4-BE49-F238E27FC236}">
                <a16:creationId xmlns:a16="http://schemas.microsoft.com/office/drawing/2014/main" id="{CED93F47-5971-4F7F-A38E-9DED4FE7F948}"/>
              </a:ext>
            </a:extLst>
          </p:cNvPr>
          <p:cNvSpPr/>
          <p:nvPr/>
        </p:nvSpPr>
        <p:spPr>
          <a:xfrm>
            <a:off x="4727732" y="3339780"/>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Owal 24">
            <a:extLst>
              <a:ext uri="{FF2B5EF4-FFF2-40B4-BE49-F238E27FC236}">
                <a16:creationId xmlns:a16="http://schemas.microsoft.com/office/drawing/2014/main" id="{9E7060B8-DBB8-44FF-8CA9-862572111788}"/>
              </a:ext>
            </a:extLst>
          </p:cNvPr>
          <p:cNvSpPr/>
          <p:nvPr/>
        </p:nvSpPr>
        <p:spPr>
          <a:xfrm>
            <a:off x="5600700" y="3331731"/>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Owal 26">
            <a:extLst>
              <a:ext uri="{FF2B5EF4-FFF2-40B4-BE49-F238E27FC236}">
                <a16:creationId xmlns:a16="http://schemas.microsoft.com/office/drawing/2014/main" id="{93A4FAC6-11E4-4414-94CB-D5A6295F8299}"/>
              </a:ext>
            </a:extLst>
          </p:cNvPr>
          <p:cNvSpPr/>
          <p:nvPr/>
        </p:nvSpPr>
        <p:spPr>
          <a:xfrm>
            <a:off x="6629587" y="3336170"/>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Owal 28">
            <a:extLst>
              <a:ext uri="{FF2B5EF4-FFF2-40B4-BE49-F238E27FC236}">
                <a16:creationId xmlns:a16="http://schemas.microsoft.com/office/drawing/2014/main" id="{20975555-9452-42C5-A16A-0FB81A3A8F4F}"/>
              </a:ext>
            </a:extLst>
          </p:cNvPr>
          <p:cNvSpPr/>
          <p:nvPr/>
        </p:nvSpPr>
        <p:spPr>
          <a:xfrm>
            <a:off x="8167088" y="3321728"/>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Owal 30">
            <a:extLst>
              <a:ext uri="{FF2B5EF4-FFF2-40B4-BE49-F238E27FC236}">
                <a16:creationId xmlns:a16="http://schemas.microsoft.com/office/drawing/2014/main" id="{6FFA696A-C9FB-4D3D-BF2C-7A03038863CF}"/>
              </a:ext>
            </a:extLst>
          </p:cNvPr>
          <p:cNvSpPr/>
          <p:nvPr/>
        </p:nvSpPr>
        <p:spPr>
          <a:xfrm>
            <a:off x="8824405" y="3321728"/>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Owal 32">
            <a:extLst>
              <a:ext uri="{FF2B5EF4-FFF2-40B4-BE49-F238E27FC236}">
                <a16:creationId xmlns:a16="http://schemas.microsoft.com/office/drawing/2014/main" id="{D30C2300-1621-49B9-9676-EDD2419CC7E8}"/>
              </a:ext>
            </a:extLst>
          </p:cNvPr>
          <p:cNvSpPr/>
          <p:nvPr/>
        </p:nvSpPr>
        <p:spPr>
          <a:xfrm>
            <a:off x="9388137" y="3331731"/>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5" name="Owal 34">
            <a:extLst>
              <a:ext uri="{FF2B5EF4-FFF2-40B4-BE49-F238E27FC236}">
                <a16:creationId xmlns:a16="http://schemas.microsoft.com/office/drawing/2014/main" id="{8500D494-B402-4461-AA2C-D3DF800CDDDA}"/>
              </a:ext>
            </a:extLst>
          </p:cNvPr>
          <p:cNvSpPr/>
          <p:nvPr/>
        </p:nvSpPr>
        <p:spPr>
          <a:xfrm>
            <a:off x="9983680" y="3321728"/>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Owal 36">
            <a:extLst>
              <a:ext uri="{FF2B5EF4-FFF2-40B4-BE49-F238E27FC236}">
                <a16:creationId xmlns:a16="http://schemas.microsoft.com/office/drawing/2014/main" id="{D80BA305-2344-4416-BE7A-FD0474849696}"/>
              </a:ext>
            </a:extLst>
          </p:cNvPr>
          <p:cNvSpPr/>
          <p:nvPr/>
        </p:nvSpPr>
        <p:spPr>
          <a:xfrm>
            <a:off x="10949127" y="3306046"/>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8" name="Owal 37">
            <a:extLst>
              <a:ext uri="{FF2B5EF4-FFF2-40B4-BE49-F238E27FC236}">
                <a16:creationId xmlns:a16="http://schemas.microsoft.com/office/drawing/2014/main" id="{F8898770-9067-45E2-AEB7-C6121AEFDAB4}"/>
              </a:ext>
            </a:extLst>
          </p:cNvPr>
          <p:cNvSpPr/>
          <p:nvPr/>
        </p:nvSpPr>
        <p:spPr>
          <a:xfrm>
            <a:off x="479394" y="3080551"/>
            <a:ext cx="3545519" cy="113634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0" name="Owal 39">
            <a:extLst>
              <a:ext uri="{FF2B5EF4-FFF2-40B4-BE49-F238E27FC236}">
                <a16:creationId xmlns:a16="http://schemas.microsoft.com/office/drawing/2014/main" id="{A69AF455-75CA-4F0D-AAC4-52F8D0105024}"/>
              </a:ext>
            </a:extLst>
          </p:cNvPr>
          <p:cNvSpPr/>
          <p:nvPr/>
        </p:nvSpPr>
        <p:spPr>
          <a:xfrm>
            <a:off x="7848625" y="2909213"/>
            <a:ext cx="3545519" cy="113634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2" name="pole tekstowe 41">
            <a:extLst>
              <a:ext uri="{FF2B5EF4-FFF2-40B4-BE49-F238E27FC236}">
                <a16:creationId xmlns:a16="http://schemas.microsoft.com/office/drawing/2014/main" id="{D8AE81FE-EF50-4D4A-B337-69D28AA23B8F}"/>
              </a:ext>
            </a:extLst>
          </p:cNvPr>
          <p:cNvSpPr txBox="1"/>
          <p:nvPr/>
        </p:nvSpPr>
        <p:spPr>
          <a:xfrm>
            <a:off x="9460045" y="4098741"/>
            <a:ext cx="2304496" cy="369332"/>
          </a:xfrm>
          <a:prstGeom prst="rect">
            <a:avLst/>
          </a:prstGeom>
          <a:noFill/>
        </p:spPr>
        <p:txBody>
          <a:bodyPr wrap="square" rtlCol="0">
            <a:spAutoFit/>
          </a:bodyPr>
          <a:lstStyle/>
          <a:p>
            <a:r>
              <a:rPr lang="pl-PL" dirty="0" err="1"/>
              <a:t>Intensity</a:t>
            </a:r>
            <a:r>
              <a:rPr lang="pl-PL" dirty="0"/>
              <a:t> of </a:t>
            </a:r>
            <a:r>
              <a:rPr lang="pl-PL" dirty="0" err="1"/>
              <a:t>feature</a:t>
            </a:r>
            <a:r>
              <a:rPr lang="pl-PL" dirty="0"/>
              <a:t> X</a:t>
            </a:r>
          </a:p>
        </p:txBody>
      </p:sp>
    </p:spTree>
    <p:extLst>
      <p:ext uri="{BB962C8B-B14F-4D97-AF65-F5344CB8AC3E}">
        <p14:creationId xmlns:p14="http://schemas.microsoft.com/office/powerpoint/2010/main" val="185670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3F69DDC-DAC3-4D3D-B053-408D8D8B3DE7}"/>
              </a:ext>
            </a:extLst>
          </p:cNvPr>
          <p:cNvSpPr>
            <a:spLocks noGrp="1"/>
          </p:cNvSpPr>
          <p:nvPr>
            <p:ph type="title"/>
          </p:nvPr>
        </p:nvSpPr>
        <p:spPr/>
        <p:txBody>
          <a:bodyPr/>
          <a:lstStyle/>
          <a:p>
            <a:pPr algn="ctr"/>
            <a:r>
              <a:rPr lang="pl-PL" dirty="0"/>
              <a:t>Using 2 </a:t>
            </a:r>
            <a:r>
              <a:rPr lang="pl-PL" dirty="0" err="1"/>
              <a:t>features</a:t>
            </a:r>
            <a:r>
              <a:rPr lang="pl-PL" dirty="0"/>
              <a:t> </a:t>
            </a:r>
            <a:r>
              <a:rPr lang="pl-PL" dirty="0" err="1"/>
              <a:t>does</a:t>
            </a:r>
            <a:r>
              <a:rPr lang="pl-PL" dirty="0"/>
              <a:t> a </a:t>
            </a:r>
            <a:r>
              <a:rPr lang="pl-PL" dirty="0" err="1"/>
              <a:t>better</a:t>
            </a:r>
            <a:r>
              <a:rPr lang="pl-PL" dirty="0"/>
              <a:t> </a:t>
            </a:r>
            <a:r>
              <a:rPr lang="pl-PL" dirty="0" err="1"/>
              <a:t>job</a:t>
            </a:r>
            <a:r>
              <a:rPr lang="pl-PL" dirty="0"/>
              <a:t> (</a:t>
            </a:r>
            <a:r>
              <a:rPr lang="pl-PL" dirty="0" err="1"/>
              <a:t>still</a:t>
            </a:r>
            <a:r>
              <a:rPr lang="pl-PL" dirty="0"/>
              <a:t> not </a:t>
            </a:r>
            <a:r>
              <a:rPr lang="pl-PL" dirty="0" err="1"/>
              <a:t>perfect</a:t>
            </a:r>
            <a:r>
              <a:rPr lang="pl-PL" dirty="0"/>
              <a:t>)</a:t>
            </a:r>
          </a:p>
        </p:txBody>
      </p:sp>
      <p:sp>
        <p:nvSpPr>
          <p:cNvPr id="3" name="Symbol zastępczy zawartości 2">
            <a:extLst>
              <a:ext uri="{FF2B5EF4-FFF2-40B4-BE49-F238E27FC236}">
                <a16:creationId xmlns:a16="http://schemas.microsoft.com/office/drawing/2014/main" id="{D371F12A-B948-4BDF-9DF2-EE6E74D68875}"/>
              </a:ext>
            </a:extLst>
          </p:cNvPr>
          <p:cNvSpPr>
            <a:spLocks noGrp="1"/>
          </p:cNvSpPr>
          <p:nvPr>
            <p:ph idx="1"/>
          </p:nvPr>
        </p:nvSpPr>
        <p:spPr/>
        <p:txBody>
          <a:bodyPr/>
          <a:lstStyle/>
          <a:p>
            <a:endParaRPr lang="pl-PL" dirty="0"/>
          </a:p>
        </p:txBody>
      </p:sp>
      <p:sp>
        <p:nvSpPr>
          <p:cNvPr id="4" name="Symbol zastępczy numeru slajdu 3">
            <a:extLst>
              <a:ext uri="{FF2B5EF4-FFF2-40B4-BE49-F238E27FC236}">
                <a16:creationId xmlns:a16="http://schemas.microsoft.com/office/drawing/2014/main" id="{D5728260-C252-4C48-90B3-115F344E597B}"/>
              </a:ext>
            </a:extLst>
          </p:cNvPr>
          <p:cNvSpPr>
            <a:spLocks noGrp="1"/>
          </p:cNvSpPr>
          <p:nvPr>
            <p:ph type="sldNum" sz="quarter" idx="12"/>
          </p:nvPr>
        </p:nvSpPr>
        <p:spPr/>
        <p:txBody>
          <a:bodyPr/>
          <a:lstStyle/>
          <a:p>
            <a:fld id="{A7544F9A-EF6A-47CB-A458-C95835DAEA60}" type="slidenum">
              <a:rPr lang="pl-PL" smtClean="0"/>
              <a:t>4</a:t>
            </a:fld>
            <a:endParaRPr lang="pl-PL"/>
          </a:p>
        </p:txBody>
      </p:sp>
      <p:cxnSp>
        <p:nvCxnSpPr>
          <p:cNvPr id="5" name="Łącznik prosty ze strzałką 4">
            <a:extLst>
              <a:ext uri="{FF2B5EF4-FFF2-40B4-BE49-F238E27FC236}">
                <a16:creationId xmlns:a16="http://schemas.microsoft.com/office/drawing/2014/main" id="{696C2BAC-A9C1-447F-90D6-3EE82FDBDFDE}"/>
              </a:ext>
            </a:extLst>
          </p:cNvPr>
          <p:cNvCxnSpPr/>
          <p:nvPr/>
        </p:nvCxnSpPr>
        <p:spPr>
          <a:xfrm>
            <a:off x="480873" y="6176963"/>
            <a:ext cx="1123025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Łącznik prosty ze strzałką 6">
            <a:extLst>
              <a:ext uri="{FF2B5EF4-FFF2-40B4-BE49-F238E27FC236}">
                <a16:creationId xmlns:a16="http://schemas.microsoft.com/office/drawing/2014/main" id="{5AACA759-A941-420F-9321-7F8EE0DD68DC}"/>
              </a:ext>
            </a:extLst>
          </p:cNvPr>
          <p:cNvCxnSpPr/>
          <p:nvPr/>
        </p:nvCxnSpPr>
        <p:spPr>
          <a:xfrm flipV="1">
            <a:off x="479394" y="1834503"/>
            <a:ext cx="0" cy="435133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1" name="Owal 10">
            <a:extLst>
              <a:ext uri="{FF2B5EF4-FFF2-40B4-BE49-F238E27FC236}">
                <a16:creationId xmlns:a16="http://schemas.microsoft.com/office/drawing/2014/main" id="{DE4453E6-A002-4F5A-AB48-060DDD7F4C38}"/>
              </a:ext>
            </a:extLst>
          </p:cNvPr>
          <p:cNvSpPr/>
          <p:nvPr/>
        </p:nvSpPr>
        <p:spPr>
          <a:xfrm>
            <a:off x="2099849" y="3333565"/>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3" name="Owal 12">
            <a:extLst>
              <a:ext uri="{FF2B5EF4-FFF2-40B4-BE49-F238E27FC236}">
                <a16:creationId xmlns:a16="http://schemas.microsoft.com/office/drawing/2014/main" id="{C779B182-479C-43AC-9245-B913B2D60210}"/>
              </a:ext>
            </a:extLst>
          </p:cNvPr>
          <p:cNvSpPr/>
          <p:nvPr/>
        </p:nvSpPr>
        <p:spPr>
          <a:xfrm>
            <a:off x="2905867" y="3682753"/>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5" name="Owal 14">
            <a:extLst>
              <a:ext uri="{FF2B5EF4-FFF2-40B4-BE49-F238E27FC236}">
                <a16:creationId xmlns:a16="http://schemas.microsoft.com/office/drawing/2014/main" id="{497707DD-9456-4131-BFA7-85B90E699D2E}"/>
              </a:ext>
            </a:extLst>
          </p:cNvPr>
          <p:cNvSpPr/>
          <p:nvPr/>
        </p:nvSpPr>
        <p:spPr>
          <a:xfrm>
            <a:off x="2398730" y="4476541"/>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7" name="Owal 16">
            <a:extLst>
              <a:ext uri="{FF2B5EF4-FFF2-40B4-BE49-F238E27FC236}">
                <a16:creationId xmlns:a16="http://schemas.microsoft.com/office/drawing/2014/main" id="{9F29CD7A-7778-45ED-B475-6B6EA6569E7A}"/>
              </a:ext>
            </a:extLst>
          </p:cNvPr>
          <p:cNvSpPr/>
          <p:nvPr/>
        </p:nvSpPr>
        <p:spPr>
          <a:xfrm>
            <a:off x="1566353" y="4970548"/>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9" name="Owal 18">
            <a:extLst>
              <a:ext uri="{FF2B5EF4-FFF2-40B4-BE49-F238E27FC236}">
                <a16:creationId xmlns:a16="http://schemas.microsoft.com/office/drawing/2014/main" id="{68FA4900-6153-4F90-A22B-354D93FD9D34}"/>
              </a:ext>
            </a:extLst>
          </p:cNvPr>
          <p:cNvSpPr/>
          <p:nvPr/>
        </p:nvSpPr>
        <p:spPr>
          <a:xfrm>
            <a:off x="3368331" y="4353018"/>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1" name="Owal 20">
            <a:extLst>
              <a:ext uri="{FF2B5EF4-FFF2-40B4-BE49-F238E27FC236}">
                <a16:creationId xmlns:a16="http://schemas.microsoft.com/office/drawing/2014/main" id="{1164788D-3DF0-4294-8668-1EBE18BBEA5B}"/>
              </a:ext>
            </a:extLst>
          </p:cNvPr>
          <p:cNvSpPr/>
          <p:nvPr/>
        </p:nvSpPr>
        <p:spPr>
          <a:xfrm>
            <a:off x="5101707" y="4911179"/>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3" name="Owal 22">
            <a:extLst>
              <a:ext uri="{FF2B5EF4-FFF2-40B4-BE49-F238E27FC236}">
                <a16:creationId xmlns:a16="http://schemas.microsoft.com/office/drawing/2014/main" id="{B33683EC-3012-4A60-9AA3-3E7E8D856E5A}"/>
              </a:ext>
            </a:extLst>
          </p:cNvPr>
          <p:cNvSpPr/>
          <p:nvPr/>
        </p:nvSpPr>
        <p:spPr>
          <a:xfrm>
            <a:off x="3994771" y="3137516"/>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5" name="Owal 24">
            <a:extLst>
              <a:ext uri="{FF2B5EF4-FFF2-40B4-BE49-F238E27FC236}">
                <a16:creationId xmlns:a16="http://schemas.microsoft.com/office/drawing/2014/main" id="{580E2305-4F74-4A74-90D1-6CBEE40FB18D}"/>
              </a:ext>
            </a:extLst>
          </p:cNvPr>
          <p:cNvSpPr/>
          <p:nvPr/>
        </p:nvSpPr>
        <p:spPr>
          <a:xfrm>
            <a:off x="6557918" y="3146394"/>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27" name="Owal 26">
            <a:extLst>
              <a:ext uri="{FF2B5EF4-FFF2-40B4-BE49-F238E27FC236}">
                <a16:creationId xmlns:a16="http://schemas.microsoft.com/office/drawing/2014/main" id="{CA6F5A82-E65B-45C8-9421-013F1ED2F1FB}"/>
              </a:ext>
            </a:extLst>
          </p:cNvPr>
          <p:cNvSpPr/>
          <p:nvPr/>
        </p:nvSpPr>
        <p:spPr>
          <a:xfrm>
            <a:off x="10320664" y="4307705"/>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Owal 28">
            <a:extLst>
              <a:ext uri="{FF2B5EF4-FFF2-40B4-BE49-F238E27FC236}">
                <a16:creationId xmlns:a16="http://schemas.microsoft.com/office/drawing/2014/main" id="{124091D6-9C4A-4106-9F26-828AFBF0BD76}"/>
              </a:ext>
            </a:extLst>
          </p:cNvPr>
          <p:cNvSpPr/>
          <p:nvPr/>
        </p:nvSpPr>
        <p:spPr>
          <a:xfrm>
            <a:off x="9689237" y="2218234"/>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Owal 30">
            <a:extLst>
              <a:ext uri="{FF2B5EF4-FFF2-40B4-BE49-F238E27FC236}">
                <a16:creationId xmlns:a16="http://schemas.microsoft.com/office/drawing/2014/main" id="{B1178BC3-57F6-40A1-B0BB-14AB26432731}"/>
              </a:ext>
            </a:extLst>
          </p:cNvPr>
          <p:cNvSpPr/>
          <p:nvPr/>
        </p:nvSpPr>
        <p:spPr>
          <a:xfrm>
            <a:off x="8154513" y="4946222"/>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Owal 32">
            <a:extLst>
              <a:ext uri="{FF2B5EF4-FFF2-40B4-BE49-F238E27FC236}">
                <a16:creationId xmlns:a16="http://schemas.microsoft.com/office/drawing/2014/main" id="{A7EDC32C-8C53-4E28-950B-CB57DFA0D450}"/>
              </a:ext>
            </a:extLst>
          </p:cNvPr>
          <p:cNvSpPr/>
          <p:nvPr/>
        </p:nvSpPr>
        <p:spPr>
          <a:xfrm>
            <a:off x="5949517" y="3820357"/>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5" name="Owal 34">
            <a:extLst>
              <a:ext uri="{FF2B5EF4-FFF2-40B4-BE49-F238E27FC236}">
                <a16:creationId xmlns:a16="http://schemas.microsoft.com/office/drawing/2014/main" id="{A4854698-8BAE-4715-BBBB-8F000FDE1F7B}"/>
              </a:ext>
            </a:extLst>
          </p:cNvPr>
          <p:cNvSpPr/>
          <p:nvPr/>
        </p:nvSpPr>
        <p:spPr>
          <a:xfrm>
            <a:off x="5531534" y="2218234"/>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Owal 36">
            <a:extLst>
              <a:ext uri="{FF2B5EF4-FFF2-40B4-BE49-F238E27FC236}">
                <a16:creationId xmlns:a16="http://schemas.microsoft.com/office/drawing/2014/main" id="{D3B55FEF-B76E-430C-B5CB-B8090707CFBF}"/>
              </a:ext>
            </a:extLst>
          </p:cNvPr>
          <p:cNvSpPr/>
          <p:nvPr/>
        </p:nvSpPr>
        <p:spPr>
          <a:xfrm>
            <a:off x="8677188" y="4218373"/>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9" name="Owal 38">
            <a:extLst>
              <a:ext uri="{FF2B5EF4-FFF2-40B4-BE49-F238E27FC236}">
                <a16:creationId xmlns:a16="http://schemas.microsoft.com/office/drawing/2014/main" id="{E5142935-365D-4653-AD59-E39AC0DF924C}"/>
              </a:ext>
            </a:extLst>
          </p:cNvPr>
          <p:cNvSpPr/>
          <p:nvPr/>
        </p:nvSpPr>
        <p:spPr>
          <a:xfrm>
            <a:off x="7861550" y="2727220"/>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1" name="Owal 40">
            <a:extLst>
              <a:ext uri="{FF2B5EF4-FFF2-40B4-BE49-F238E27FC236}">
                <a16:creationId xmlns:a16="http://schemas.microsoft.com/office/drawing/2014/main" id="{0DE44D61-2ACF-4833-A72B-ED542DB23F3B}"/>
              </a:ext>
            </a:extLst>
          </p:cNvPr>
          <p:cNvSpPr/>
          <p:nvPr/>
        </p:nvSpPr>
        <p:spPr>
          <a:xfrm>
            <a:off x="8546610" y="3221670"/>
            <a:ext cx="292963" cy="2752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cxnSp>
        <p:nvCxnSpPr>
          <p:cNvPr id="43" name="Łącznik prosty 42">
            <a:extLst>
              <a:ext uri="{FF2B5EF4-FFF2-40B4-BE49-F238E27FC236}">
                <a16:creationId xmlns:a16="http://schemas.microsoft.com/office/drawing/2014/main" id="{9FCBE82E-C2B3-4C98-A996-5B39E6CDE83C}"/>
              </a:ext>
            </a:extLst>
          </p:cNvPr>
          <p:cNvCxnSpPr/>
          <p:nvPr/>
        </p:nvCxnSpPr>
        <p:spPr>
          <a:xfrm>
            <a:off x="4208016" y="1544715"/>
            <a:ext cx="4762135" cy="4641126"/>
          </a:xfrm>
          <a:prstGeom prst="line">
            <a:avLst/>
          </a:prstGeom>
          <a:ln w="38100">
            <a:prstDash val="sysDash"/>
          </a:ln>
        </p:spPr>
        <p:style>
          <a:lnRef idx="1">
            <a:schemeClr val="accent2"/>
          </a:lnRef>
          <a:fillRef idx="0">
            <a:schemeClr val="accent2"/>
          </a:fillRef>
          <a:effectRef idx="0">
            <a:schemeClr val="accent2"/>
          </a:effectRef>
          <a:fontRef idx="minor">
            <a:schemeClr val="tx1"/>
          </a:fontRef>
        </p:style>
      </p:cxnSp>
      <p:sp>
        <p:nvSpPr>
          <p:cNvPr id="45" name="pole tekstowe 44">
            <a:extLst>
              <a:ext uri="{FF2B5EF4-FFF2-40B4-BE49-F238E27FC236}">
                <a16:creationId xmlns:a16="http://schemas.microsoft.com/office/drawing/2014/main" id="{D69DC631-3D62-423B-8221-0DC13CC927B2}"/>
              </a:ext>
            </a:extLst>
          </p:cNvPr>
          <p:cNvSpPr txBox="1"/>
          <p:nvPr/>
        </p:nvSpPr>
        <p:spPr>
          <a:xfrm>
            <a:off x="8970151" y="6294979"/>
            <a:ext cx="2304496" cy="369332"/>
          </a:xfrm>
          <a:prstGeom prst="rect">
            <a:avLst/>
          </a:prstGeom>
          <a:noFill/>
        </p:spPr>
        <p:txBody>
          <a:bodyPr wrap="square" rtlCol="0">
            <a:spAutoFit/>
          </a:bodyPr>
          <a:lstStyle/>
          <a:p>
            <a:r>
              <a:rPr lang="pl-PL" dirty="0" err="1"/>
              <a:t>Intensity</a:t>
            </a:r>
            <a:r>
              <a:rPr lang="pl-PL" dirty="0"/>
              <a:t> of </a:t>
            </a:r>
            <a:r>
              <a:rPr lang="pl-PL" dirty="0" err="1"/>
              <a:t>feature</a:t>
            </a:r>
            <a:r>
              <a:rPr lang="pl-PL" dirty="0"/>
              <a:t> X</a:t>
            </a:r>
          </a:p>
        </p:txBody>
      </p:sp>
      <p:sp>
        <p:nvSpPr>
          <p:cNvPr id="47" name="pole tekstowe 46">
            <a:extLst>
              <a:ext uri="{FF2B5EF4-FFF2-40B4-BE49-F238E27FC236}">
                <a16:creationId xmlns:a16="http://schemas.microsoft.com/office/drawing/2014/main" id="{BB01028F-66D4-43D7-A168-6E014610B7D5}"/>
              </a:ext>
            </a:extLst>
          </p:cNvPr>
          <p:cNvSpPr txBox="1"/>
          <p:nvPr/>
        </p:nvSpPr>
        <p:spPr>
          <a:xfrm>
            <a:off x="-6889" y="1360049"/>
            <a:ext cx="2304496" cy="369332"/>
          </a:xfrm>
          <a:prstGeom prst="rect">
            <a:avLst/>
          </a:prstGeom>
          <a:noFill/>
        </p:spPr>
        <p:txBody>
          <a:bodyPr wrap="square" rtlCol="0">
            <a:spAutoFit/>
          </a:bodyPr>
          <a:lstStyle/>
          <a:p>
            <a:r>
              <a:rPr lang="pl-PL" dirty="0" err="1"/>
              <a:t>Intensity</a:t>
            </a:r>
            <a:r>
              <a:rPr lang="pl-PL" dirty="0"/>
              <a:t> of </a:t>
            </a:r>
            <a:r>
              <a:rPr lang="pl-PL" dirty="0" err="1"/>
              <a:t>feature</a:t>
            </a:r>
            <a:r>
              <a:rPr lang="pl-PL" dirty="0"/>
              <a:t> Y</a:t>
            </a:r>
          </a:p>
        </p:txBody>
      </p:sp>
    </p:spTree>
    <p:extLst>
      <p:ext uri="{BB962C8B-B14F-4D97-AF65-F5344CB8AC3E}">
        <p14:creationId xmlns:p14="http://schemas.microsoft.com/office/powerpoint/2010/main" val="256658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wal 17">
            <a:extLst>
              <a:ext uri="{FF2B5EF4-FFF2-40B4-BE49-F238E27FC236}">
                <a16:creationId xmlns:a16="http://schemas.microsoft.com/office/drawing/2014/main" id="{D540DCEF-E72D-4D69-9F94-E150FDE4BFF9}"/>
              </a:ext>
            </a:extLst>
          </p:cNvPr>
          <p:cNvSpPr/>
          <p:nvPr/>
        </p:nvSpPr>
        <p:spPr>
          <a:xfrm>
            <a:off x="8154513" y="4946222"/>
            <a:ext cx="292963" cy="275208"/>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21" name="Owal 20">
            <a:extLst>
              <a:ext uri="{FF2B5EF4-FFF2-40B4-BE49-F238E27FC236}">
                <a16:creationId xmlns:a16="http://schemas.microsoft.com/office/drawing/2014/main" id="{31A119E7-DA5E-48A5-BF0E-30CE03D29807}"/>
              </a:ext>
            </a:extLst>
          </p:cNvPr>
          <p:cNvSpPr/>
          <p:nvPr/>
        </p:nvSpPr>
        <p:spPr>
          <a:xfrm>
            <a:off x="8677188" y="4218373"/>
            <a:ext cx="292963" cy="275208"/>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23" name="Owal 22">
            <a:extLst>
              <a:ext uri="{FF2B5EF4-FFF2-40B4-BE49-F238E27FC236}">
                <a16:creationId xmlns:a16="http://schemas.microsoft.com/office/drawing/2014/main" id="{03AAC6F6-AA3F-4483-8B84-7B214958102F}"/>
              </a:ext>
            </a:extLst>
          </p:cNvPr>
          <p:cNvSpPr/>
          <p:nvPr/>
        </p:nvSpPr>
        <p:spPr>
          <a:xfrm>
            <a:off x="8546610" y="3221670"/>
            <a:ext cx="197895" cy="207330"/>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19" name="Owal 18">
            <a:extLst>
              <a:ext uri="{FF2B5EF4-FFF2-40B4-BE49-F238E27FC236}">
                <a16:creationId xmlns:a16="http://schemas.microsoft.com/office/drawing/2014/main" id="{98993C27-65A8-40BE-A28B-A8D403B72CD9}"/>
              </a:ext>
            </a:extLst>
          </p:cNvPr>
          <p:cNvSpPr/>
          <p:nvPr/>
        </p:nvSpPr>
        <p:spPr>
          <a:xfrm>
            <a:off x="5949517" y="3820357"/>
            <a:ext cx="146483" cy="137604"/>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dirty="0"/>
          </a:p>
        </p:txBody>
      </p:sp>
      <p:sp>
        <p:nvSpPr>
          <p:cNvPr id="22" name="Owal 21">
            <a:extLst>
              <a:ext uri="{FF2B5EF4-FFF2-40B4-BE49-F238E27FC236}">
                <a16:creationId xmlns:a16="http://schemas.microsoft.com/office/drawing/2014/main" id="{2A056E18-4919-4B2B-8F7E-B355959D2DB9}"/>
              </a:ext>
            </a:extLst>
          </p:cNvPr>
          <p:cNvSpPr/>
          <p:nvPr/>
        </p:nvSpPr>
        <p:spPr>
          <a:xfrm>
            <a:off x="7861550" y="2727220"/>
            <a:ext cx="292963" cy="275208"/>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20" name="Owal 19">
            <a:extLst>
              <a:ext uri="{FF2B5EF4-FFF2-40B4-BE49-F238E27FC236}">
                <a16:creationId xmlns:a16="http://schemas.microsoft.com/office/drawing/2014/main" id="{E5269FCE-41EE-4C79-92B0-80B3E7A3A64B}"/>
              </a:ext>
            </a:extLst>
          </p:cNvPr>
          <p:cNvSpPr/>
          <p:nvPr/>
        </p:nvSpPr>
        <p:spPr>
          <a:xfrm>
            <a:off x="5531534" y="2218234"/>
            <a:ext cx="292963" cy="275208"/>
          </a:xfrm>
          <a:prstGeom prst="ellipse">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29" name="Prostokąt 28">
            <a:extLst>
              <a:ext uri="{FF2B5EF4-FFF2-40B4-BE49-F238E27FC236}">
                <a16:creationId xmlns:a16="http://schemas.microsoft.com/office/drawing/2014/main" id="{D38A96AD-BFF1-4AB2-AB1A-E6FCC15B3F27}"/>
              </a:ext>
            </a:extLst>
          </p:cNvPr>
          <p:cNvSpPr/>
          <p:nvPr/>
        </p:nvSpPr>
        <p:spPr>
          <a:xfrm rot="2189719">
            <a:off x="4243480" y="1596417"/>
            <a:ext cx="5318097" cy="4351338"/>
          </a:xfrm>
          <a:prstGeom prst="rect">
            <a:avLst/>
          </a:prstGeom>
          <a:solidFill>
            <a:srgbClr val="CCCCFF">
              <a:alpha val="3098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2" name="Tytuł 1">
            <a:extLst>
              <a:ext uri="{FF2B5EF4-FFF2-40B4-BE49-F238E27FC236}">
                <a16:creationId xmlns:a16="http://schemas.microsoft.com/office/drawing/2014/main" id="{7E78991B-57F1-4CF2-AF3C-EC8C24C0C25B}"/>
              </a:ext>
            </a:extLst>
          </p:cNvPr>
          <p:cNvSpPr>
            <a:spLocks noGrp="1"/>
          </p:cNvSpPr>
          <p:nvPr>
            <p:ph type="title"/>
          </p:nvPr>
        </p:nvSpPr>
        <p:spPr/>
        <p:txBody>
          <a:bodyPr/>
          <a:lstStyle/>
          <a:p>
            <a:r>
              <a:rPr lang="pl-PL" dirty="0"/>
              <a:t>Using 3 </a:t>
            </a:r>
            <a:r>
              <a:rPr lang="pl-PL" dirty="0" err="1"/>
              <a:t>features</a:t>
            </a:r>
            <a:r>
              <a:rPr lang="pl-PL" dirty="0"/>
              <a:t> </a:t>
            </a:r>
            <a:r>
              <a:rPr lang="pl-PL" dirty="0" err="1"/>
              <a:t>allows</a:t>
            </a:r>
            <a:r>
              <a:rPr lang="pl-PL" dirty="0"/>
              <a:t> for </a:t>
            </a:r>
            <a:r>
              <a:rPr lang="pl-PL" dirty="0" err="1"/>
              <a:t>perfect</a:t>
            </a:r>
            <a:r>
              <a:rPr lang="pl-PL" dirty="0"/>
              <a:t> </a:t>
            </a:r>
            <a:r>
              <a:rPr lang="pl-PL" dirty="0" err="1"/>
              <a:t>separation</a:t>
            </a:r>
            <a:endParaRPr lang="pl-PL" dirty="0"/>
          </a:p>
        </p:txBody>
      </p:sp>
      <p:sp>
        <p:nvSpPr>
          <p:cNvPr id="4" name="Symbol zastępczy numeru slajdu 3">
            <a:extLst>
              <a:ext uri="{FF2B5EF4-FFF2-40B4-BE49-F238E27FC236}">
                <a16:creationId xmlns:a16="http://schemas.microsoft.com/office/drawing/2014/main" id="{63CFE3A2-7FC4-41F9-9764-6EBDDA77AB7F}"/>
              </a:ext>
            </a:extLst>
          </p:cNvPr>
          <p:cNvSpPr>
            <a:spLocks noGrp="1"/>
          </p:cNvSpPr>
          <p:nvPr>
            <p:ph type="sldNum" sz="quarter" idx="12"/>
          </p:nvPr>
        </p:nvSpPr>
        <p:spPr/>
        <p:txBody>
          <a:bodyPr/>
          <a:lstStyle/>
          <a:p>
            <a:fld id="{A7544F9A-EF6A-47CB-A458-C95835DAEA60}" type="slidenum">
              <a:rPr lang="pl-PL" smtClean="0"/>
              <a:t>5</a:t>
            </a:fld>
            <a:endParaRPr lang="pl-PL"/>
          </a:p>
        </p:txBody>
      </p:sp>
      <p:sp>
        <p:nvSpPr>
          <p:cNvPr id="5" name="Symbol zastępczy numeru slajdu 3">
            <a:extLst>
              <a:ext uri="{FF2B5EF4-FFF2-40B4-BE49-F238E27FC236}">
                <a16:creationId xmlns:a16="http://schemas.microsoft.com/office/drawing/2014/main" id="{D0190F56-F116-44E7-B2F4-B4406E76861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pl-PL"/>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544F9A-EF6A-47CB-A458-C95835DAEA60}" type="slidenum">
              <a:rPr lang="pl-PL" smtClean="0"/>
              <a:pPr/>
              <a:t>5</a:t>
            </a:fld>
            <a:endParaRPr lang="pl-PL"/>
          </a:p>
        </p:txBody>
      </p:sp>
      <p:cxnSp>
        <p:nvCxnSpPr>
          <p:cNvPr id="6" name="Łącznik prosty ze strzałką 5">
            <a:extLst>
              <a:ext uri="{FF2B5EF4-FFF2-40B4-BE49-F238E27FC236}">
                <a16:creationId xmlns:a16="http://schemas.microsoft.com/office/drawing/2014/main" id="{8856D775-FACB-4DD5-97CF-B1E25AE29B41}"/>
              </a:ext>
            </a:extLst>
          </p:cNvPr>
          <p:cNvCxnSpPr/>
          <p:nvPr/>
        </p:nvCxnSpPr>
        <p:spPr>
          <a:xfrm>
            <a:off x="480873" y="6176963"/>
            <a:ext cx="11230253"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Łącznik prosty ze strzałką 6">
            <a:extLst>
              <a:ext uri="{FF2B5EF4-FFF2-40B4-BE49-F238E27FC236}">
                <a16:creationId xmlns:a16="http://schemas.microsoft.com/office/drawing/2014/main" id="{DED239D1-6A72-4FBA-B99B-30BC8D81236E}"/>
              </a:ext>
            </a:extLst>
          </p:cNvPr>
          <p:cNvCxnSpPr/>
          <p:nvPr/>
        </p:nvCxnSpPr>
        <p:spPr>
          <a:xfrm flipV="1">
            <a:off x="479394" y="1834503"/>
            <a:ext cx="0" cy="435133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Owal 7">
            <a:extLst>
              <a:ext uri="{FF2B5EF4-FFF2-40B4-BE49-F238E27FC236}">
                <a16:creationId xmlns:a16="http://schemas.microsoft.com/office/drawing/2014/main" id="{69BFA145-C22A-4CDA-AC58-DB32AE4A0331}"/>
              </a:ext>
            </a:extLst>
          </p:cNvPr>
          <p:cNvSpPr/>
          <p:nvPr/>
        </p:nvSpPr>
        <p:spPr>
          <a:xfrm>
            <a:off x="2099849" y="3333565"/>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9" name="Owal 8">
            <a:extLst>
              <a:ext uri="{FF2B5EF4-FFF2-40B4-BE49-F238E27FC236}">
                <a16:creationId xmlns:a16="http://schemas.microsoft.com/office/drawing/2014/main" id="{CF034147-306E-4F02-96E7-C71FCE28CA28}"/>
              </a:ext>
            </a:extLst>
          </p:cNvPr>
          <p:cNvSpPr/>
          <p:nvPr/>
        </p:nvSpPr>
        <p:spPr>
          <a:xfrm>
            <a:off x="2905867" y="3682753"/>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0" name="Owal 9">
            <a:extLst>
              <a:ext uri="{FF2B5EF4-FFF2-40B4-BE49-F238E27FC236}">
                <a16:creationId xmlns:a16="http://schemas.microsoft.com/office/drawing/2014/main" id="{58DEC2C1-0A60-465D-A6FD-DFB81D245549}"/>
              </a:ext>
            </a:extLst>
          </p:cNvPr>
          <p:cNvSpPr/>
          <p:nvPr/>
        </p:nvSpPr>
        <p:spPr>
          <a:xfrm>
            <a:off x="2398730" y="4476541"/>
            <a:ext cx="292963" cy="2752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1" name="Owal 10">
            <a:extLst>
              <a:ext uri="{FF2B5EF4-FFF2-40B4-BE49-F238E27FC236}">
                <a16:creationId xmlns:a16="http://schemas.microsoft.com/office/drawing/2014/main" id="{2E827B00-9AB3-4D72-B9CD-E298D65B7BF0}"/>
              </a:ext>
            </a:extLst>
          </p:cNvPr>
          <p:cNvSpPr/>
          <p:nvPr/>
        </p:nvSpPr>
        <p:spPr>
          <a:xfrm>
            <a:off x="1566354" y="4970548"/>
            <a:ext cx="191426" cy="16962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2" name="Owal 11">
            <a:extLst>
              <a:ext uri="{FF2B5EF4-FFF2-40B4-BE49-F238E27FC236}">
                <a16:creationId xmlns:a16="http://schemas.microsoft.com/office/drawing/2014/main" id="{7398BD07-144F-4EA5-BE16-EBA3DA5B3526}"/>
              </a:ext>
            </a:extLst>
          </p:cNvPr>
          <p:cNvSpPr/>
          <p:nvPr/>
        </p:nvSpPr>
        <p:spPr>
          <a:xfrm>
            <a:off x="3368331" y="4353017"/>
            <a:ext cx="480880" cy="512205"/>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3" name="Owal 12">
            <a:extLst>
              <a:ext uri="{FF2B5EF4-FFF2-40B4-BE49-F238E27FC236}">
                <a16:creationId xmlns:a16="http://schemas.microsoft.com/office/drawing/2014/main" id="{6FB9F406-CC38-4FEC-8614-645835C465E3}"/>
              </a:ext>
            </a:extLst>
          </p:cNvPr>
          <p:cNvSpPr/>
          <p:nvPr/>
        </p:nvSpPr>
        <p:spPr>
          <a:xfrm>
            <a:off x="5101707" y="4911179"/>
            <a:ext cx="602569" cy="55746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4" name="Owal 13">
            <a:extLst>
              <a:ext uri="{FF2B5EF4-FFF2-40B4-BE49-F238E27FC236}">
                <a16:creationId xmlns:a16="http://schemas.microsoft.com/office/drawing/2014/main" id="{F48A7642-B4D8-4B2D-B54B-E981DE071F31}"/>
              </a:ext>
            </a:extLst>
          </p:cNvPr>
          <p:cNvSpPr/>
          <p:nvPr/>
        </p:nvSpPr>
        <p:spPr>
          <a:xfrm>
            <a:off x="3994771" y="3137515"/>
            <a:ext cx="638179" cy="62569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5" name="Owal 14">
            <a:extLst>
              <a:ext uri="{FF2B5EF4-FFF2-40B4-BE49-F238E27FC236}">
                <a16:creationId xmlns:a16="http://schemas.microsoft.com/office/drawing/2014/main" id="{098D3463-56AF-4F5E-8EC1-316D144D5E92}"/>
              </a:ext>
            </a:extLst>
          </p:cNvPr>
          <p:cNvSpPr/>
          <p:nvPr/>
        </p:nvSpPr>
        <p:spPr>
          <a:xfrm>
            <a:off x="6557918" y="3146394"/>
            <a:ext cx="638179" cy="62569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pl-PL"/>
          </a:p>
        </p:txBody>
      </p:sp>
      <p:sp>
        <p:nvSpPr>
          <p:cNvPr id="16" name="Owal 15">
            <a:extLst>
              <a:ext uri="{FF2B5EF4-FFF2-40B4-BE49-F238E27FC236}">
                <a16:creationId xmlns:a16="http://schemas.microsoft.com/office/drawing/2014/main" id="{938E624F-B705-4E6F-876F-DC447ECF075B}"/>
              </a:ext>
            </a:extLst>
          </p:cNvPr>
          <p:cNvSpPr/>
          <p:nvPr/>
        </p:nvSpPr>
        <p:spPr>
          <a:xfrm>
            <a:off x="10320664" y="4307705"/>
            <a:ext cx="292963" cy="275208"/>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17" name="Owal 16">
            <a:extLst>
              <a:ext uri="{FF2B5EF4-FFF2-40B4-BE49-F238E27FC236}">
                <a16:creationId xmlns:a16="http://schemas.microsoft.com/office/drawing/2014/main" id="{BB91BB14-9B69-4128-9287-556EEBFF0450}"/>
              </a:ext>
            </a:extLst>
          </p:cNvPr>
          <p:cNvSpPr/>
          <p:nvPr/>
        </p:nvSpPr>
        <p:spPr>
          <a:xfrm>
            <a:off x="9689237" y="2218234"/>
            <a:ext cx="292963" cy="275208"/>
          </a:xfrm>
          <a:prstGeom prst="ellipse">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
        <p:nvSpPr>
          <p:cNvPr id="25" name="pole tekstowe 24">
            <a:extLst>
              <a:ext uri="{FF2B5EF4-FFF2-40B4-BE49-F238E27FC236}">
                <a16:creationId xmlns:a16="http://schemas.microsoft.com/office/drawing/2014/main" id="{21D9A159-4232-4207-B5AB-7A2E8B221FF7}"/>
              </a:ext>
            </a:extLst>
          </p:cNvPr>
          <p:cNvSpPr txBox="1"/>
          <p:nvPr/>
        </p:nvSpPr>
        <p:spPr>
          <a:xfrm>
            <a:off x="8970151" y="6294979"/>
            <a:ext cx="2304496" cy="369332"/>
          </a:xfrm>
          <a:prstGeom prst="rect">
            <a:avLst/>
          </a:prstGeom>
          <a:noFill/>
        </p:spPr>
        <p:txBody>
          <a:bodyPr wrap="square" rtlCol="0">
            <a:spAutoFit/>
          </a:bodyPr>
          <a:lstStyle/>
          <a:p>
            <a:r>
              <a:rPr lang="pl-PL" dirty="0" err="1"/>
              <a:t>Intensity</a:t>
            </a:r>
            <a:r>
              <a:rPr lang="pl-PL" dirty="0"/>
              <a:t> of </a:t>
            </a:r>
            <a:r>
              <a:rPr lang="pl-PL" dirty="0" err="1"/>
              <a:t>feature</a:t>
            </a:r>
            <a:r>
              <a:rPr lang="pl-PL" dirty="0"/>
              <a:t> X</a:t>
            </a:r>
          </a:p>
        </p:txBody>
      </p:sp>
      <p:sp>
        <p:nvSpPr>
          <p:cNvPr id="26" name="pole tekstowe 25">
            <a:extLst>
              <a:ext uri="{FF2B5EF4-FFF2-40B4-BE49-F238E27FC236}">
                <a16:creationId xmlns:a16="http://schemas.microsoft.com/office/drawing/2014/main" id="{9647C560-831D-4E38-84C3-1A20468F7825}"/>
              </a:ext>
            </a:extLst>
          </p:cNvPr>
          <p:cNvSpPr txBox="1"/>
          <p:nvPr/>
        </p:nvSpPr>
        <p:spPr>
          <a:xfrm>
            <a:off x="-6889" y="1360049"/>
            <a:ext cx="2304496" cy="369332"/>
          </a:xfrm>
          <a:prstGeom prst="rect">
            <a:avLst/>
          </a:prstGeom>
          <a:noFill/>
        </p:spPr>
        <p:txBody>
          <a:bodyPr wrap="square" rtlCol="0">
            <a:spAutoFit/>
          </a:bodyPr>
          <a:lstStyle/>
          <a:p>
            <a:r>
              <a:rPr lang="pl-PL" dirty="0" err="1"/>
              <a:t>Intensity</a:t>
            </a:r>
            <a:r>
              <a:rPr lang="pl-PL" dirty="0"/>
              <a:t> of </a:t>
            </a:r>
            <a:r>
              <a:rPr lang="pl-PL" dirty="0" err="1"/>
              <a:t>feature</a:t>
            </a:r>
            <a:r>
              <a:rPr lang="pl-PL" dirty="0"/>
              <a:t> Y</a:t>
            </a:r>
          </a:p>
        </p:txBody>
      </p:sp>
      <p:cxnSp>
        <p:nvCxnSpPr>
          <p:cNvPr id="28" name="Łącznik prosty ze strzałką 27">
            <a:extLst>
              <a:ext uri="{FF2B5EF4-FFF2-40B4-BE49-F238E27FC236}">
                <a16:creationId xmlns:a16="http://schemas.microsoft.com/office/drawing/2014/main" id="{E18F4005-A6E7-4B70-A60E-4C26B5843267}"/>
              </a:ext>
            </a:extLst>
          </p:cNvPr>
          <p:cNvCxnSpPr>
            <a:cxnSpLocks/>
          </p:cNvCxnSpPr>
          <p:nvPr/>
        </p:nvCxnSpPr>
        <p:spPr>
          <a:xfrm flipV="1">
            <a:off x="479394" y="4307705"/>
            <a:ext cx="3727144" cy="1869258"/>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84387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96A48E6-5489-46BE-A4A8-1F8E5E60ACA2}"/>
              </a:ext>
            </a:extLst>
          </p:cNvPr>
          <p:cNvSpPr>
            <a:spLocks noGrp="1"/>
          </p:cNvSpPr>
          <p:nvPr>
            <p:ph type="title"/>
          </p:nvPr>
        </p:nvSpPr>
        <p:spPr/>
        <p:txBody>
          <a:bodyPr/>
          <a:lstStyle/>
          <a:p>
            <a:r>
              <a:rPr lang="pl-PL" dirty="0"/>
              <a:t>For 4 </a:t>
            </a:r>
            <a:r>
              <a:rPr lang="pl-PL" dirty="0" err="1"/>
              <a:t>dimentions</a:t>
            </a:r>
            <a:r>
              <a:rPr lang="pl-PL" dirty="0"/>
              <a:t> we </a:t>
            </a:r>
            <a:r>
              <a:rPr lang="pl-PL" dirty="0" err="1"/>
              <a:t>cannot</a:t>
            </a:r>
            <a:r>
              <a:rPr lang="pl-PL" dirty="0"/>
              <a:t> </a:t>
            </a:r>
            <a:r>
              <a:rPr lang="pl-PL" dirty="0" err="1"/>
              <a:t>draw</a:t>
            </a:r>
            <a:r>
              <a:rPr lang="pl-PL" dirty="0"/>
              <a:t> </a:t>
            </a:r>
            <a:r>
              <a:rPr lang="pl-PL" dirty="0" err="1"/>
              <a:t>it</a:t>
            </a:r>
            <a:endParaRPr lang="pl-PL" dirty="0"/>
          </a:p>
        </p:txBody>
      </p:sp>
      <p:sp>
        <p:nvSpPr>
          <p:cNvPr id="3" name="Symbol zastępczy zawartości 2">
            <a:extLst>
              <a:ext uri="{FF2B5EF4-FFF2-40B4-BE49-F238E27FC236}">
                <a16:creationId xmlns:a16="http://schemas.microsoft.com/office/drawing/2014/main" id="{5A9F0DDC-B896-47DB-B097-40AD92966D39}"/>
              </a:ext>
            </a:extLst>
          </p:cNvPr>
          <p:cNvSpPr>
            <a:spLocks noGrp="1"/>
          </p:cNvSpPr>
          <p:nvPr>
            <p:ph idx="1"/>
          </p:nvPr>
        </p:nvSpPr>
        <p:spPr/>
        <p:txBody>
          <a:bodyPr/>
          <a:lstStyle/>
          <a:p>
            <a:r>
              <a:rPr lang="pl-PL" dirty="0"/>
              <a:t>LDA </a:t>
            </a:r>
            <a:r>
              <a:rPr lang="pl-PL" dirty="0" err="1"/>
              <a:t>reduces</a:t>
            </a:r>
            <a:r>
              <a:rPr lang="pl-PL" dirty="0"/>
              <a:t> </a:t>
            </a:r>
            <a:r>
              <a:rPr lang="pl-PL" dirty="0" err="1"/>
              <a:t>dimentions</a:t>
            </a:r>
            <a:r>
              <a:rPr lang="pl-PL" dirty="0"/>
              <a:t> by </a:t>
            </a:r>
            <a:r>
              <a:rPr lang="pl-PL" dirty="0" err="1"/>
              <a:t>focusing</a:t>
            </a:r>
            <a:r>
              <a:rPr lang="pl-PL" dirty="0"/>
              <a:t> on </a:t>
            </a:r>
            <a:r>
              <a:rPr lang="pl-PL" dirty="0" err="1"/>
              <a:t>separability</a:t>
            </a:r>
            <a:r>
              <a:rPr lang="pl-PL" dirty="0"/>
              <a:t> </a:t>
            </a:r>
            <a:r>
              <a:rPr lang="pl-PL" dirty="0" err="1"/>
              <a:t>between</a:t>
            </a:r>
            <a:r>
              <a:rPr lang="pl-PL" dirty="0"/>
              <a:t> </a:t>
            </a:r>
            <a:r>
              <a:rPr lang="pl-PL" dirty="0" err="1"/>
              <a:t>classes</a:t>
            </a:r>
            <a:endParaRPr lang="pl-PL" dirty="0"/>
          </a:p>
          <a:p>
            <a:endParaRPr lang="pl-PL" dirty="0"/>
          </a:p>
          <a:p>
            <a:endParaRPr lang="pl-PL" dirty="0"/>
          </a:p>
        </p:txBody>
      </p:sp>
      <p:sp>
        <p:nvSpPr>
          <p:cNvPr id="4" name="Symbol zastępczy numeru slajdu 3">
            <a:extLst>
              <a:ext uri="{FF2B5EF4-FFF2-40B4-BE49-F238E27FC236}">
                <a16:creationId xmlns:a16="http://schemas.microsoft.com/office/drawing/2014/main" id="{4F656D03-31C2-4C60-B3D8-EA382B86F399}"/>
              </a:ext>
            </a:extLst>
          </p:cNvPr>
          <p:cNvSpPr>
            <a:spLocks noGrp="1"/>
          </p:cNvSpPr>
          <p:nvPr>
            <p:ph type="sldNum" sz="quarter" idx="12"/>
          </p:nvPr>
        </p:nvSpPr>
        <p:spPr/>
        <p:txBody>
          <a:bodyPr/>
          <a:lstStyle/>
          <a:p>
            <a:fld id="{A7544F9A-EF6A-47CB-A458-C95835DAEA60}" type="slidenum">
              <a:rPr lang="pl-PL" smtClean="0"/>
              <a:t>6</a:t>
            </a:fld>
            <a:endParaRPr lang="pl-PL"/>
          </a:p>
        </p:txBody>
      </p:sp>
    </p:spTree>
    <p:extLst>
      <p:ext uri="{BB962C8B-B14F-4D97-AF65-F5344CB8AC3E}">
        <p14:creationId xmlns:p14="http://schemas.microsoft.com/office/powerpoint/2010/main" val="1211505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1D2DCC-B57C-42B3-9CB7-9474DD8341C3}"/>
              </a:ext>
            </a:extLst>
          </p:cNvPr>
          <p:cNvSpPr>
            <a:spLocks noGrp="1"/>
          </p:cNvSpPr>
          <p:nvPr>
            <p:ph type="title"/>
          </p:nvPr>
        </p:nvSpPr>
        <p:spPr>
          <a:xfrm>
            <a:off x="838200" y="0"/>
            <a:ext cx="10515600" cy="774473"/>
          </a:xfrm>
        </p:spPr>
        <p:txBody>
          <a:bodyPr/>
          <a:lstStyle/>
          <a:p>
            <a:pPr algn="ctr"/>
            <a:r>
              <a:rPr lang="pl-PL" dirty="0" err="1"/>
              <a:t>Reduction</a:t>
            </a:r>
            <a:r>
              <a:rPr lang="pl-PL" dirty="0"/>
              <a:t> of </a:t>
            </a:r>
            <a:r>
              <a:rPr lang="pl-PL" dirty="0" err="1"/>
              <a:t>dimensions</a:t>
            </a:r>
            <a:r>
              <a:rPr lang="pl-PL" dirty="0"/>
              <a:t> </a:t>
            </a:r>
            <a:r>
              <a:rPr lang="pl-PL" dirty="0" err="1"/>
              <a:t>example</a:t>
            </a:r>
            <a:endParaRPr lang="pl-PL" dirty="0"/>
          </a:p>
        </p:txBody>
      </p:sp>
      <p:sp>
        <p:nvSpPr>
          <p:cNvPr id="3" name="Symbol zastępczy zawartości 2">
            <a:extLst>
              <a:ext uri="{FF2B5EF4-FFF2-40B4-BE49-F238E27FC236}">
                <a16:creationId xmlns:a16="http://schemas.microsoft.com/office/drawing/2014/main" id="{B0C60B1E-43A8-44CC-A401-CBD75C5F2600}"/>
              </a:ext>
            </a:extLst>
          </p:cNvPr>
          <p:cNvSpPr>
            <a:spLocks noGrp="1"/>
          </p:cNvSpPr>
          <p:nvPr>
            <p:ph idx="1"/>
          </p:nvPr>
        </p:nvSpPr>
        <p:spPr/>
        <p:txBody>
          <a:bodyPr/>
          <a:lstStyle/>
          <a:p>
            <a:endParaRPr lang="pl-PL" dirty="0"/>
          </a:p>
        </p:txBody>
      </p:sp>
      <p:sp>
        <p:nvSpPr>
          <p:cNvPr id="4" name="Symbol zastępczy numeru slajdu 3">
            <a:extLst>
              <a:ext uri="{FF2B5EF4-FFF2-40B4-BE49-F238E27FC236}">
                <a16:creationId xmlns:a16="http://schemas.microsoft.com/office/drawing/2014/main" id="{FF2B0077-BD54-4A50-8DE4-3E29FFB1605E}"/>
              </a:ext>
            </a:extLst>
          </p:cNvPr>
          <p:cNvSpPr>
            <a:spLocks noGrp="1"/>
          </p:cNvSpPr>
          <p:nvPr>
            <p:ph type="sldNum" sz="quarter" idx="12"/>
          </p:nvPr>
        </p:nvSpPr>
        <p:spPr/>
        <p:txBody>
          <a:bodyPr/>
          <a:lstStyle/>
          <a:p>
            <a:fld id="{A7544F9A-EF6A-47CB-A458-C95835DAEA60}" type="slidenum">
              <a:rPr lang="pl-PL" smtClean="0"/>
              <a:t>7</a:t>
            </a:fld>
            <a:endParaRPr lang="pl-PL"/>
          </a:p>
        </p:txBody>
      </p:sp>
      <p:pic>
        <p:nvPicPr>
          <p:cNvPr id="6" name="Obraz 5">
            <a:extLst>
              <a:ext uri="{FF2B5EF4-FFF2-40B4-BE49-F238E27FC236}">
                <a16:creationId xmlns:a16="http://schemas.microsoft.com/office/drawing/2014/main" id="{B5431ABF-0FC9-4EC1-896B-F8D079FEFB1C}"/>
              </a:ext>
            </a:extLst>
          </p:cNvPr>
          <p:cNvPicPr>
            <a:picLocks noChangeAspect="1"/>
          </p:cNvPicPr>
          <p:nvPr/>
        </p:nvPicPr>
        <p:blipFill>
          <a:blip r:embed="rId2"/>
          <a:stretch>
            <a:fillRect/>
          </a:stretch>
        </p:blipFill>
        <p:spPr>
          <a:xfrm>
            <a:off x="205852" y="583660"/>
            <a:ext cx="5449224" cy="2977784"/>
          </a:xfrm>
          <a:prstGeom prst="rect">
            <a:avLst/>
          </a:prstGeom>
        </p:spPr>
      </p:pic>
      <p:pic>
        <p:nvPicPr>
          <p:cNvPr id="7" name="Obraz 6">
            <a:extLst>
              <a:ext uri="{FF2B5EF4-FFF2-40B4-BE49-F238E27FC236}">
                <a16:creationId xmlns:a16="http://schemas.microsoft.com/office/drawing/2014/main" id="{AC34A471-4AB4-4A5B-A5EF-E84C98A41118}"/>
              </a:ext>
            </a:extLst>
          </p:cNvPr>
          <p:cNvPicPr>
            <a:picLocks noChangeAspect="1"/>
          </p:cNvPicPr>
          <p:nvPr/>
        </p:nvPicPr>
        <p:blipFill>
          <a:blip r:embed="rId3"/>
          <a:stretch>
            <a:fillRect/>
          </a:stretch>
        </p:blipFill>
        <p:spPr>
          <a:xfrm>
            <a:off x="5761607" y="583660"/>
            <a:ext cx="5972175" cy="3343275"/>
          </a:xfrm>
          <a:prstGeom prst="rect">
            <a:avLst/>
          </a:prstGeom>
        </p:spPr>
      </p:pic>
      <p:pic>
        <p:nvPicPr>
          <p:cNvPr id="9" name="Obraz 8">
            <a:extLst>
              <a:ext uri="{FF2B5EF4-FFF2-40B4-BE49-F238E27FC236}">
                <a16:creationId xmlns:a16="http://schemas.microsoft.com/office/drawing/2014/main" id="{F7B3F197-9160-4AD2-8B2E-B5C66F6CBF04}"/>
              </a:ext>
            </a:extLst>
          </p:cNvPr>
          <p:cNvPicPr>
            <a:picLocks noChangeAspect="1"/>
          </p:cNvPicPr>
          <p:nvPr/>
        </p:nvPicPr>
        <p:blipFill>
          <a:blip r:embed="rId4"/>
          <a:stretch>
            <a:fillRect/>
          </a:stretch>
        </p:blipFill>
        <p:spPr>
          <a:xfrm>
            <a:off x="2910926" y="3651090"/>
            <a:ext cx="5488299" cy="2801719"/>
          </a:xfrm>
          <a:prstGeom prst="rect">
            <a:avLst/>
          </a:prstGeom>
        </p:spPr>
      </p:pic>
      <p:sp>
        <p:nvSpPr>
          <p:cNvPr id="10" name="pole tekstowe 9">
            <a:extLst>
              <a:ext uri="{FF2B5EF4-FFF2-40B4-BE49-F238E27FC236}">
                <a16:creationId xmlns:a16="http://schemas.microsoft.com/office/drawing/2014/main" id="{A8ED4F75-9A5D-45B1-A468-0C5C70A2B221}"/>
              </a:ext>
            </a:extLst>
          </p:cNvPr>
          <p:cNvSpPr txBox="1"/>
          <p:nvPr/>
        </p:nvSpPr>
        <p:spPr>
          <a:xfrm>
            <a:off x="8610600" y="4023888"/>
            <a:ext cx="2175029" cy="2585323"/>
          </a:xfrm>
          <a:prstGeom prst="rect">
            <a:avLst/>
          </a:prstGeom>
          <a:noFill/>
        </p:spPr>
        <p:txBody>
          <a:bodyPr wrap="square" rtlCol="0">
            <a:spAutoFit/>
          </a:bodyPr>
          <a:lstStyle/>
          <a:p>
            <a:r>
              <a:rPr lang="pl-PL" dirty="0"/>
              <a:t>We </a:t>
            </a:r>
            <a:r>
              <a:rPr lang="pl-PL" dirty="0" err="1"/>
              <a:t>still</a:t>
            </a:r>
            <a:r>
              <a:rPr lang="pl-PL" dirty="0"/>
              <a:t> </a:t>
            </a:r>
            <a:r>
              <a:rPr lang="pl-PL" dirty="0" err="1"/>
              <a:t>cannot</a:t>
            </a:r>
            <a:r>
              <a:rPr lang="pl-PL" dirty="0"/>
              <a:t> </a:t>
            </a:r>
            <a:r>
              <a:rPr lang="pl-PL" dirty="0" err="1"/>
              <a:t>separate</a:t>
            </a:r>
            <a:r>
              <a:rPr lang="pl-PL" dirty="0"/>
              <a:t> red </a:t>
            </a:r>
            <a:r>
              <a:rPr lang="pl-PL" dirty="0" err="1"/>
              <a:t>dots</a:t>
            </a:r>
            <a:r>
              <a:rPr lang="pl-PL" dirty="0"/>
              <a:t> from </a:t>
            </a:r>
            <a:r>
              <a:rPr lang="pl-PL" dirty="0" err="1"/>
              <a:t>green</a:t>
            </a:r>
            <a:r>
              <a:rPr lang="pl-PL" dirty="0"/>
              <a:t> </a:t>
            </a:r>
            <a:r>
              <a:rPr lang="pl-PL" dirty="0" err="1"/>
              <a:t>dots</a:t>
            </a:r>
            <a:r>
              <a:rPr lang="pl-PL" dirty="0"/>
              <a:t> </a:t>
            </a:r>
            <a:r>
              <a:rPr lang="pl-PL" dirty="0" err="1"/>
              <a:t>after</a:t>
            </a:r>
            <a:r>
              <a:rPr lang="pl-PL" dirty="0"/>
              <a:t> </a:t>
            </a:r>
            <a:r>
              <a:rPr lang="pl-PL" dirty="0" err="1"/>
              <a:t>such</a:t>
            </a:r>
            <a:r>
              <a:rPr lang="pl-PL" dirty="0"/>
              <a:t> casting of 2D </a:t>
            </a:r>
            <a:r>
              <a:rPr lang="pl-PL" dirty="0" err="1"/>
              <a:t>space</a:t>
            </a:r>
            <a:r>
              <a:rPr lang="pl-PL" dirty="0"/>
              <a:t> </a:t>
            </a:r>
            <a:r>
              <a:rPr lang="pl-PL" dirty="0" err="1"/>
              <a:t>into</a:t>
            </a:r>
            <a:r>
              <a:rPr lang="pl-PL" dirty="0"/>
              <a:t> 1D </a:t>
            </a:r>
            <a:r>
              <a:rPr lang="pl-PL" dirty="0" err="1"/>
              <a:t>space</a:t>
            </a:r>
            <a:r>
              <a:rPr lang="pl-PL" dirty="0"/>
              <a:t> – </a:t>
            </a:r>
            <a:r>
              <a:rPr lang="pl-PL" dirty="0" err="1"/>
              <a:t>feature</a:t>
            </a:r>
            <a:r>
              <a:rPr lang="pl-PL" dirty="0"/>
              <a:t> Y </a:t>
            </a:r>
            <a:r>
              <a:rPr lang="pl-PL" dirty="0" err="1"/>
              <a:t>contained</a:t>
            </a:r>
            <a:r>
              <a:rPr lang="pl-PL" dirty="0"/>
              <a:t> </a:t>
            </a:r>
            <a:r>
              <a:rPr lang="pl-PL" dirty="0" err="1"/>
              <a:t>useful</a:t>
            </a:r>
            <a:r>
              <a:rPr lang="pl-PL" dirty="0"/>
              <a:t> </a:t>
            </a:r>
            <a:r>
              <a:rPr lang="pl-PL" dirty="0" err="1"/>
              <a:t>information</a:t>
            </a:r>
            <a:r>
              <a:rPr lang="pl-PL" dirty="0"/>
              <a:t> </a:t>
            </a:r>
            <a:r>
              <a:rPr lang="pl-PL" dirty="0" err="1"/>
              <a:t>which</a:t>
            </a:r>
            <a:r>
              <a:rPr lang="pl-PL" dirty="0"/>
              <a:t> we </a:t>
            </a:r>
            <a:r>
              <a:rPr lang="pl-PL" dirty="0" err="1"/>
              <a:t>ingored</a:t>
            </a:r>
            <a:endParaRPr lang="pl-PL" dirty="0"/>
          </a:p>
        </p:txBody>
      </p:sp>
    </p:spTree>
    <p:extLst>
      <p:ext uri="{BB962C8B-B14F-4D97-AF65-F5344CB8AC3E}">
        <p14:creationId xmlns:p14="http://schemas.microsoft.com/office/powerpoint/2010/main" val="3596422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902FFE0-AAD1-4F7C-8CA4-9A9ACE601033}"/>
              </a:ext>
            </a:extLst>
          </p:cNvPr>
          <p:cNvSpPr>
            <a:spLocks noGrp="1"/>
          </p:cNvSpPr>
          <p:nvPr>
            <p:ph type="title"/>
          </p:nvPr>
        </p:nvSpPr>
        <p:spPr/>
        <p:txBody>
          <a:bodyPr/>
          <a:lstStyle/>
          <a:p>
            <a:r>
              <a:rPr lang="pl-PL" dirty="0" err="1"/>
              <a:t>Reduction</a:t>
            </a:r>
            <a:r>
              <a:rPr lang="pl-PL" dirty="0"/>
              <a:t> of </a:t>
            </a:r>
            <a:r>
              <a:rPr lang="pl-PL" dirty="0" err="1"/>
              <a:t>dimenstions</a:t>
            </a:r>
            <a:r>
              <a:rPr lang="pl-PL" dirty="0"/>
              <a:t> </a:t>
            </a:r>
            <a:r>
              <a:rPr lang="pl-PL" dirty="0" err="1"/>
              <a:t>example</a:t>
            </a:r>
            <a:endParaRPr lang="pl-PL" dirty="0"/>
          </a:p>
        </p:txBody>
      </p:sp>
      <p:sp>
        <p:nvSpPr>
          <p:cNvPr id="3" name="Symbol zastępczy zawartości 2">
            <a:extLst>
              <a:ext uri="{FF2B5EF4-FFF2-40B4-BE49-F238E27FC236}">
                <a16:creationId xmlns:a16="http://schemas.microsoft.com/office/drawing/2014/main" id="{A8AAE33F-7635-4B7E-8689-27779D2F1870}"/>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98083F0E-5ADB-4E47-A25E-4128DDE2D976}"/>
              </a:ext>
            </a:extLst>
          </p:cNvPr>
          <p:cNvSpPr>
            <a:spLocks noGrp="1"/>
          </p:cNvSpPr>
          <p:nvPr>
            <p:ph type="sldNum" sz="quarter" idx="12"/>
          </p:nvPr>
        </p:nvSpPr>
        <p:spPr/>
        <p:txBody>
          <a:bodyPr/>
          <a:lstStyle/>
          <a:p>
            <a:fld id="{A7544F9A-EF6A-47CB-A458-C95835DAEA60}" type="slidenum">
              <a:rPr lang="pl-PL" smtClean="0"/>
              <a:t>8</a:t>
            </a:fld>
            <a:endParaRPr lang="pl-PL"/>
          </a:p>
        </p:txBody>
      </p:sp>
      <p:pic>
        <p:nvPicPr>
          <p:cNvPr id="6" name="Obraz 5">
            <a:extLst>
              <a:ext uri="{FF2B5EF4-FFF2-40B4-BE49-F238E27FC236}">
                <a16:creationId xmlns:a16="http://schemas.microsoft.com/office/drawing/2014/main" id="{97E9BA0C-1001-4783-BCBF-D691D29F50B1}"/>
              </a:ext>
            </a:extLst>
          </p:cNvPr>
          <p:cNvPicPr>
            <a:picLocks noChangeAspect="1"/>
          </p:cNvPicPr>
          <p:nvPr/>
        </p:nvPicPr>
        <p:blipFill>
          <a:blip r:embed="rId2"/>
          <a:stretch>
            <a:fillRect/>
          </a:stretch>
        </p:blipFill>
        <p:spPr>
          <a:xfrm>
            <a:off x="455813" y="1646237"/>
            <a:ext cx="3929756" cy="2650841"/>
          </a:xfrm>
          <a:prstGeom prst="rect">
            <a:avLst/>
          </a:prstGeom>
        </p:spPr>
      </p:pic>
      <p:pic>
        <p:nvPicPr>
          <p:cNvPr id="8" name="Obraz 7">
            <a:extLst>
              <a:ext uri="{FF2B5EF4-FFF2-40B4-BE49-F238E27FC236}">
                <a16:creationId xmlns:a16="http://schemas.microsoft.com/office/drawing/2014/main" id="{DC6F4694-81B7-4E1F-8392-F6A0277F97B6}"/>
              </a:ext>
            </a:extLst>
          </p:cNvPr>
          <p:cNvPicPr>
            <a:picLocks noChangeAspect="1"/>
          </p:cNvPicPr>
          <p:nvPr/>
        </p:nvPicPr>
        <p:blipFill>
          <a:blip r:embed="rId3"/>
          <a:stretch>
            <a:fillRect/>
          </a:stretch>
        </p:blipFill>
        <p:spPr>
          <a:xfrm>
            <a:off x="6096000" y="1762919"/>
            <a:ext cx="2933700" cy="2238375"/>
          </a:xfrm>
          <a:prstGeom prst="rect">
            <a:avLst/>
          </a:prstGeom>
        </p:spPr>
      </p:pic>
      <p:sp>
        <p:nvSpPr>
          <p:cNvPr id="9" name="pole tekstowe 8">
            <a:extLst>
              <a:ext uri="{FF2B5EF4-FFF2-40B4-BE49-F238E27FC236}">
                <a16:creationId xmlns:a16="http://schemas.microsoft.com/office/drawing/2014/main" id="{A9E986E7-0157-4D6D-BA69-18F064AD4771}"/>
              </a:ext>
            </a:extLst>
          </p:cNvPr>
          <p:cNvSpPr txBox="1"/>
          <p:nvPr/>
        </p:nvSpPr>
        <p:spPr>
          <a:xfrm>
            <a:off x="2130640" y="4888597"/>
            <a:ext cx="7430609" cy="646331"/>
          </a:xfrm>
          <a:prstGeom prst="rect">
            <a:avLst/>
          </a:prstGeom>
          <a:noFill/>
        </p:spPr>
        <p:txBody>
          <a:bodyPr wrap="square" rtlCol="0">
            <a:spAutoFit/>
          </a:bodyPr>
          <a:lstStyle/>
          <a:p>
            <a:r>
              <a:rPr lang="pl-PL" dirty="0" err="1"/>
              <a:t>When</a:t>
            </a:r>
            <a:r>
              <a:rPr lang="pl-PL" dirty="0"/>
              <a:t> we </a:t>
            </a:r>
            <a:r>
              <a:rPr lang="pl-PL" dirty="0" err="1"/>
              <a:t>casted</a:t>
            </a:r>
            <a:r>
              <a:rPr lang="pl-PL" dirty="0"/>
              <a:t> 2D </a:t>
            </a:r>
            <a:r>
              <a:rPr lang="pl-PL" dirty="0" err="1"/>
              <a:t>space</a:t>
            </a:r>
            <a:r>
              <a:rPr lang="pl-PL" dirty="0"/>
              <a:t> </a:t>
            </a:r>
            <a:r>
              <a:rPr lang="pl-PL" dirty="0" err="1"/>
              <a:t>into</a:t>
            </a:r>
            <a:r>
              <a:rPr lang="pl-PL" dirty="0"/>
              <a:t> 1D </a:t>
            </a:r>
            <a:r>
              <a:rPr lang="pl-PL" dirty="0" err="1"/>
              <a:t>space</a:t>
            </a:r>
            <a:r>
              <a:rPr lang="pl-PL" dirty="0"/>
              <a:t> with </a:t>
            </a:r>
            <a:r>
              <a:rPr lang="pl-PL" dirty="0" err="1"/>
              <a:t>another</a:t>
            </a:r>
            <a:r>
              <a:rPr lang="pl-PL" dirty="0"/>
              <a:t> </a:t>
            </a:r>
            <a:r>
              <a:rPr lang="pl-PL" dirty="0" err="1"/>
              <a:t>axis</a:t>
            </a:r>
            <a:r>
              <a:rPr lang="pl-PL" dirty="0"/>
              <a:t>, we </a:t>
            </a:r>
            <a:r>
              <a:rPr lang="pl-PL" dirty="0" err="1"/>
              <a:t>get</a:t>
            </a:r>
            <a:r>
              <a:rPr lang="pl-PL" dirty="0"/>
              <a:t> a </a:t>
            </a:r>
            <a:r>
              <a:rPr lang="pl-PL" dirty="0" err="1"/>
              <a:t>better</a:t>
            </a:r>
            <a:r>
              <a:rPr lang="pl-PL" dirty="0"/>
              <a:t> (</a:t>
            </a:r>
            <a:r>
              <a:rPr lang="pl-PL" dirty="0" err="1"/>
              <a:t>although</a:t>
            </a:r>
            <a:r>
              <a:rPr lang="pl-PL" dirty="0"/>
              <a:t> not </a:t>
            </a:r>
            <a:r>
              <a:rPr lang="pl-PL" dirty="0" err="1"/>
              <a:t>perfect</a:t>
            </a:r>
            <a:r>
              <a:rPr lang="pl-PL" dirty="0"/>
              <a:t>) </a:t>
            </a:r>
            <a:r>
              <a:rPr lang="pl-PL" dirty="0" err="1"/>
              <a:t>separation</a:t>
            </a:r>
            <a:r>
              <a:rPr lang="pl-PL" dirty="0"/>
              <a:t> </a:t>
            </a:r>
            <a:r>
              <a:rPr lang="pl-PL" dirty="0" err="1"/>
              <a:t>between</a:t>
            </a:r>
            <a:r>
              <a:rPr lang="pl-PL" dirty="0"/>
              <a:t> red </a:t>
            </a:r>
            <a:r>
              <a:rPr lang="pl-PL" dirty="0" err="1"/>
              <a:t>dots</a:t>
            </a:r>
            <a:r>
              <a:rPr lang="pl-PL" dirty="0"/>
              <a:t> and </a:t>
            </a:r>
            <a:r>
              <a:rPr lang="pl-PL" dirty="0" err="1"/>
              <a:t>geen</a:t>
            </a:r>
            <a:r>
              <a:rPr lang="pl-PL" dirty="0"/>
              <a:t> </a:t>
            </a:r>
            <a:r>
              <a:rPr lang="pl-PL" dirty="0" err="1"/>
              <a:t>dots</a:t>
            </a:r>
            <a:r>
              <a:rPr lang="pl-PL" dirty="0"/>
              <a:t>.</a:t>
            </a:r>
          </a:p>
        </p:txBody>
      </p:sp>
    </p:spTree>
    <p:extLst>
      <p:ext uri="{BB962C8B-B14F-4D97-AF65-F5344CB8AC3E}">
        <p14:creationId xmlns:p14="http://schemas.microsoft.com/office/powerpoint/2010/main" val="4152386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4AB463-0504-40D0-8A76-E38F3733D46E}"/>
              </a:ext>
            </a:extLst>
          </p:cNvPr>
          <p:cNvSpPr>
            <a:spLocks noGrp="1"/>
          </p:cNvSpPr>
          <p:nvPr>
            <p:ph type="title"/>
          </p:nvPr>
        </p:nvSpPr>
        <p:spPr/>
        <p:txBody>
          <a:bodyPr/>
          <a:lstStyle/>
          <a:p>
            <a:pPr algn="ctr"/>
            <a:r>
              <a:rPr lang="pl-PL" dirty="0"/>
              <a:t>How LDA </a:t>
            </a:r>
            <a:r>
              <a:rPr lang="pl-PL" dirty="0" err="1"/>
              <a:t>does</a:t>
            </a:r>
            <a:r>
              <a:rPr lang="pl-PL" dirty="0"/>
              <a:t> </a:t>
            </a:r>
            <a:r>
              <a:rPr lang="pl-PL" dirty="0" err="1"/>
              <a:t>this</a:t>
            </a:r>
            <a:r>
              <a:rPr lang="pl-PL" dirty="0"/>
              <a:t> </a:t>
            </a:r>
            <a:r>
              <a:rPr lang="pl-PL" dirty="0" err="1"/>
              <a:t>reduction</a:t>
            </a:r>
            <a:r>
              <a:rPr lang="pl-PL" dirty="0"/>
              <a:t> of </a:t>
            </a:r>
            <a:r>
              <a:rPr lang="pl-PL" dirty="0" err="1"/>
              <a:t>dimensions</a:t>
            </a:r>
            <a:r>
              <a:rPr lang="pl-PL" dirty="0"/>
              <a:t> (</a:t>
            </a:r>
            <a:r>
              <a:rPr lang="pl-PL" dirty="0" err="1"/>
              <a:t>creates</a:t>
            </a:r>
            <a:r>
              <a:rPr lang="pl-PL" dirty="0"/>
              <a:t> a </a:t>
            </a:r>
            <a:r>
              <a:rPr lang="pl-PL" dirty="0" err="1"/>
              <a:t>new</a:t>
            </a:r>
            <a:r>
              <a:rPr lang="pl-PL" dirty="0"/>
              <a:t> </a:t>
            </a:r>
            <a:r>
              <a:rPr lang="pl-PL" dirty="0" err="1"/>
              <a:t>axis</a:t>
            </a:r>
            <a:r>
              <a:rPr lang="pl-PL" dirty="0"/>
              <a:t>)</a:t>
            </a:r>
          </a:p>
        </p:txBody>
      </p:sp>
      <p:sp>
        <p:nvSpPr>
          <p:cNvPr id="3" name="Symbol zastępczy zawartości 2">
            <a:extLst>
              <a:ext uri="{FF2B5EF4-FFF2-40B4-BE49-F238E27FC236}">
                <a16:creationId xmlns:a16="http://schemas.microsoft.com/office/drawing/2014/main" id="{1C6CFA48-EB44-4FE9-B5BB-257B12E2B1A1}"/>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431AB38A-51C1-41E8-BD53-F6AA1A31D60A}"/>
              </a:ext>
            </a:extLst>
          </p:cNvPr>
          <p:cNvSpPr>
            <a:spLocks noGrp="1"/>
          </p:cNvSpPr>
          <p:nvPr>
            <p:ph type="sldNum" sz="quarter" idx="12"/>
          </p:nvPr>
        </p:nvSpPr>
        <p:spPr/>
        <p:txBody>
          <a:bodyPr/>
          <a:lstStyle/>
          <a:p>
            <a:fld id="{A7544F9A-EF6A-47CB-A458-C95835DAEA60}" type="slidenum">
              <a:rPr lang="pl-PL" smtClean="0"/>
              <a:t>9</a:t>
            </a:fld>
            <a:endParaRPr lang="pl-PL"/>
          </a:p>
        </p:txBody>
      </p:sp>
      <p:pic>
        <p:nvPicPr>
          <p:cNvPr id="9" name="Obraz 8">
            <a:extLst>
              <a:ext uri="{FF2B5EF4-FFF2-40B4-BE49-F238E27FC236}">
                <a16:creationId xmlns:a16="http://schemas.microsoft.com/office/drawing/2014/main" id="{24B095C3-FDC1-42D7-AC51-DA3C0748A12F}"/>
              </a:ext>
            </a:extLst>
          </p:cNvPr>
          <p:cNvPicPr>
            <a:picLocks noChangeAspect="1"/>
          </p:cNvPicPr>
          <p:nvPr/>
        </p:nvPicPr>
        <p:blipFill rotWithShape="1">
          <a:blip r:embed="rId2"/>
          <a:srcRect l="13750" t="37750" r="43859" b="20987"/>
          <a:stretch/>
        </p:blipFill>
        <p:spPr>
          <a:xfrm>
            <a:off x="1521781" y="1789463"/>
            <a:ext cx="9007136" cy="4703412"/>
          </a:xfrm>
          <a:prstGeom prst="rect">
            <a:avLst/>
          </a:prstGeom>
        </p:spPr>
      </p:pic>
    </p:spTree>
    <p:extLst>
      <p:ext uri="{BB962C8B-B14F-4D97-AF65-F5344CB8AC3E}">
        <p14:creationId xmlns:p14="http://schemas.microsoft.com/office/powerpoint/2010/main" val="3352701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7A8CDEA-CFC3-46C6-9F37-62F4258D6C69}"/>
              </a:ext>
            </a:extLst>
          </p:cNvPr>
          <p:cNvSpPr>
            <a:spLocks noGrp="1"/>
          </p:cNvSpPr>
          <p:nvPr>
            <p:ph type="title"/>
          </p:nvPr>
        </p:nvSpPr>
        <p:spPr>
          <a:xfrm>
            <a:off x="0" y="0"/>
            <a:ext cx="12192000" cy="612559"/>
          </a:xfrm>
        </p:spPr>
        <p:txBody>
          <a:bodyPr>
            <a:normAutofit fontScale="90000"/>
          </a:bodyPr>
          <a:lstStyle/>
          <a:p>
            <a:pPr algn="ctr"/>
            <a:r>
              <a:rPr lang="pl-PL" dirty="0" err="1"/>
              <a:t>Why</a:t>
            </a:r>
            <a:r>
              <a:rPr lang="pl-PL" dirty="0"/>
              <a:t> </a:t>
            </a:r>
            <a:r>
              <a:rPr lang="pl-PL" dirty="0" err="1"/>
              <a:t>both</a:t>
            </a:r>
            <a:r>
              <a:rPr lang="pl-PL" dirty="0"/>
              <a:t> the </a:t>
            </a:r>
            <a:r>
              <a:rPr lang="pl-PL" dirty="0" err="1"/>
              <a:t>distance</a:t>
            </a:r>
            <a:r>
              <a:rPr lang="pl-PL" dirty="0"/>
              <a:t> and </a:t>
            </a:r>
            <a:r>
              <a:rPr lang="pl-PL" dirty="0" err="1"/>
              <a:t>scatter</a:t>
            </a:r>
            <a:r>
              <a:rPr lang="pl-PL" dirty="0"/>
              <a:t> </a:t>
            </a:r>
            <a:r>
              <a:rPr lang="pl-PL" dirty="0" err="1"/>
              <a:t>are</a:t>
            </a:r>
            <a:r>
              <a:rPr lang="pl-PL" dirty="0"/>
              <a:t> </a:t>
            </a:r>
            <a:r>
              <a:rPr lang="pl-PL" dirty="0" err="1"/>
              <a:t>important</a:t>
            </a:r>
            <a:endParaRPr lang="pl-PL" dirty="0"/>
          </a:p>
        </p:txBody>
      </p:sp>
      <p:sp>
        <p:nvSpPr>
          <p:cNvPr id="3" name="Symbol zastępczy zawartości 2">
            <a:extLst>
              <a:ext uri="{FF2B5EF4-FFF2-40B4-BE49-F238E27FC236}">
                <a16:creationId xmlns:a16="http://schemas.microsoft.com/office/drawing/2014/main" id="{857F899B-6A78-4398-9C3F-BB65555805E5}"/>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B581B595-D7CE-4210-8142-CA0879D80BAE}"/>
              </a:ext>
            </a:extLst>
          </p:cNvPr>
          <p:cNvSpPr>
            <a:spLocks noGrp="1"/>
          </p:cNvSpPr>
          <p:nvPr>
            <p:ph type="sldNum" sz="quarter" idx="12"/>
          </p:nvPr>
        </p:nvSpPr>
        <p:spPr/>
        <p:txBody>
          <a:bodyPr/>
          <a:lstStyle/>
          <a:p>
            <a:fld id="{A7544F9A-EF6A-47CB-A458-C95835DAEA60}" type="slidenum">
              <a:rPr lang="pl-PL" smtClean="0"/>
              <a:t>10</a:t>
            </a:fld>
            <a:endParaRPr lang="pl-PL"/>
          </a:p>
        </p:txBody>
      </p:sp>
      <p:pic>
        <p:nvPicPr>
          <p:cNvPr id="6" name="Obraz 5">
            <a:extLst>
              <a:ext uri="{FF2B5EF4-FFF2-40B4-BE49-F238E27FC236}">
                <a16:creationId xmlns:a16="http://schemas.microsoft.com/office/drawing/2014/main" id="{ECEB59D1-8C90-4657-8BAE-51FBEBEE49FC}"/>
              </a:ext>
            </a:extLst>
          </p:cNvPr>
          <p:cNvPicPr>
            <a:picLocks noChangeAspect="1"/>
          </p:cNvPicPr>
          <p:nvPr/>
        </p:nvPicPr>
        <p:blipFill rotWithShape="1">
          <a:blip r:embed="rId2"/>
          <a:srcRect l="12962" t="31506" r="42184" b="18272"/>
          <a:stretch/>
        </p:blipFill>
        <p:spPr>
          <a:xfrm>
            <a:off x="1171852" y="1118585"/>
            <a:ext cx="9206144" cy="5529665"/>
          </a:xfrm>
          <a:prstGeom prst="rect">
            <a:avLst/>
          </a:prstGeom>
        </p:spPr>
      </p:pic>
    </p:spTree>
    <p:extLst>
      <p:ext uri="{BB962C8B-B14F-4D97-AF65-F5344CB8AC3E}">
        <p14:creationId xmlns:p14="http://schemas.microsoft.com/office/powerpoint/2010/main" val="2386924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9A7DDE-ACF4-4AAE-9FC1-0F701CB8B4B1}"/>
              </a:ext>
            </a:extLst>
          </p:cNvPr>
          <p:cNvSpPr>
            <a:spLocks noGrp="1"/>
          </p:cNvSpPr>
          <p:nvPr>
            <p:ph type="title"/>
          </p:nvPr>
        </p:nvSpPr>
        <p:spPr>
          <a:xfrm>
            <a:off x="838200" y="0"/>
            <a:ext cx="10515600" cy="496009"/>
          </a:xfrm>
        </p:spPr>
        <p:txBody>
          <a:bodyPr>
            <a:normAutofit fontScale="90000"/>
          </a:bodyPr>
          <a:lstStyle/>
          <a:p>
            <a:pPr algn="ctr"/>
            <a:r>
              <a:rPr lang="pl-PL" dirty="0" err="1"/>
              <a:t>What</a:t>
            </a:r>
            <a:r>
              <a:rPr lang="pl-PL" dirty="0"/>
              <a:t> </a:t>
            </a:r>
            <a:r>
              <a:rPr lang="pl-PL" dirty="0" err="1"/>
              <a:t>if</a:t>
            </a:r>
            <a:r>
              <a:rPr lang="pl-PL" dirty="0"/>
              <a:t> we </a:t>
            </a:r>
            <a:r>
              <a:rPr lang="pl-PL" dirty="0" err="1"/>
              <a:t>have</a:t>
            </a:r>
            <a:r>
              <a:rPr lang="pl-PL" dirty="0"/>
              <a:t> </a:t>
            </a:r>
            <a:r>
              <a:rPr lang="pl-PL" dirty="0" err="1"/>
              <a:t>more</a:t>
            </a:r>
            <a:r>
              <a:rPr lang="pl-PL" dirty="0"/>
              <a:t> </a:t>
            </a:r>
            <a:r>
              <a:rPr lang="pl-PL" dirty="0" err="1"/>
              <a:t>than</a:t>
            </a:r>
            <a:r>
              <a:rPr lang="pl-PL" dirty="0"/>
              <a:t> 2 </a:t>
            </a:r>
            <a:r>
              <a:rPr lang="pl-PL" dirty="0" err="1"/>
              <a:t>dimensions</a:t>
            </a:r>
            <a:r>
              <a:rPr lang="pl-PL" dirty="0"/>
              <a:t>?</a:t>
            </a:r>
          </a:p>
        </p:txBody>
      </p:sp>
      <p:sp>
        <p:nvSpPr>
          <p:cNvPr id="3" name="Symbol zastępczy zawartości 2">
            <a:extLst>
              <a:ext uri="{FF2B5EF4-FFF2-40B4-BE49-F238E27FC236}">
                <a16:creationId xmlns:a16="http://schemas.microsoft.com/office/drawing/2014/main" id="{BEC51AD6-02AC-4497-95A5-554E9C94FCED}"/>
              </a:ext>
            </a:extLst>
          </p:cNvPr>
          <p:cNvSpPr>
            <a:spLocks noGrp="1"/>
          </p:cNvSpPr>
          <p:nvPr>
            <p:ph idx="1"/>
          </p:nvPr>
        </p:nvSpPr>
        <p:spPr>
          <a:xfrm>
            <a:off x="136863" y="609384"/>
            <a:ext cx="11839113" cy="5853560"/>
          </a:xfrm>
        </p:spPr>
        <p:txBody>
          <a:bodyPr/>
          <a:lstStyle/>
          <a:p>
            <a:r>
              <a:rPr lang="pl-PL" dirty="0" err="1"/>
              <a:t>Still</a:t>
            </a:r>
            <a:r>
              <a:rPr lang="pl-PL" dirty="0"/>
              <a:t> we </a:t>
            </a:r>
            <a:r>
              <a:rPr lang="pl-PL" dirty="0" err="1"/>
              <a:t>create</a:t>
            </a:r>
            <a:r>
              <a:rPr lang="pl-PL" dirty="0"/>
              <a:t> a </a:t>
            </a:r>
            <a:r>
              <a:rPr lang="pl-PL" dirty="0" err="1"/>
              <a:t>new</a:t>
            </a:r>
            <a:r>
              <a:rPr lang="pl-PL" dirty="0"/>
              <a:t> </a:t>
            </a:r>
            <a:r>
              <a:rPr lang="pl-PL" dirty="0" err="1"/>
              <a:t>axis</a:t>
            </a:r>
            <a:r>
              <a:rPr lang="pl-PL" dirty="0"/>
              <a:t> </a:t>
            </a:r>
            <a:r>
              <a:rPr lang="pl-PL" dirty="0" err="1"/>
              <a:t>that</a:t>
            </a:r>
            <a:r>
              <a:rPr lang="pl-PL" dirty="0"/>
              <a:t> </a:t>
            </a:r>
            <a:r>
              <a:rPr lang="pl-PL" dirty="0" err="1"/>
              <a:t>minimizes</a:t>
            </a:r>
            <a:r>
              <a:rPr lang="pl-PL" dirty="0"/>
              <a:t> the </a:t>
            </a:r>
            <a:r>
              <a:rPr lang="pl-PL" dirty="0" err="1"/>
              <a:t>distance</a:t>
            </a:r>
            <a:r>
              <a:rPr lang="pl-PL" dirty="0"/>
              <a:t> </a:t>
            </a:r>
            <a:r>
              <a:rPr lang="pl-PL" dirty="0" err="1"/>
              <a:t>between</a:t>
            </a:r>
            <a:r>
              <a:rPr lang="pl-PL" dirty="0"/>
              <a:t> the </a:t>
            </a:r>
            <a:r>
              <a:rPr lang="pl-PL" dirty="0" err="1"/>
              <a:t>means</a:t>
            </a:r>
            <a:r>
              <a:rPr lang="pl-PL" dirty="0"/>
              <a:t> for the </a:t>
            </a:r>
            <a:r>
              <a:rPr lang="pl-PL" dirty="0" err="1"/>
              <a:t>two</a:t>
            </a:r>
            <a:r>
              <a:rPr lang="pl-PL" dirty="0"/>
              <a:t> </a:t>
            </a:r>
            <a:r>
              <a:rPr lang="pl-PL" dirty="0" err="1"/>
              <a:t>categories</a:t>
            </a:r>
            <a:r>
              <a:rPr lang="pl-PL" dirty="0"/>
              <a:t> </a:t>
            </a:r>
            <a:r>
              <a:rPr lang="pl-PL" dirty="0" err="1"/>
              <a:t>while</a:t>
            </a:r>
            <a:r>
              <a:rPr lang="pl-PL" dirty="0"/>
              <a:t> </a:t>
            </a:r>
            <a:r>
              <a:rPr lang="pl-PL" dirty="0" err="1"/>
              <a:t>minimizing</a:t>
            </a:r>
            <a:r>
              <a:rPr lang="pl-PL" dirty="0"/>
              <a:t> the </a:t>
            </a:r>
            <a:r>
              <a:rPr lang="pl-PL" dirty="0" err="1"/>
              <a:t>scatter</a:t>
            </a:r>
            <a:endParaRPr lang="pl-PL" dirty="0"/>
          </a:p>
          <a:p>
            <a:endParaRPr lang="pl-PL" dirty="0"/>
          </a:p>
        </p:txBody>
      </p:sp>
      <p:sp>
        <p:nvSpPr>
          <p:cNvPr id="4" name="Symbol zastępczy numeru slajdu 3">
            <a:extLst>
              <a:ext uri="{FF2B5EF4-FFF2-40B4-BE49-F238E27FC236}">
                <a16:creationId xmlns:a16="http://schemas.microsoft.com/office/drawing/2014/main" id="{10250F2D-1C3A-4A11-AD83-490F52F19991}"/>
              </a:ext>
            </a:extLst>
          </p:cNvPr>
          <p:cNvSpPr>
            <a:spLocks noGrp="1"/>
          </p:cNvSpPr>
          <p:nvPr>
            <p:ph type="sldNum" sz="quarter" idx="12"/>
          </p:nvPr>
        </p:nvSpPr>
        <p:spPr/>
        <p:txBody>
          <a:bodyPr/>
          <a:lstStyle/>
          <a:p>
            <a:fld id="{A7544F9A-EF6A-47CB-A458-C95835DAEA60}" type="slidenum">
              <a:rPr lang="pl-PL" smtClean="0"/>
              <a:t>11</a:t>
            </a:fld>
            <a:endParaRPr lang="pl-PL"/>
          </a:p>
        </p:txBody>
      </p:sp>
      <p:pic>
        <p:nvPicPr>
          <p:cNvPr id="6" name="Obraz 5">
            <a:extLst>
              <a:ext uri="{FF2B5EF4-FFF2-40B4-BE49-F238E27FC236}">
                <a16:creationId xmlns:a16="http://schemas.microsoft.com/office/drawing/2014/main" id="{56D25D3E-DDBE-4C71-B932-CC180EAD3322}"/>
              </a:ext>
            </a:extLst>
          </p:cNvPr>
          <p:cNvPicPr>
            <a:picLocks noChangeAspect="1"/>
          </p:cNvPicPr>
          <p:nvPr/>
        </p:nvPicPr>
        <p:blipFill>
          <a:blip r:embed="rId2"/>
          <a:stretch>
            <a:fillRect/>
          </a:stretch>
        </p:blipFill>
        <p:spPr>
          <a:xfrm>
            <a:off x="2663162" y="1701461"/>
            <a:ext cx="5300108" cy="4332736"/>
          </a:xfrm>
          <a:prstGeom prst="rect">
            <a:avLst/>
          </a:prstGeom>
        </p:spPr>
      </p:pic>
    </p:spTree>
    <p:extLst>
      <p:ext uri="{BB962C8B-B14F-4D97-AF65-F5344CB8AC3E}">
        <p14:creationId xmlns:p14="http://schemas.microsoft.com/office/powerpoint/2010/main" val="265702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0183BC3-1243-44E9-B704-F31642A9ADFE}"/>
              </a:ext>
            </a:extLst>
          </p:cNvPr>
          <p:cNvSpPr>
            <a:spLocks noGrp="1"/>
          </p:cNvSpPr>
          <p:nvPr>
            <p:ph type="title"/>
          </p:nvPr>
        </p:nvSpPr>
        <p:spPr/>
        <p:txBody>
          <a:bodyPr/>
          <a:lstStyle/>
          <a:p>
            <a:r>
              <a:rPr lang="pl-PL" dirty="0" err="1"/>
              <a:t>What</a:t>
            </a:r>
            <a:r>
              <a:rPr lang="pl-PL" dirty="0"/>
              <a:t> </a:t>
            </a:r>
            <a:r>
              <a:rPr lang="pl-PL" dirty="0" err="1"/>
              <a:t>if</a:t>
            </a:r>
            <a:r>
              <a:rPr lang="pl-PL" dirty="0"/>
              <a:t> we </a:t>
            </a:r>
            <a:r>
              <a:rPr lang="pl-PL" dirty="0" err="1"/>
              <a:t>have</a:t>
            </a:r>
            <a:r>
              <a:rPr lang="pl-PL" dirty="0"/>
              <a:t> </a:t>
            </a:r>
            <a:r>
              <a:rPr lang="pl-PL" dirty="0" err="1"/>
              <a:t>more</a:t>
            </a:r>
            <a:r>
              <a:rPr lang="pl-PL" dirty="0"/>
              <a:t> </a:t>
            </a:r>
            <a:r>
              <a:rPr lang="pl-PL" dirty="0" err="1"/>
              <a:t>than</a:t>
            </a:r>
            <a:r>
              <a:rPr lang="pl-PL" dirty="0"/>
              <a:t> 2 </a:t>
            </a:r>
            <a:r>
              <a:rPr lang="pl-PL" dirty="0" err="1"/>
              <a:t>dimensions</a:t>
            </a:r>
            <a:r>
              <a:rPr lang="pl-PL" dirty="0"/>
              <a:t>?</a:t>
            </a:r>
          </a:p>
        </p:txBody>
      </p:sp>
      <p:sp>
        <p:nvSpPr>
          <p:cNvPr id="3" name="Symbol zastępczy zawartości 2">
            <a:extLst>
              <a:ext uri="{FF2B5EF4-FFF2-40B4-BE49-F238E27FC236}">
                <a16:creationId xmlns:a16="http://schemas.microsoft.com/office/drawing/2014/main" id="{A5874DBE-C213-45DC-99B9-B93140121F04}"/>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44404709-39A9-48F6-9B9E-62D7AAD308B0}"/>
              </a:ext>
            </a:extLst>
          </p:cNvPr>
          <p:cNvSpPr>
            <a:spLocks noGrp="1"/>
          </p:cNvSpPr>
          <p:nvPr>
            <p:ph type="sldNum" sz="quarter" idx="12"/>
          </p:nvPr>
        </p:nvSpPr>
        <p:spPr/>
        <p:txBody>
          <a:bodyPr/>
          <a:lstStyle/>
          <a:p>
            <a:fld id="{A7544F9A-EF6A-47CB-A458-C95835DAEA60}" type="slidenum">
              <a:rPr lang="pl-PL" smtClean="0"/>
              <a:t>12</a:t>
            </a:fld>
            <a:endParaRPr lang="pl-PL"/>
          </a:p>
        </p:txBody>
      </p:sp>
      <p:pic>
        <p:nvPicPr>
          <p:cNvPr id="6" name="Obraz 5">
            <a:extLst>
              <a:ext uri="{FF2B5EF4-FFF2-40B4-BE49-F238E27FC236}">
                <a16:creationId xmlns:a16="http://schemas.microsoft.com/office/drawing/2014/main" id="{03DDBA17-7C02-474A-9EC2-7BC3BBF9B021}"/>
              </a:ext>
            </a:extLst>
          </p:cNvPr>
          <p:cNvPicPr>
            <a:picLocks noChangeAspect="1"/>
          </p:cNvPicPr>
          <p:nvPr/>
        </p:nvPicPr>
        <p:blipFill rotWithShape="1">
          <a:blip r:embed="rId2"/>
          <a:srcRect l="12821" t="31951" r="43674" b="32171"/>
          <a:stretch/>
        </p:blipFill>
        <p:spPr>
          <a:xfrm>
            <a:off x="601092" y="1570324"/>
            <a:ext cx="10989816" cy="4861939"/>
          </a:xfrm>
          <a:prstGeom prst="rect">
            <a:avLst/>
          </a:prstGeom>
        </p:spPr>
      </p:pic>
    </p:spTree>
    <p:extLst>
      <p:ext uri="{BB962C8B-B14F-4D97-AF65-F5344CB8AC3E}">
        <p14:creationId xmlns:p14="http://schemas.microsoft.com/office/powerpoint/2010/main" val="69229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A996280-835D-4F65-A941-D3CBF16D660F}"/>
              </a:ext>
            </a:extLst>
          </p:cNvPr>
          <p:cNvSpPr>
            <a:spLocks noGrp="1"/>
          </p:cNvSpPr>
          <p:nvPr>
            <p:ph type="title"/>
          </p:nvPr>
        </p:nvSpPr>
        <p:spPr>
          <a:xfrm>
            <a:off x="838200" y="0"/>
            <a:ext cx="10515600" cy="513764"/>
          </a:xfrm>
        </p:spPr>
        <p:txBody>
          <a:bodyPr>
            <a:normAutofit fontScale="90000"/>
          </a:bodyPr>
          <a:lstStyle/>
          <a:p>
            <a:pPr algn="ctr"/>
            <a:r>
              <a:rPr lang="pl-PL" dirty="0" err="1"/>
              <a:t>What</a:t>
            </a:r>
            <a:r>
              <a:rPr lang="pl-PL" dirty="0"/>
              <a:t> </a:t>
            </a:r>
            <a:r>
              <a:rPr lang="pl-PL" dirty="0" err="1"/>
              <a:t>if</a:t>
            </a:r>
            <a:r>
              <a:rPr lang="pl-PL" dirty="0"/>
              <a:t> we </a:t>
            </a:r>
            <a:r>
              <a:rPr lang="pl-PL" dirty="0" err="1"/>
              <a:t>have</a:t>
            </a:r>
            <a:r>
              <a:rPr lang="pl-PL" dirty="0"/>
              <a:t> 3 </a:t>
            </a:r>
            <a:r>
              <a:rPr lang="pl-PL" dirty="0" err="1"/>
              <a:t>categories</a:t>
            </a:r>
            <a:r>
              <a:rPr lang="pl-PL" dirty="0"/>
              <a:t>?</a:t>
            </a:r>
          </a:p>
        </p:txBody>
      </p:sp>
      <p:sp>
        <p:nvSpPr>
          <p:cNvPr id="3" name="Symbol zastępczy zawartości 2">
            <a:extLst>
              <a:ext uri="{FF2B5EF4-FFF2-40B4-BE49-F238E27FC236}">
                <a16:creationId xmlns:a16="http://schemas.microsoft.com/office/drawing/2014/main" id="{54427975-BA6E-4156-91CF-0CD02B72375E}"/>
              </a:ext>
            </a:extLst>
          </p:cNvPr>
          <p:cNvSpPr>
            <a:spLocks noGrp="1"/>
          </p:cNvSpPr>
          <p:nvPr>
            <p:ph idx="1"/>
          </p:nvPr>
        </p:nvSpPr>
        <p:spPr>
          <a:xfrm>
            <a:off x="0" y="760305"/>
            <a:ext cx="12192000" cy="4351338"/>
          </a:xfrm>
        </p:spPr>
        <p:txBody>
          <a:bodyPr/>
          <a:lstStyle/>
          <a:p>
            <a:r>
              <a:rPr lang="pl-PL" dirty="0"/>
              <a:t>We </a:t>
            </a:r>
            <a:r>
              <a:rPr lang="pl-PL" dirty="0" err="1"/>
              <a:t>measure</a:t>
            </a:r>
            <a:r>
              <a:rPr lang="pl-PL" dirty="0"/>
              <a:t> </a:t>
            </a:r>
            <a:r>
              <a:rPr lang="pl-PL" dirty="0" err="1"/>
              <a:t>differently</a:t>
            </a:r>
            <a:r>
              <a:rPr lang="pl-PL" dirty="0"/>
              <a:t> </a:t>
            </a:r>
            <a:r>
              <a:rPr lang="pl-PL" dirty="0" err="1"/>
              <a:t>distances</a:t>
            </a:r>
            <a:r>
              <a:rPr lang="pl-PL" dirty="0"/>
              <a:t> </a:t>
            </a:r>
            <a:r>
              <a:rPr lang="pl-PL" dirty="0" err="1"/>
              <a:t>between</a:t>
            </a:r>
            <a:r>
              <a:rPr lang="pl-PL" dirty="0"/>
              <a:t> </a:t>
            </a:r>
            <a:r>
              <a:rPr lang="pl-PL" dirty="0" err="1"/>
              <a:t>among</a:t>
            </a:r>
            <a:r>
              <a:rPr lang="pl-PL" dirty="0"/>
              <a:t> the </a:t>
            </a:r>
            <a:r>
              <a:rPr lang="pl-PL" dirty="0" err="1"/>
              <a:t>classes</a:t>
            </a:r>
            <a:r>
              <a:rPr lang="pl-PL" dirty="0"/>
              <a:t>’ </a:t>
            </a:r>
            <a:r>
              <a:rPr lang="pl-PL" dirty="0" err="1"/>
              <a:t>means</a:t>
            </a:r>
            <a:endParaRPr lang="pl-PL" dirty="0"/>
          </a:p>
          <a:p>
            <a:r>
              <a:rPr lang="pl-PL" dirty="0"/>
              <a:t>We </a:t>
            </a:r>
            <a:r>
              <a:rPr lang="pl-PL" dirty="0" err="1"/>
              <a:t>firstly</a:t>
            </a:r>
            <a:r>
              <a:rPr lang="pl-PL" dirty="0"/>
              <a:t> </a:t>
            </a:r>
            <a:r>
              <a:rPr lang="pl-PL" dirty="0" err="1"/>
              <a:t>find</a:t>
            </a:r>
            <a:r>
              <a:rPr lang="pl-PL" dirty="0"/>
              <a:t> the central point for </a:t>
            </a:r>
            <a:r>
              <a:rPr lang="pl-PL" dirty="0" err="1"/>
              <a:t>all</a:t>
            </a:r>
            <a:r>
              <a:rPr lang="pl-PL" dirty="0"/>
              <a:t> the data (</a:t>
            </a:r>
            <a:r>
              <a:rPr lang="pl-PL" dirty="0" err="1"/>
              <a:t>average</a:t>
            </a:r>
            <a:r>
              <a:rPr lang="pl-PL" dirty="0"/>
              <a:t> of </a:t>
            </a:r>
            <a:r>
              <a:rPr lang="pl-PL" dirty="0" err="1"/>
              <a:t>coordinates</a:t>
            </a:r>
            <a:r>
              <a:rPr lang="pl-PL" dirty="0"/>
              <a:t> of </a:t>
            </a:r>
            <a:r>
              <a:rPr lang="pl-PL" dirty="0" err="1"/>
              <a:t>all</a:t>
            </a:r>
            <a:r>
              <a:rPr lang="pl-PL" dirty="0"/>
              <a:t> the </a:t>
            </a:r>
            <a:r>
              <a:rPr lang="pl-PL" dirty="0" err="1"/>
              <a:t>points</a:t>
            </a:r>
            <a:r>
              <a:rPr lang="pl-PL" dirty="0"/>
              <a:t> from </a:t>
            </a:r>
            <a:r>
              <a:rPr lang="pl-PL" dirty="0" err="1"/>
              <a:t>all</a:t>
            </a:r>
            <a:r>
              <a:rPr lang="pl-PL" dirty="0"/>
              <a:t> </a:t>
            </a:r>
            <a:r>
              <a:rPr lang="pl-PL" dirty="0" err="1"/>
              <a:t>classes</a:t>
            </a:r>
            <a:r>
              <a:rPr lang="pl-PL" dirty="0"/>
              <a:t>)</a:t>
            </a:r>
          </a:p>
          <a:p>
            <a:r>
              <a:rPr lang="pl-PL" dirty="0"/>
              <a:t>Then we </a:t>
            </a:r>
            <a:r>
              <a:rPr lang="pl-PL" dirty="0" err="1"/>
              <a:t>measure</a:t>
            </a:r>
            <a:r>
              <a:rPr lang="pl-PL" dirty="0"/>
              <a:t> </a:t>
            </a:r>
            <a:r>
              <a:rPr lang="pl-PL" dirty="0" err="1"/>
              <a:t>distances</a:t>
            </a:r>
            <a:r>
              <a:rPr lang="pl-PL" dirty="0"/>
              <a:t> </a:t>
            </a:r>
            <a:r>
              <a:rPr lang="pl-PL" dirty="0" err="1"/>
              <a:t>between</a:t>
            </a:r>
            <a:r>
              <a:rPr lang="pl-PL" dirty="0"/>
              <a:t> the point </a:t>
            </a:r>
            <a:r>
              <a:rPr lang="pl-PL" dirty="0" err="1"/>
              <a:t>that</a:t>
            </a:r>
            <a:r>
              <a:rPr lang="pl-PL" dirty="0"/>
              <a:t> </a:t>
            </a:r>
            <a:r>
              <a:rPr lang="pl-PL" dirty="0" err="1"/>
              <a:t>is</a:t>
            </a:r>
            <a:r>
              <a:rPr lang="pl-PL" dirty="0"/>
              <a:t> central to </a:t>
            </a:r>
            <a:r>
              <a:rPr lang="pl-PL" dirty="0" err="1"/>
              <a:t>each</a:t>
            </a:r>
            <a:r>
              <a:rPr lang="pl-PL" dirty="0"/>
              <a:t> </a:t>
            </a:r>
            <a:r>
              <a:rPr lang="pl-PL" dirty="0" err="1"/>
              <a:t>cathegory</a:t>
            </a:r>
            <a:r>
              <a:rPr lang="pl-PL" dirty="0"/>
              <a:t> to the </a:t>
            </a:r>
            <a:r>
              <a:rPr lang="pl-PL" dirty="0" err="1"/>
              <a:t>main</a:t>
            </a:r>
            <a:r>
              <a:rPr lang="pl-PL" dirty="0"/>
              <a:t> central point</a:t>
            </a:r>
          </a:p>
        </p:txBody>
      </p:sp>
      <p:sp>
        <p:nvSpPr>
          <p:cNvPr id="4" name="Symbol zastępczy numeru slajdu 3">
            <a:extLst>
              <a:ext uri="{FF2B5EF4-FFF2-40B4-BE49-F238E27FC236}">
                <a16:creationId xmlns:a16="http://schemas.microsoft.com/office/drawing/2014/main" id="{0DDE7B32-CFE4-41CB-983E-83A35618D40C}"/>
              </a:ext>
            </a:extLst>
          </p:cNvPr>
          <p:cNvSpPr>
            <a:spLocks noGrp="1"/>
          </p:cNvSpPr>
          <p:nvPr>
            <p:ph type="sldNum" sz="quarter" idx="12"/>
          </p:nvPr>
        </p:nvSpPr>
        <p:spPr/>
        <p:txBody>
          <a:bodyPr/>
          <a:lstStyle/>
          <a:p>
            <a:fld id="{A7544F9A-EF6A-47CB-A458-C95835DAEA60}" type="slidenum">
              <a:rPr lang="pl-PL" smtClean="0"/>
              <a:t>13</a:t>
            </a:fld>
            <a:endParaRPr lang="pl-PL"/>
          </a:p>
        </p:txBody>
      </p:sp>
      <p:pic>
        <p:nvPicPr>
          <p:cNvPr id="6" name="Obraz 5">
            <a:extLst>
              <a:ext uri="{FF2B5EF4-FFF2-40B4-BE49-F238E27FC236}">
                <a16:creationId xmlns:a16="http://schemas.microsoft.com/office/drawing/2014/main" id="{8FCF4137-4493-4E7A-B3A3-AFA96D706632}"/>
              </a:ext>
            </a:extLst>
          </p:cNvPr>
          <p:cNvPicPr>
            <a:picLocks noChangeAspect="1"/>
          </p:cNvPicPr>
          <p:nvPr/>
        </p:nvPicPr>
        <p:blipFill>
          <a:blip r:embed="rId2"/>
          <a:stretch>
            <a:fillRect/>
          </a:stretch>
        </p:blipFill>
        <p:spPr>
          <a:xfrm>
            <a:off x="3581401" y="3461976"/>
            <a:ext cx="4131306" cy="3204554"/>
          </a:xfrm>
          <a:prstGeom prst="rect">
            <a:avLst/>
          </a:prstGeom>
        </p:spPr>
      </p:pic>
    </p:spTree>
    <p:extLst>
      <p:ext uri="{BB962C8B-B14F-4D97-AF65-F5344CB8AC3E}">
        <p14:creationId xmlns:p14="http://schemas.microsoft.com/office/powerpoint/2010/main" val="390146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E889DF6-76ED-4181-9513-A06A7C0D24B8}"/>
              </a:ext>
            </a:extLst>
          </p:cNvPr>
          <p:cNvSpPr>
            <a:spLocks noGrp="1"/>
          </p:cNvSpPr>
          <p:nvPr>
            <p:ph type="title"/>
          </p:nvPr>
        </p:nvSpPr>
        <p:spPr/>
        <p:txBody>
          <a:bodyPr/>
          <a:lstStyle/>
          <a:p>
            <a:pPr algn="ctr"/>
            <a:r>
              <a:rPr lang="pl-PL" dirty="0" err="1"/>
              <a:t>What</a:t>
            </a:r>
            <a:r>
              <a:rPr lang="pl-PL" dirty="0"/>
              <a:t> </a:t>
            </a:r>
            <a:r>
              <a:rPr lang="pl-PL" dirty="0" err="1"/>
              <a:t>if</a:t>
            </a:r>
            <a:r>
              <a:rPr lang="pl-PL" dirty="0"/>
              <a:t> </a:t>
            </a:r>
            <a:r>
              <a:rPr lang="pl-PL" dirty="0" err="1"/>
              <a:t>there</a:t>
            </a:r>
            <a:r>
              <a:rPr lang="pl-PL" dirty="0"/>
              <a:t> </a:t>
            </a:r>
            <a:r>
              <a:rPr lang="pl-PL" dirty="0" err="1"/>
              <a:t>are</a:t>
            </a:r>
            <a:r>
              <a:rPr lang="pl-PL" dirty="0"/>
              <a:t> 3 </a:t>
            </a:r>
            <a:r>
              <a:rPr lang="pl-PL" dirty="0" err="1"/>
              <a:t>cathegories</a:t>
            </a:r>
            <a:r>
              <a:rPr lang="pl-PL" dirty="0"/>
              <a:t>?</a:t>
            </a:r>
          </a:p>
        </p:txBody>
      </p:sp>
      <p:sp>
        <p:nvSpPr>
          <p:cNvPr id="3" name="Symbol zastępczy zawartości 2">
            <a:extLst>
              <a:ext uri="{FF2B5EF4-FFF2-40B4-BE49-F238E27FC236}">
                <a16:creationId xmlns:a16="http://schemas.microsoft.com/office/drawing/2014/main" id="{F08E738D-3150-472C-AA3F-075EAB0C87C5}"/>
              </a:ext>
            </a:extLst>
          </p:cNvPr>
          <p:cNvSpPr>
            <a:spLocks noGrp="1"/>
          </p:cNvSpPr>
          <p:nvPr>
            <p:ph idx="1"/>
          </p:nvPr>
        </p:nvSpPr>
        <p:spPr/>
        <p:txBody>
          <a:bodyPr/>
          <a:lstStyle/>
          <a:p>
            <a:endParaRPr lang="pl-PL" dirty="0"/>
          </a:p>
        </p:txBody>
      </p:sp>
      <p:sp>
        <p:nvSpPr>
          <p:cNvPr id="4" name="Symbol zastępczy numeru slajdu 3">
            <a:extLst>
              <a:ext uri="{FF2B5EF4-FFF2-40B4-BE49-F238E27FC236}">
                <a16:creationId xmlns:a16="http://schemas.microsoft.com/office/drawing/2014/main" id="{F165ADBA-5B59-4067-B785-9F78C37FEAB7}"/>
              </a:ext>
            </a:extLst>
          </p:cNvPr>
          <p:cNvSpPr>
            <a:spLocks noGrp="1"/>
          </p:cNvSpPr>
          <p:nvPr>
            <p:ph type="sldNum" sz="quarter" idx="12"/>
          </p:nvPr>
        </p:nvSpPr>
        <p:spPr/>
        <p:txBody>
          <a:bodyPr/>
          <a:lstStyle/>
          <a:p>
            <a:fld id="{A7544F9A-EF6A-47CB-A458-C95835DAEA60}" type="slidenum">
              <a:rPr lang="pl-PL" smtClean="0"/>
              <a:t>14</a:t>
            </a:fld>
            <a:endParaRPr lang="pl-PL"/>
          </a:p>
        </p:txBody>
      </p:sp>
      <p:pic>
        <p:nvPicPr>
          <p:cNvPr id="6" name="Obraz 5">
            <a:extLst>
              <a:ext uri="{FF2B5EF4-FFF2-40B4-BE49-F238E27FC236}">
                <a16:creationId xmlns:a16="http://schemas.microsoft.com/office/drawing/2014/main" id="{594C1292-6960-4770-9D17-8D24464E9DFF}"/>
              </a:ext>
            </a:extLst>
          </p:cNvPr>
          <p:cNvPicPr>
            <a:picLocks noChangeAspect="1"/>
          </p:cNvPicPr>
          <p:nvPr/>
        </p:nvPicPr>
        <p:blipFill>
          <a:blip r:embed="rId2"/>
          <a:stretch>
            <a:fillRect/>
          </a:stretch>
        </p:blipFill>
        <p:spPr>
          <a:xfrm>
            <a:off x="373647" y="1646238"/>
            <a:ext cx="5334695" cy="2915332"/>
          </a:xfrm>
          <a:prstGeom prst="rect">
            <a:avLst/>
          </a:prstGeom>
        </p:spPr>
      </p:pic>
      <p:pic>
        <p:nvPicPr>
          <p:cNvPr id="7" name="Obraz 6">
            <a:extLst>
              <a:ext uri="{FF2B5EF4-FFF2-40B4-BE49-F238E27FC236}">
                <a16:creationId xmlns:a16="http://schemas.microsoft.com/office/drawing/2014/main" id="{B8BECA00-3606-4C2C-99A6-0F9DB298AB19}"/>
              </a:ext>
            </a:extLst>
          </p:cNvPr>
          <p:cNvPicPr>
            <a:picLocks noChangeAspect="1"/>
          </p:cNvPicPr>
          <p:nvPr/>
        </p:nvPicPr>
        <p:blipFill rotWithShape="1">
          <a:blip r:embed="rId3"/>
          <a:srcRect l="21772" t="39922" r="41602" b="22743"/>
          <a:stretch/>
        </p:blipFill>
        <p:spPr>
          <a:xfrm>
            <a:off x="5269627" y="2645546"/>
            <a:ext cx="6457775" cy="3531417"/>
          </a:xfrm>
          <a:prstGeom prst="rect">
            <a:avLst/>
          </a:prstGeom>
        </p:spPr>
      </p:pic>
    </p:spTree>
    <p:extLst>
      <p:ext uri="{BB962C8B-B14F-4D97-AF65-F5344CB8AC3E}">
        <p14:creationId xmlns:p14="http://schemas.microsoft.com/office/powerpoint/2010/main" val="3591609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CA7A51-A9AD-4FDC-9995-AE6E6D2ECAA4}"/>
              </a:ext>
            </a:extLst>
          </p:cNvPr>
          <p:cNvSpPr>
            <a:spLocks noGrp="1"/>
          </p:cNvSpPr>
          <p:nvPr>
            <p:ph type="title"/>
          </p:nvPr>
        </p:nvSpPr>
        <p:spPr/>
        <p:txBody>
          <a:bodyPr/>
          <a:lstStyle/>
          <a:p>
            <a:pPr algn="ctr"/>
            <a:r>
              <a:rPr lang="pl-PL" dirty="0" err="1"/>
              <a:t>What</a:t>
            </a:r>
            <a:r>
              <a:rPr lang="pl-PL" dirty="0"/>
              <a:t> </a:t>
            </a:r>
            <a:r>
              <a:rPr lang="pl-PL" dirty="0" err="1"/>
              <a:t>if</a:t>
            </a:r>
            <a:r>
              <a:rPr lang="pl-PL" dirty="0"/>
              <a:t> we </a:t>
            </a:r>
            <a:r>
              <a:rPr lang="pl-PL" dirty="0" err="1"/>
              <a:t>have</a:t>
            </a:r>
            <a:r>
              <a:rPr lang="pl-PL" dirty="0"/>
              <a:t> 3 </a:t>
            </a:r>
            <a:r>
              <a:rPr lang="pl-PL" dirty="0" err="1"/>
              <a:t>cathegories</a:t>
            </a:r>
            <a:r>
              <a:rPr lang="pl-PL" dirty="0"/>
              <a:t>?</a:t>
            </a:r>
          </a:p>
        </p:txBody>
      </p:sp>
      <p:sp>
        <p:nvSpPr>
          <p:cNvPr id="3" name="Symbol zastępczy zawartości 2">
            <a:extLst>
              <a:ext uri="{FF2B5EF4-FFF2-40B4-BE49-F238E27FC236}">
                <a16:creationId xmlns:a16="http://schemas.microsoft.com/office/drawing/2014/main" id="{F40AB639-B43C-45B0-87A0-A1825914F11D}"/>
              </a:ext>
            </a:extLst>
          </p:cNvPr>
          <p:cNvSpPr>
            <a:spLocks noGrp="1"/>
          </p:cNvSpPr>
          <p:nvPr>
            <p:ph idx="1"/>
          </p:nvPr>
        </p:nvSpPr>
        <p:spPr/>
        <p:txBody>
          <a:bodyPr/>
          <a:lstStyle/>
          <a:p>
            <a:r>
              <a:rPr lang="pl-PL" dirty="0"/>
              <a:t>To </a:t>
            </a:r>
            <a:r>
              <a:rPr lang="pl-PL" dirty="0" err="1"/>
              <a:t>separate</a:t>
            </a:r>
            <a:r>
              <a:rPr lang="pl-PL" dirty="0"/>
              <a:t> 3 </a:t>
            </a:r>
            <a:r>
              <a:rPr lang="pl-PL" dirty="0" err="1"/>
              <a:t>types</a:t>
            </a:r>
            <a:r>
              <a:rPr lang="pl-PL" dirty="0"/>
              <a:t> of </a:t>
            </a:r>
            <a:r>
              <a:rPr lang="pl-PL" dirty="0" err="1"/>
              <a:t>points</a:t>
            </a:r>
            <a:r>
              <a:rPr lang="pl-PL" dirty="0"/>
              <a:t> we </a:t>
            </a:r>
            <a:r>
              <a:rPr lang="pl-PL" dirty="0" err="1"/>
              <a:t>need</a:t>
            </a:r>
            <a:r>
              <a:rPr lang="pl-PL" dirty="0"/>
              <a:t> 2 </a:t>
            </a:r>
            <a:r>
              <a:rPr lang="pl-PL" dirty="0" err="1"/>
              <a:t>axes</a:t>
            </a:r>
            <a:endParaRPr lang="pl-PL" dirty="0"/>
          </a:p>
          <a:p>
            <a:r>
              <a:rPr lang="pl-PL" dirty="0" err="1"/>
              <a:t>This</a:t>
            </a:r>
            <a:r>
              <a:rPr lang="pl-PL" dirty="0"/>
              <a:t> </a:t>
            </a:r>
            <a:r>
              <a:rPr lang="pl-PL" dirty="0" err="1"/>
              <a:t>is</a:t>
            </a:r>
            <a:r>
              <a:rPr lang="pl-PL" dirty="0"/>
              <a:t> </a:t>
            </a:r>
            <a:r>
              <a:rPr lang="pl-PL" dirty="0" err="1"/>
              <a:t>because</a:t>
            </a:r>
            <a:r>
              <a:rPr lang="pl-PL" dirty="0"/>
              <a:t> 3 central </a:t>
            </a:r>
            <a:r>
              <a:rPr lang="pl-PL" dirty="0" err="1"/>
              <a:t>points</a:t>
            </a:r>
            <a:r>
              <a:rPr lang="pl-PL" dirty="0"/>
              <a:t> for </a:t>
            </a:r>
            <a:r>
              <a:rPr lang="pl-PL" dirty="0" err="1"/>
              <a:t>each</a:t>
            </a:r>
            <a:r>
              <a:rPr lang="pl-PL" dirty="0"/>
              <a:t> </a:t>
            </a:r>
            <a:r>
              <a:rPr lang="pl-PL" dirty="0" err="1"/>
              <a:t>cathegory</a:t>
            </a:r>
            <a:r>
              <a:rPr lang="pl-PL" dirty="0"/>
              <a:t> </a:t>
            </a:r>
            <a:r>
              <a:rPr lang="pl-PL" dirty="0" err="1"/>
              <a:t>define</a:t>
            </a:r>
            <a:r>
              <a:rPr lang="pl-PL" dirty="0"/>
              <a:t> a </a:t>
            </a:r>
            <a:r>
              <a:rPr lang="pl-PL" dirty="0" err="1"/>
              <a:t>plane</a:t>
            </a:r>
            <a:endParaRPr lang="pl-PL" dirty="0"/>
          </a:p>
        </p:txBody>
      </p:sp>
      <p:sp>
        <p:nvSpPr>
          <p:cNvPr id="4" name="Symbol zastępczy numeru slajdu 3">
            <a:extLst>
              <a:ext uri="{FF2B5EF4-FFF2-40B4-BE49-F238E27FC236}">
                <a16:creationId xmlns:a16="http://schemas.microsoft.com/office/drawing/2014/main" id="{5AD8F386-1086-410F-82CD-34BF47E5D069}"/>
              </a:ext>
            </a:extLst>
          </p:cNvPr>
          <p:cNvSpPr>
            <a:spLocks noGrp="1"/>
          </p:cNvSpPr>
          <p:nvPr>
            <p:ph type="sldNum" sz="quarter" idx="12"/>
          </p:nvPr>
        </p:nvSpPr>
        <p:spPr/>
        <p:txBody>
          <a:bodyPr/>
          <a:lstStyle/>
          <a:p>
            <a:fld id="{A7544F9A-EF6A-47CB-A458-C95835DAEA60}" type="slidenum">
              <a:rPr lang="pl-PL" smtClean="0"/>
              <a:t>15</a:t>
            </a:fld>
            <a:endParaRPr lang="pl-PL"/>
          </a:p>
        </p:txBody>
      </p:sp>
      <p:pic>
        <p:nvPicPr>
          <p:cNvPr id="6" name="Obraz 5">
            <a:extLst>
              <a:ext uri="{FF2B5EF4-FFF2-40B4-BE49-F238E27FC236}">
                <a16:creationId xmlns:a16="http://schemas.microsoft.com/office/drawing/2014/main" id="{305A9E06-A4CE-4FE1-AF41-D293225FA333}"/>
              </a:ext>
            </a:extLst>
          </p:cNvPr>
          <p:cNvPicPr>
            <a:picLocks noChangeAspect="1"/>
          </p:cNvPicPr>
          <p:nvPr/>
        </p:nvPicPr>
        <p:blipFill>
          <a:blip r:embed="rId2"/>
          <a:stretch>
            <a:fillRect/>
          </a:stretch>
        </p:blipFill>
        <p:spPr>
          <a:xfrm>
            <a:off x="2978596" y="3067188"/>
            <a:ext cx="5133975" cy="3724275"/>
          </a:xfrm>
          <a:prstGeom prst="rect">
            <a:avLst/>
          </a:prstGeom>
        </p:spPr>
      </p:pic>
    </p:spTree>
    <p:extLst>
      <p:ext uri="{BB962C8B-B14F-4D97-AF65-F5344CB8AC3E}">
        <p14:creationId xmlns:p14="http://schemas.microsoft.com/office/powerpoint/2010/main" val="841768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D5222CA-8604-4FD6-8E75-3A01AEE9690C}"/>
              </a:ext>
            </a:extLst>
          </p:cNvPr>
          <p:cNvSpPr>
            <a:spLocks noGrp="1"/>
          </p:cNvSpPr>
          <p:nvPr>
            <p:ph type="title"/>
          </p:nvPr>
        </p:nvSpPr>
        <p:spPr/>
        <p:txBody>
          <a:bodyPr/>
          <a:lstStyle/>
          <a:p>
            <a:pPr algn="ctr"/>
            <a:r>
              <a:rPr lang="pl-PL" b="1" dirty="0" err="1"/>
              <a:t>Linear</a:t>
            </a:r>
            <a:r>
              <a:rPr lang="pl-PL" b="1" dirty="0"/>
              <a:t> </a:t>
            </a:r>
            <a:r>
              <a:rPr lang="pl-PL" b="1" dirty="0" err="1"/>
              <a:t>discriminant</a:t>
            </a:r>
            <a:r>
              <a:rPr lang="pl-PL" b="1" dirty="0"/>
              <a:t> </a:t>
            </a:r>
            <a:r>
              <a:rPr lang="pl-PL" b="1" dirty="0" err="1"/>
              <a:t>analysis</a:t>
            </a:r>
            <a:r>
              <a:rPr lang="pl-PL" b="1" dirty="0"/>
              <a:t> </a:t>
            </a:r>
            <a:r>
              <a:rPr lang="pl-PL" b="1" dirty="0" err="1"/>
              <a:t>algorithm</a:t>
            </a:r>
            <a:endParaRPr lang="pl-PL" b="1" dirty="0"/>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F799DF11-3D5C-4B90-A1D8-322F05079187}"/>
                  </a:ext>
                </a:extLst>
              </p:cNvPr>
              <p:cNvSpPr>
                <a:spLocks noGrp="1"/>
              </p:cNvSpPr>
              <p:nvPr>
                <p:ph idx="1"/>
              </p:nvPr>
            </p:nvSpPr>
            <p:spPr/>
            <p:txBody>
              <a:bodyPr/>
              <a:lstStyle/>
              <a:p>
                <a:r>
                  <a:rPr lang="en-US" dirty="0"/>
                  <a:t>(</a:t>
                </a:r>
                <a:r>
                  <a:rPr lang="en-US" dirty="0" err="1"/>
                  <a:t>i</a:t>
                </a:r>
                <a:r>
                  <a:rPr lang="en-US" dirty="0"/>
                  <a:t>) Calculate the separability between different classes. This is also known as between-class variance and is defined as the distance between the mean of different classes.</a:t>
                </a:r>
                <a:endParaRPr lang="pl-PL" dirty="0"/>
              </a:p>
              <a:p>
                <a:pPr marL="0" indent="0">
                  <a:buNone/>
                </a:pPr>
                <a14:m>
                  <m:oMathPara xmlns:m="http://schemas.openxmlformats.org/officeDocument/2006/math">
                    <m:oMathParaPr>
                      <m:jc m:val="center"/>
                    </m:oMathParaPr>
                    <m:oMath xmlns:m="http://schemas.openxmlformats.org/officeDocument/2006/math">
                      <m:r>
                        <a:rPr lang="pl-PL" b="0" i="1" smtClean="0">
                          <a:latin typeface="Cambria Math" panose="02040503050406030204" pitchFamily="18" charset="0"/>
                        </a:rPr>
                        <m:t>𝑆</m:t>
                      </m:r>
                      <m:d>
                        <m:dPr>
                          <m:ctrlPr>
                            <a:rPr lang="pl-PL" b="0" i="1" smtClean="0">
                              <a:latin typeface="Cambria Math" panose="02040503050406030204" pitchFamily="18" charset="0"/>
                            </a:rPr>
                          </m:ctrlPr>
                        </m:dPr>
                        <m:e>
                          <m:r>
                            <a:rPr lang="pl-PL" b="0" i="1" smtClean="0">
                              <a:latin typeface="Cambria Math" panose="02040503050406030204" pitchFamily="18" charset="0"/>
                            </a:rPr>
                            <m:t>𝐵</m:t>
                          </m:r>
                        </m:e>
                      </m:d>
                      <m:r>
                        <a:rPr lang="pl-PL" b="0" i="1" smtClean="0">
                          <a:latin typeface="Cambria Math" panose="02040503050406030204" pitchFamily="18" charset="0"/>
                        </a:rPr>
                        <m:t>=</m:t>
                      </m:r>
                      <m:f>
                        <m:fPr>
                          <m:ctrlPr>
                            <a:rPr lang="pl-PL" b="0" i="1" smtClean="0">
                              <a:latin typeface="Cambria Math" panose="02040503050406030204" pitchFamily="18" charset="0"/>
                            </a:rPr>
                          </m:ctrlPr>
                        </m:fPr>
                        <m:num>
                          <m:sSub>
                            <m:sSubPr>
                              <m:ctrlPr>
                                <a:rPr lang="pl-PL" b="0" i="1" smtClean="0">
                                  <a:latin typeface="Cambria Math" panose="02040503050406030204" pitchFamily="18" charset="0"/>
                                </a:rPr>
                              </m:ctrlPr>
                            </m:sSubPr>
                            <m:e>
                              <m:r>
                                <a:rPr lang="pl-PL" b="0" i="1" smtClean="0">
                                  <a:latin typeface="Cambria Math" panose="02040503050406030204" pitchFamily="18" charset="0"/>
                                </a:rPr>
                                <m:t>𝑛</m:t>
                              </m:r>
                            </m:e>
                            <m:sub>
                              <m:r>
                                <a:rPr lang="pl-PL" b="0" i="1" smtClean="0">
                                  <a:latin typeface="Cambria Math" panose="02040503050406030204" pitchFamily="18" charset="0"/>
                                </a:rPr>
                                <m:t>1</m:t>
                              </m:r>
                            </m:sub>
                          </m:sSub>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d>
                                <m:dPr>
                                  <m:ctrlPr>
                                    <a:rPr lang="pl-PL" b="0" i="1" smtClean="0">
                                      <a:latin typeface="Cambria Math" panose="02040503050406030204" pitchFamily="18" charset="0"/>
                                    </a:rPr>
                                  </m:ctrlPr>
                                </m:dPr>
                                <m:e>
                                  <m:sSub>
                                    <m:sSubPr>
                                      <m:ctrlPr>
                                        <a:rPr lang="pl-PL" b="0" i="1" smtClean="0">
                                          <a:latin typeface="Cambria Math" panose="02040503050406030204" pitchFamily="18" charset="0"/>
                                        </a:rPr>
                                      </m:ctrlPr>
                                    </m:sSubPr>
                                    <m:e>
                                      <m:acc>
                                        <m:accPr>
                                          <m:chr m:val="̅"/>
                                          <m:ctrlPr>
                                            <a:rPr lang="pl-PL" i="1">
                                              <a:latin typeface="Cambria Math" panose="02040503050406030204" pitchFamily="18" charset="0"/>
                                            </a:rPr>
                                          </m:ctrlPr>
                                        </m:accPr>
                                        <m:e>
                                          <m:r>
                                            <a:rPr lang="pl-PL" i="1">
                                              <a:latin typeface="Cambria Math" panose="02040503050406030204" pitchFamily="18" charset="0"/>
                                            </a:rPr>
                                            <m:t>𝑥</m:t>
                                          </m:r>
                                        </m:e>
                                      </m:acc>
                                    </m:e>
                                    <m:sub>
                                      <m:r>
                                        <a:rPr lang="pl-PL" b="0" i="1" smtClean="0">
                                          <a:latin typeface="Cambria Math" panose="02040503050406030204" pitchFamily="18" charset="0"/>
                                        </a:rPr>
                                        <m:t>1</m:t>
                                      </m:r>
                                    </m:sub>
                                  </m:sSub>
                                  <m:r>
                                    <a:rPr lang="pl-PL" b="0" i="1" smtClean="0">
                                      <a:latin typeface="Cambria Math" panose="02040503050406030204" pitchFamily="18" charset="0"/>
                                    </a:rPr>
                                    <m:t>−</m:t>
                                  </m:r>
                                  <m:acc>
                                    <m:accPr>
                                      <m:chr m:val="̅"/>
                                      <m:ctrlPr>
                                        <a:rPr lang="pl-PL" i="1">
                                          <a:latin typeface="Cambria Math" panose="02040503050406030204" pitchFamily="18" charset="0"/>
                                        </a:rPr>
                                      </m:ctrlPr>
                                    </m:accPr>
                                    <m:e>
                                      <m:r>
                                        <a:rPr lang="pl-PL" b="0" i="1" smtClean="0">
                                          <a:latin typeface="Cambria Math" panose="02040503050406030204" pitchFamily="18" charset="0"/>
                                        </a:rPr>
                                        <m:t>𝑥</m:t>
                                      </m:r>
                                    </m:e>
                                  </m:acc>
                                </m:e>
                              </m:d>
                            </m:e>
                            <m:sup>
                              <m:r>
                                <a:rPr lang="pl-PL" b="0" i="1" smtClean="0">
                                  <a:latin typeface="Cambria Math" panose="02040503050406030204" pitchFamily="18" charset="0"/>
                                </a:rPr>
                                <m:t>2</m:t>
                              </m:r>
                            </m:sup>
                          </m:sSup>
                          <m:r>
                            <a:rPr lang="pl-PL" b="0" i="1" smtClean="0">
                              <a:latin typeface="Cambria Math" panose="02040503050406030204" pitchFamily="18" charset="0"/>
                            </a:rPr>
                            <m:t>+…+</m:t>
                          </m:r>
                          <m:sSub>
                            <m:sSubPr>
                              <m:ctrlPr>
                                <a:rPr lang="pl-PL" i="1">
                                  <a:latin typeface="Cambria Math" panose="02040503050406030204" pitchFamily="18" charset="0"/>
                                </a:rPr>
                              </m:ctrlPr>
                            </m:sSubPr>
                            <m:e>
                              <m:r>
                                <a:rPr lang="pl-PL" i="1">
                                  <a:latin typeface="Cambria Math" panose="02040503050406030204" pitchFamily="18" charset="0"/>
                                </a:rPr>
                                <m:t>𝑛</m:t>
                              </m:r>
                            </m:e>
                            <m:sub>
                              <m:r>
                                <a:rPr lang="pl-PL" b="0" i="1" smtClean="0">
                                  <a:latin typeface="Cambria Math" panose="02040503050406030204" pitchFamily="18" charset="0"/>
                                </a:rPr>
                                <m:t>𝑔</m:t>
                              </m:r>
                            </m:sub>
                          </m:sSub>
                          <m:r>
                            <a:rPr lang="pl-PL" i="1">
                              <a:latin typeface="Cambria Math" panose="02040503050406030204" pitchFamily="18" charset="0"/>
                            </a:rPr>
                            <m:t>∗</m:t>
                          </m:r>
                          <m:sSup>
                            <m:sSupPr>
                              <m:ctrlPr>
                                <a:rPr lang="pl-PL" i="1">
                                  <a:latin typeface="Cambria Math" panose="02040503050406030204" pitchFamily="18" charset="0"/>
                                </a:rPr>
                              </m:ctrlPr>
                            </m:sSupPr>
                            <m:e>
                              <m:d>
                                <m:dPr>
                                  <m:ctrlPr>
                                    <a:rPr lang="pl-PL" i="1">
                                      <a:latin typeface="Cambria Math" panose="02040503050406030204" pitchFamily="18" charset="0"/>
                                    </a:rPr>
                                  </m:ctrlPr>
                                </m:dPr>
                                <m:e>
                                  <m:sSub>
                                    <m:sSubPr>
                                      <m:ctrlPr>
                                        <a:rPr lang="pl-PL" i="1">
                                          <a:latin typeface="Cambria Math" panose="02040503050406030204" pitchFamily="18" charset="0"/>
                                        </a:rPr>
                                      </m:ctrlPr>
                                    </m:sSubPr>
                                    <m:e>
                                      <m:acc>
                                        <m:accPr>
                                          <m:chr m:val="̅"/>
                                          <m:ctrlPr>
                                            <a:rPr lang="pl-PL" i="1">
                                              <a:latin typeface="Cambria Math" panose="02040503050406030204" pitchFamily="18" charset="0"/>
                                            </a:rPr>
                                          </m:ctrlPr>
                                        </m:accPr>
                                        <m:e>
                                          <m:r>
                                            <a:rPr lang="pl-PL" i="1">
                                              <a:latin typeface="Cambria Math" panose="02040503050406030204" pitchFamily="18" charset="0"/>
                                            </a:rPr>
                                            <m:t>𝑥</m:t>
                                          </m:r>
                                        </m:e>
                                      </m:acc>
                                    </m:e>
                                    <m:sub>
                                      <m:r>
                                        <a:rPr lang="pl-PL" b="0" i="1" smtClean="0">
                                          <a:latin typeface="Cambria Math" panose="02040503050406030204" pitchFamily="18" charset="0"/>
                                        </a:rPr>
                                        <m:t>𝑘</m:t>
                                      </m:r>
                                    </m:sub>
                                  </m:sSub>
                                  <m:r>
                                    <a:rPr lang="pl-PL" i="1">
                                      <a:latin typeface="Cambria Math" panose="02040503050406030204" pitchFamily="18" charset="0"/>
                                    </a:rPr>
                                    <m:t>−</m:t>
                                  </m:r>
                                  <m:acc>
                                    <m:accPr>
                                      <m:chr m:val="̅"/>
                                      <m:ctrlPr>
                                        <a:rPr lang="pl-PL" i="1">
                                          <a:latin typeface="Cambria Math" panose="02040503050406030204" pitchFamily="18" charset="0"/>
                                        </a:rPr>
                                      </m:ctrlPr>
                                    </m:accPr>
                                    <m:e>
                                      <m:r>
                                        <a:rPr lang="pl-PL" i="1">
                                          <a:latin typeface="Cambria Math" panose="02040503050406030204" pitchFamily="18" charset="0"/>
                                        </a:rPr>
                                        <m:t>𝑥</m:t>
                                      </m:r>
                                    </m:e>
                                  </m:acc>
                                </m:e>
                              </m:d>
                            </m:e>
                            <m:sup>
                              <m:r>
                                <a:rPr lang="pl-PL" i="1">
                                  <a:latin typeface="Cambria Math" panose="02040503050406030204" pitchFamily="18" charset="0"/>
                                </a:rPr>
                                <m:t>2</m:t>
                              </m:r>
                            </m:sup>
                          </m:sSup>
                        </m:num>
                        <m:den>
                          <m:r>
                            <a:rPr lang="pl-PL" b="0" i="1" smtClean="0">
                              <a:latin typeface="Cambria Math" panose="02040503050406030204" pitchFamily="18" charset="0"/>
                            </a:rPr>
                            <m:t>𝑘</m:t>
                          </m:r>
                          <m:r>
                            <a:rPr lang="pl-PL" b="0" i="1" smtClean="0">
                              <a:latin typeface="Cambria Math" panose="02040503050406030204" pitchFamily="18" charset="0"/>
                            </a:rPr>
                            <m:t>−1</m:t>
                          </m:r>
                        </m:den>
                      </m:f>
                    </m:oMath>
                  </m:oMathPara>
                </a14:m>
                <a:endParaRPr lang="pl-PL" dirty="0"/>
              </a:p>
              <a:p>
                <a:endParaRPr lang="pl-PL" dirty="0"/>
              </a:p>
              <a:p>
                <a:r>
                  <a:rPr lang="pl-PL" dirty="0" err="1"/>
                  <a:t>Where</a:t>
                </a:r>
                <a:r>
                  <a:rPr lang="pl-PL" dirty="0"/>
                  <a:t>: k – the </a:t>
                </a:r>
                <a:r>
                  <a:rPr lang="pl-PL" dirty="0" err="1"/>
                  <a:t>number</a:t>
                </a:r>
                <a:r>
                  <a:rPr lang="pl-PL" dirty="0"/>
                  <a:t> of </a:t>
                </a:r>
                <a:r>
                  <a:rPr lang="pl-PL" dirty="0" err="1"/>
                  <a:t>groups</a:t>
                </a:r>
                <a:r>
                  <a:rPr lang="pl-PL" dirty="0"/>
                  <a:t>, n(i) – the numer of </a:t>
                </a:r>
                <a:r>
                  <a:rPr lang="pl-PL" dirty="0" err="1"/>
                  <a:t>observations</a:t>
                </a:r>
                <a:r>
                  <a:rPr lang="pl-PL" dirty="0"/>
                  <a:t> in a </a:t>
                </a:r>
                <a:r>
                  <a:rPr lang="pl-PL" dirty="0" err="1"/>
                  <a:t>group</a:t>
                </a:r>
                <a:r>
                  <a:rPr lang="pl-PL" dirty="0"/>
                  <a:t> i, x – element of a </a:t>
                </a:r>
                <a:r>
                  <a:rPr lang="pl-PL" dirty="0" err="1"/>
                  <a:t>group</a:t>
                </a:r>
                <a:r>
                  <a:rPr lang="pl-PL" dirty="0"/>
                  <a:t>, </a:t>
                </a:r>
                <a14:m>
                  <m:oMath xmlns:m="http://schemas.openxmlformats.org/officeDocument/2006/math">
                    <m:sSub>
                      <m:sSubPr>
                        <m:ctrlPr>
                          <a:rPr lang="pl-PL" b="0" i="1" smtClean="0">
                            <a:latin typeface="Cambria Math" panose="02040503050406030204" pitchFamily="18" charset="0"/>
                          </a:rPr>
                        </m:ctrlPr>
                      </m:sSubPr>
                      <m:e>
                        <m:acc>
                          <m:accPr>
                            <m:chr m:val="̅"/>
                            <m:ctrlPr>
                              <a:rPr lang="pl-PL" i="1">
                                <a:latin typeface="Cambria Math" panose="02040503050406030204" pitchFamily="18" charset="0"/>
                              </a:rPr>
                            </m:ctrlPr>
                          </m:accPr>
                          <m:e>
                            <m:r>
                              <a:rPr lang="pl-PL" i="1">
                                <a:latin typeface="Cambria Math" panose="02040503050406030204" pitchFamily="18" charset="0"/>
                              </a:rPr>
                              <m:t>𝑥</m:t>
                            </m:r>
                          </m:e>
                        </m:acc>
                      </m:e>
                      <m:sub>
                        <m:r>
                          <a:rPr lang="pl-PL" b="0" i="1" smtClean="0">
                            <a:latin typeface="Cambria Math" panose="02040503050406030204" pitchFamily="18" charset="0"/>
                          </a:rPr>
                          <m:t>𝑖</m:t>
                        </m:r>
                      </m:sub>
                    </m:sSub>
                    <m:r>
                      <a:rPr lang="pl-PL" b="0" i="1" smtClean="0">
                        <a:latin typeface="Cambria Math" panose="02040503050406030204" pitchFamily="18" charset="0"/>
                      </a:rPr>
                      <m:t>−</m:t>
                    </m:r>
                    <m:r>
                      <a:rPr lang="pl-PL" b="0" i="1" smtClean="0">
                        <a:latin typeface="Cambria Math" panose="02040503050406030204" pitchFamily="18" charset="0"/>
                      </a:rPr>
                      <m:t>𝑎𝑟𝑖𝑡h𝑚𝑒𝑡𝑖𝑐</m:t>
                    </m:r>
                    <m:r>
                      <a:rPr lang="pl-PL" b="0" i="1" smtClean="0">
                        <a:latin typeface="Cambria Math" panose="02040503050406030204" pitchFamily="18" charset="0"/>
                      </a:rPr>
                      <m:t> </m:t>
                    </m:r>
                    <m:r>
                      <a:rPr lang="pl-PL" b="0" i="1" smtClean="0">
                        <a:latin typeface="Cambria Math" panose="02040503050406030204" pitchFamily="18" charset="0"/>
                      </a:rPr>
                      <m:t>𝑎𝑣𝑒𝑟𝑎𝑔𝑒</m:t>
                    </m:r>
                    <m:r>
                      <a:rPr lang="pl-PL" b="0" i="1" smtClean="0">
                        <a:latin typeface="Cambria Math" panose="02040503050406030204" pitchFamily="18" charset="0"/>
                      </a:rPr>
                      <m:t> </m:t>
                    </m:r>
                    <m:r>
                      <a:rPr lang="pl-PL" b="0" i="1" smtClean="0">
                        <a:latin typeface="Cambria Math" panose="02040503050406030204" pitchFamily="18" charset="0"/>
                      </a:rPr>
                      <m:t>𝑖𝑛</m:t>
                    </m:r>
                    <m:r>
                      <a:rPr lang="pl-PL" b="0" i="1" smtClean="0">
                        <a:latin typeface="Cambria Math" panose="02040503050406030204" pitchFamily="18" charset="0"/>
                      </a:rPr>
                      <m:t> </m:t>
                    </m:r>
                    <m:r>
                      <a:rPr lang="pl-PL" b="0" i="1" smtClean="0">
                        <a:latin typeface="Cambria Math" panose="02040503050406030204" pitchFamily="18" charset="0"/>
                      </a:rPr>
                      <m:t>𝑎</m:t>
                    </m:r>
                    <m:r>
                      <a:rPr lang="pl-PL" b="0" i="1" smtClean="0">
                        <a:latin typeface="Cambria Math" panose="02040503050406030204" pitchFamily="18" charset="0"/>
                      </a:rPr>
                      <m:t> </m:t>
                    </m:r>
                    <m:r>
                      <a:rPr lang="pl-PL" b="0" i="1" smtClean="0">
                        <a:latin typeface="Cambria Math" panose="02040503050406030204" pitchFamily="18" charset="0"/>
                      </a:rPr>
                      <m:t>𝑔𝑟𝑜𝑢𝑝</m:t>
                    </m:r>
                  </m:oMath>
                </a14:m>
                <a:r>
                  <a:rPr lang="pl-PL" dirty="0"/>
                  <a:t>, </a:t>
                </a:r>
                <a14:m>
                  <m:oMath xmlns:m="http://schemas.openxmlformats.org/officeDocument/2006/math">
                    <m:acc>
                      <m:accPr>
                        <m:chr m:val="̅"/>
                        <m:ctrlPr>
                          <a:rPr lang="pl-PL" i="1">
                            <a:latin typeface="Cambria Math" panose="02040503050406030204" pitchFamily="18" charset="0"/>
                          </a:rPr>
                        </m:ctrlPr>
                      </m:accPr>
                      <m:e>
                        <m:r>
                          <a:rPr lang="pl-PL" i="1">
                            <a:latin typeface="Cambria Math" panose="02040503050406030204" pitchFamily="18" charset="0"/>
                          </a:rPr>
                          <m:t>𝑥</m:t>
                        </m:r>
                      </m:e>
                    </m:acc>
                  </m:oMath>
                </a14:m>
                <a:r>
                  <a:rPr lang="pl-PL" dirty="0"/>
                  <a:t> - </a:t>
                </a:r>
                <a:r>
                  <a:rPr lang="pl-PL" dirty="0" err="1"/>
                  <a:t>overall</a:t>
                </a:r>
                <a:r>
                  <a:rPr lang="pl-PL" dirty="0"/>
                  <a:t> </a:t>
                </a:r>
                <a:r>
                  <a:rPr lang="pl-PL" dirty="0" err="1"/>
                  <a:t>arithmetic</a:t>
                </a:r>
                <a:r>
                  <a:rPr lang="pl-PL" dirty="0"/>
                  <a:t> </a:t>
                </a:r>
                <a:r>
                  <a:rPr lang="pl-PL" dirty="0" err="1"/>
                  <a:t>average</a:t>
                </a:r>
                <a:endParaRPr lang="pl-PL" dirty="0"/>
              </a:p>
              <a:p>
                <a:endParaRPr lang="pl-PL" dirty="0"/>
              </a:p>
            </p:txBody>
          </p:sp>
        </mc:Choice>
        <mc:Fallback xmlns="">
          <p:sp>
            <p:nvSpPr>
              <p:cNvPr id="3" name="Symbol zastępczy zawartości 2">
                <a:extLst>
                  <a:ext uri="{FF2B5EF4-FFF2-40B4-BE49-F238E27FC236}">
                    <a16:creationId xmlns:a16="http://schemas.microsoft.com/office/drawing/2014/main" id="{F799DF11-3D5C-4B90-A1D8-322F05079187}"/>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CC55244A-DB47-4A9D-8731-F6AB138EA720}"/>
              </a:ext>
            </a:extLst>
          </p:cNvPr>
          <p:cNvSpPr>
            <a:spLocks noGrp="1"/>
          </p:cNvSpPr>
          <p:nvPr>
            <p:ph type="sldNum" sz="quarter" idx="12"/>
          </p:nvPr>
        </p:nvSpPr>
        <p:spPr/>
        <p:txBody>
          <a:bodyPr/>
          <a:lstStyle/>
          <a:p>
            <a:fld id="{A7544F9A-EF6A-47CB-A458-C95835DAEA60}" type="slidenum">
              <a:rPr lang="pl-PL" smtClean="0"/>
              <a:t>16</a:t>
            </a:fld>
            <a:endParaRPr lang="pl-PL"/>
          </a:p>
        </p:txBody>
      </p:sp>
    </p:spTree>
    <p:extLst>
      <p:ext uri="{BB962C8B-B14F-4D97-AF65-F5344CB8AC3E}">
        <p14:creationId xmlns:p14="http://schemas.microsoft.com/office/powerpoint/2010/main" val="4139975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C4B325-942C-42F6-8C2D-25C44882B17B}"/>
              </a:ext>
            </a:extLst>
          </p:cNvPr>
          <p:cNvSpPr>
            <a:spLocks noGrp="1"/>
          </p:cNvSpPr>
          <p:nvPr>
            <p:ph type="title"/>
          </p:nvPr>
        </p:nvSpPr>
        <p:spPr/>
        <p:txBody>
          <a:bodyPr/>
          <a:lstStyle/>
          <a:p>
            <a:pPr algn="ctr"/>
            <a:r>
              <a:rPr lang="pl-PL" b="1" dirty="0" err="1"/>
              <a:t>Linear</a:t>
            </a:r>
            <a:r>
              <a:rPr lang="pl-PL" b="1" dirty="0"/>
              <a:t> </a:t>
            </a:r>
            <a:r>
              <a:rPr lang="pl-PL" b="1" dirty="0" err="1"/>
              <a:t>discriminant</a:t>
            </a:r>
            <a:r>
              <a:rPr lang="pl-PL" b="1" dirty="0"/>
              <a:t> </a:t>
            </a:r>
            <a:r>
              <a:rPr lang="pl-PL" b="1" dirty="0" err="1"/>
              <a:t>analysis</a:t>
            </a:r>
            <a:r>
              <a:rPr lang="pl-PL" b="1" dirty="0"/>
              <a:t> </a:t>
            </a:r>
            <a:r>
              <a:rPr lang="pl-PL" b="1" dirty="0" err="1"/>
              <a:t>algorithm</a:t>
            </a:r>
            <a:endParaRPr lang="pl-PL" dirty="0"/>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999F19D5-DFCD-4AB6-B0F7-59B37D84DB24}"/>
                  </a:ext>
                </a:extLst>
              </p:cNvPr>
              <p:cNvSpPr>
                <a:spLocks noGrp="1"/>
              </p:cNvSpPr>
              <p:nvPr>
                <p:ph idx="1"/>
              </p:nvPr>
            </p:nvSpPr>
            <p:spPr/>
            <p:txBody>
              <a:bodyPr>
                <a:normAutofit/>
              </a:bodyPr>
              <a:lstStyle/>
              <a:p>
                <a:pPr marL="0" indent="0">
                  <a:buNone/>
                </a:pPr>
                <a:r>
                  <a:rPr lang="en-US" b="0" dirty="0">
                    <a:effectLst/>
                  </a:rPr>
                  <a:t>(ii) Calculate the within-class variance. </a:t>
                </a:r>
                <a:r>
                  <a:rPr lang="pl-PL" dirty="0"/>
                  <a:t>I</a:t>
                </a:r>
                <a:r>
                  <a:rPr lang="en-US" b="0" dirty="0" err="1">
                    <a:effectLst/>
                  </a:rPr>
                  <a:t>ntra</a:t>
                </a:r>
                <a:r>
                  <a:rPr lang="en-US" b="0" dirty="0">
                    <a:effectLst/>
                  </a:rPr>
                  <a:t>-class variance is a weighted sum of the variances of each of the classes</a:t>
                </a:r>
                <a:endParaRPr lang="pl-PL" b="0" dirty="0">
                  <a:effectLst/>
                </a:endParaRPr>
              </a:p>
              <a:p>
                <a:pPr marL="0" indent="0">
                  <a:buNone/>
                </a:pPr>
                <a:endParaRPr lang="pl-PL" dirty="0"/>
              </a:p>
              <a:p>
                <a:pPr marL="0" indent="0">
                  <a:buNone/>
                </a:pPr>
                <a14:m>
                  <m:oMathPara xmlns:m="http://schemas.openxmlformats.org/officeDocument/2006/math">
                    <m:oMathParaPr>
                      <m:jc m:val="centerGroup"/>
                    </m:oMathParaPr>
                    <m:oMath xmlns:m="http://schemas.openxmlformats.org/officeDocument/2006/math">
                      <m:sSubSup>
                        <m:sSubSupPr>
                          <m:ctrlPr>
                            <a:rPr lang="pl-PL" b="0" i="1" smtClean="0">
                              <a:effectLst/>
                              <a:latin typeface="Cambria Math" panose="02040503050406030204" pitchFamily="18" charset="0"/>
                            </a:rPr>
                          </m:ctrlPr>
                        </m:sSubSupPr>
                        <m:e>
                          <m:r>
                            <a:rPr lang="pl-PL" b="0" i="1" smtClean="0">
                              <a:effectLst/>
                              <a:latin typeface="Cambria Math" panose="02040503050406030204" pitchFamily="18" charset="0"/>
                            </a:rPr>
                            <m:t>𝑆</m:t>
                          </m:r>
                        </m:e>
                        <m:sub>
                          <m:r>
                            <a:rPr lang="pl-PL" b="0" i="1" smtClean="0">
                              <a:effectLst/>
                              <a:latin typeface="Cambria Math" panose="02040503050406030204" pitchFamily="18" charset="0"/>
                            </a:rPr>
                            <m:t>𝑤</m:t>
                          </m:r>
                        </m:sub>
                        <m:sup>
                          <m:r>
                            <a:rPr lang="pl-PL" b="0" i="1" smtClean="0">
                              <a:effectLst/>
                              <a:latin typeface="Cambria Math" panose="02040503050406030204" pitchFamily="18" charset="0"/>
                            </a:rPr>
                            <m:t>2</m:t>
                          </m:r>
                        </m:sup>
                      </m:sSubSup>
                      <m:r>
                        <a:rPr lang="pl-PL" b="0" i="1" smtClean="0">
                          <a:effectLst/>
                          <a:latin typeface="Cambria Math" panose="02040503050406030204" pitchFamily="18" charset="0"/>
                        </a:rPr>
                        <m:t>=</m:t>
                      </m:r>
                      <m:f>
                        <m:fPr>
                          <m:ctrlPr>
                            <a:rPr lang="pl-PL" b="0" i="1" smtClean="0">
                              <a:effectLst/>
                              <a:latin typeface="Cambria Math" panose="02040503050406030204" pitchFamily="18" charset="0"/>
                            </a:rPr>
                          </m:ctrlPr>
                        </m:fPr>
                        <m:num>
                          <m:sSup>
                            <m:sSupPr>
                              <m:ctrlPr>
                                <a:rPr lang="pl-PL" b="0" i="1" smtClean="0">
                                  <a:effectLst/>
                                  <a:latin typeface="Cambria Math" panose="02040503050406030204" pitchFamily="18" charset="0"/>
                                </a:rPr>
                              </m:ctrlPr>
                            </m:sSupPr>
                            <m:e>
                              <m:d>
                                <m:dPr>
                                  <m:ctrlPr>
                                    <a:rPr lang="pl-PL" b="0" i="1" smtClean="0">
                                      <a:effectLst/>
                                      <a:latin typeface="Cambria Math" panose="02040503050406030204" pitchFamily="18" charset="0"/>
                                    </a:rPr>
                                  </m:ctrlPr>
                                </m:dPr>
                                <m:e>
                                  <m:sSub>
                                    <m:sSubPr>
                                      <m:ctrlPr>
                                        <a:rPr lang="pl-PL" b="0" i="1" smtClean="0">
                                          <a:effectLst/>
                                          <a:latin typeface="Cambria Math" panose="02040503050406030204" pitchFamily="18" charset="0"/>
                                        </a:rPr>
                                      </m:ctrlPr>
                                    </m:sSubPr>
                                    <m:e>
                                      <m:r>
                                        <a:rPr lang="pl-PL" b="0" i="1" smtClean="0">
                                          <a:effectLst/>
                                          <a:latin typeface="Cambria Math" panose="02040503050406030204" pitchFamily="18" charset="0"/>
                                        </a:rPr>
                                        <m:t>𝑛</m:t>
                                      </m:r>
                                    </m:e>
                                    <m:sub>
                                      <m:r>
                                        <a:rPr lang="pl-PL" b="0" i="1" smtClean="0">
                                          <a:effectLst/>
                                          <a:latin typeface="Cambria Math" panose="02040503050406030204" pitchFamily="18" charset="0"/>
                                        </a:rPr>
                                        <m:t>1</m:t>
                                      </m:r>
                                    </m:sub>
                                  </m:sSub>
                                  <m:r>
                                    <a:rPr lang="pl-PL" b="0" i="1" smtClean="0">
                                      <a:effectLst/>
                                      <a:latin typeface="Cambria Math" panose="02040503050406030204" pitchFamily="18" charset="0"/>
                                    </a:rPr>
                                    <m:t>−1</m:t>
                                  </m:r>
                                </m:e>
                              </m:d>
                              <m:sSub>
                                <m:sSubPr>
                                  <m:ctrlPr>
                                    <a:rPr lang="pl-PL" b="0" i="1" smtClean="0">
                                      <a:effectLst/>
                                      <a:latin typeface="Cambria Math" panose="02040503050406030204" pitchFamily="18" charset="0"/>
                                    </a:rPr>
                                  </m:ctrlPr>
                                </m:sSubPr>
                                <m:e>
                                  <m:r>
                                    <a:rPr lang="pl-PL" b="0" i="1" smtClean="0">
                                      <a:effectLst/>
                                      <a:latin typeface="Cambria Math" panose="02040503050406030204" pitchFamily="18" charset="0"/>
                                    </a:rPr>
                                    <m:t>𝑆</m:t>
                                  </m:r>
                                </m:e>
                                <m:sub>
                                  <m:r>
                                    <a:rPr lang="pl-PL" b="0" i="1" smtClean="0">
                                      <a:effectLst/>
                                      <a:latin typeface="Cambria Math" panose="02040503050406030204" pitchFamily="18" charset="0"/>
                                    </a:rPr>
                                    <m:t>1</m:t>
                                  </m:r>
                                </m:sub>
                              </m:sSub>
                            </m:e>
                            <m:sup>
                              <m:r>
                                <a:rPr lang="pl-PL" b="0" i="1" smtClean="0">
                                  <a:effectLst/>
                                  <a:latin typeface="Cambria Math" panose="02040503050406030204" pitchFamily="18" charset="0"/>
                                </a:rPr>
                                <m:t>2</m:t>
                              </m:r>
                            </m:sup>
                          </m:sSup>
                          <m:r>
                            <a:rPr lang="pl-PL" b="0" i="1" smtClean="0">
                              <a:effectLst/>
                              <a:latin typeface="Cambria Math" panose="02040503050406030204" pitchFamily="18" charset="0"/>
                            </a:rPr>
                            <m:t>+</m:t>
                          </m:r>
                          <m:d>
                            <m:dPr>
                              <m:ctrlPr>
                                <a:rPr lang="pl-PL" b="0" i="1" smtClean="0">
                                  <a:effectLst/>
                                  <a:latin typeface="Cambria Math" panose="02040503050406030204" pitchFamily="18" charset="0"/>
                                </a:rPr>
                              </m:ctrlPr>
                            </m:dPr>
                            <m:e>
                              <m:sSub>
                                <m:sSubPr>
                                  <m:ctrlPr>
                                    <a:rPr lang="pl-PL" b="0" i="1" smtClean="0">
                                      <a:effectLst/>
                                      <a:latin typeface="Cambria Math" panose="02040503050406030204" pitchFamily="18" charset="0"/>
                                    </a:rPr>
                                  </m:ctrlPr>
                                </m:sSubPr>
                                <m:e>
                                  <m:r>
                                    <a:rPr lang="pl-PL" b="0" i="1" smtClean="0">
                                      <a:effectLst/>
                                      <a:latin typeface="Cambria Math" panose="02040503050406030204" pitchFamily="18" charset="0"/>
                                    </a:rPr>
                                    <m:t>𝑛</m:t>
                                  </m:r>
                                </m:e>
                                <m:sub>
                                  <m:r>
                                    <a:rPr lang="pl-PL" b="0" i="1" smtClean="0">
                                      <a:effectLst/>
                                      <a:latin typeface="Cambria Math" panose="02040503050406030204" pitchFamily="18" charset="0"/>
                                    </a:rPr>
                                    <m:t>2</m:t>
                                  </m:r>
                                </m:sub>
                              </m:sSub>
                              <m:r>
                                <a:rPr lang="pl-PL" b="0" i="1" smtClean="0">
                                  <a:effectLst/>
                                  <a:latin typeface="Cambria Math" panose="02040503050406030204" pitchFamily="18" charset="0"/>
                                </a:rPr>
                                <m:t>−1</m:t>
                              </m:r>
                            </m:e>
                          </m:d>
                          <m:sSubSup>
                            <m:sSubSupPr>
                              <m:ctrlPr>
                                <a:rPr lang="pl-PL" b="0" i="1" smtClean="0">
                                  <a:effectLst/>
                                  <a:latin typeface="Cambria Math" panose="02040503050406030204" pitchFamily="18" charset="0"/>
                                </a:rPr>
                              </m:ctrlPr>
                            </m:sSubSupPr>
                            <m:e>
                              <m:r>
                                <a:rPr lang="pl-PL" b="0" i="1" smtClean="0">
                                  <a:effectLst/>
                                  <a:latin typeface="Cambria Math" panose="02040503050406030204" pitchFamily="18" charset="0"/>
                                </a:rPr>
                                <m:t>𝑆</m:t>
                              </m:r>
                            </m:e>
                            <m:sub>
                              <m:r>
                                <a:rPr lang="pl-PL" b="0" i="1" smtClean="0">
                                  <a:effectLst/>
                                  <a:latin typeface="Cambria Math" panose="02040503050406030204" pitchFamily="18" charset="0"/>
                                </a:rPr>
                                <m:t>2</m:t>
                              </m:r>
                            </m:sub>
                            <m:sup>
                              <m:r>
                                <a:rPr lang="pl-PL" b="0" i="1" smtClean="0">
                                  <a:effectLst/>
                                  <a:latin typeface="Cambria Math" panose="02040503050406030204" pitchFamily="18" charset="0"/>
                                </a:rPr>
                                <m:t>2</m:t>
                              </m:r>
                            </m:sup>
                          </m:sSubSup>
                          <m:r>
                            <a:rPr lang="pl-PL" b="0" i="1" smtClean="0">
                              <a:effectLst/>
                              <a:latin typeface="Cambria Math" panose="02040503050406030204" pitchFamily="18" charset="0"/>
                            </a:rPr>
                            <m:t>+</m:t>
                          </m:r>
                          <m:d>
                            <m:dPr>
                              <m:ctrlPr>
                                <a:rPr lang="pl-PL" i="1">
                                  <a:latin typeface="Cambria Math" panose="02040503050406030204" pitchFamily="18" charset="0"/>
                                </a:rPr>
                              </m:ctrlPr>
                            </m:dPr>
                            <m:e>
                              <m:sSub>
                                <m:sSubPr>
                                  <m:ctrlPr>
                                    <a:rPr lang="pl-PL" i="1">
                                      <a:latin typeface="Cambria Math" panose="02040503050406030204" pitchFamily="18" charset="0"/>
                                    </a:rPr>
                                  </m:ctrlPr>
                                </m:sSubPr>
                                <m:e>
                                  <m:r>
                                    <a:rPr lang="pl-PL" i="1">
                                      <a:latin typeface="Cambria Math" panose="02040503050406030204" pitchFamily="18" charset="0"/>
                                    </a:rPr>
                                    <m:t>𝑛</m:t>
                                  </m:r>
                                </m:e>
                                <m:sub>
                                  <m:r>
                                    <a:rPr lang="pl-PL" b="0" i="1" smtClean="0">
                                      <a:latin typeface="Cambria Math" panose="02040503050406030204" pitchFamily="18" charset="0"/>
                                    </a:rPr>
                                    <m:t>3</m:t>
                                  </m:r>
                                </m:sub>
                              </m:sSub>
                              <m:r>
                                <a:rPr lang="pl-PL" i="1">
                                  <a:latin typeface="Cambria Math" panose="02040503050406030204" pitchFamily="18" charset="0"/>
                                </a:rPr>
                                <m:t>−1</m:t>
                              </m:r>
                            </m:e>
                          </m:d>
                          <m:sSubSup>
                            <m:sSubSupPr>
                              <m:ctrlPr>
                                <a:rPr lang="pl-PL" i="1">
                                  <a:latin typeface="Cambria Math" panose="02040503050406030204" pitchFamily="18" charset="0"/>
                                </a:rPr>
                              </m:ctrlPr>
                            </m:sSubSupPr>
                            <m:e>
                              <m:r>
                                <a:rPr lang="pl-PL" i="1">
                                  <a:latin typeface="Cambria Math" panose="02040503050406030204" pitchFamily="18" charset="0"/>
                                </a:rPr>
                                <m:t>𝑆</m:t>
                              </m:r>
                            </m:e>
                            <m:sub>
                              <m:r>
                                <a:rPr lang="pl-PL" b="0" i="1" smtClean="0">
                                  <a:latin typeface="Cambria Math" panose="02040503050406030204" pitchFamily="18" charset="0"/>
                                </a:rPr>
                                <m:t>3</m:t>
                              </m:r>
                            </m:sub>
                            <m:sup>
                              <m:r>
                                <a:rPr lang="pl-PL" i="1">
                                  <a:latin typeface="Cambria Math" panose="02040503050406030204" pitchFamily="18" charset="0"/>
                                </a:rPr>
                                <m:t>2</m:t>
                              </m:r>
                            </m:sup>
                          </m:sSubSup>
                          <m:r>
                            <a:rPr lang="pl-PL" b="0" i="1" smtClean="0">
                              <a:effectLst/>
                              <a:latin typeface="Cambria Math" panose="02040503050406030204" pitchFamily="18" charset="0"/>
                            </a:rPr>
                            <m:t>+…</m:t>
                          </m:r>
                          <m:d>
                            <m:dPr>
                              <m:ctrlPr>
                                <a:rPr lang="pl-PL" i="1">
                                  <a:latin typeface="Cambria Math" panose="02040503050406030204" pitchFamily="18" charset="0"/>
                                </a:rPr>
                              </m:ctrlPr>
                            </m:dPr>
                            <m:e>
                              <m:sSub>
                                <m:sSubPr>
                                  <m:ctrlPr>
                                    <a:rPr lang="pl-PL" i="1">
                                      <a:latin typeface="Cambria Math" panose="02040503050406030204" pitchFamily="18" charset="0"/>
                                    </a:rPr>
                                  </m:ctrlPr>
                                </m:sSubPr>
                                <m:e>
                                  <m:r>
                                    <a:rPr lang="pl-PL" i="1">
                                      <a:latin typeface="Cambria Math" panose="02040503050406030204" pitchFamily="18" charset="0"/>
                                    </a:rPr>
                                    <m:t>𝑛</m:t>
                                  </m:r>
                                </m:e>
                                <m:sub>
                                  <m:r>
                                    <a:rPr lang="pl-PL" b="0" i="1" smtClean="0">
                                      <a:latin typeface="Cambria Math" panose="02040503050406030204" pitchFamily="18" charset="0"/>
                                    </a:rPr>
                                    <m:t>𝑘</m:t>
                                  </m:r>
                                </m:sub>
                              </m:sSub>
                              <m:r>
                                <a:rPr lang="pl-PL" i="1">
                                  <a:latin typeface="Cambria Math" panose="02040503050406030204" pitchFamily="18" charset="0"/>
                                </a:rPr>
                                <m:t>−1</m:t>
                              </m:r>
                            </m:e>
                          </m:d>
                          <m:sSubSup>
                            <m:sSubSupPr>
                              <m:ctrlPr>
                                <a:rPr lang="pl-PL" i="1">
                                  <a:latin typeface="Cambria Math" panose="02040503050406030204" pitchFamily="18" charset="0"/>
                                </a:rPr>
                              </m:ctrlPr>
                            </m:sSubSupPr>
                            <m:e>
                              <m:r>
                                <a:rPr lang="pl-PL" i="1">
                                  <a:latin typeface="Cambria Math" panose="02040503050406030204" pitchFamily="18" charset="0"/>
                                </a:rPr>
                                <m:t>𝑆</m:t>
                              </m:r>
                            </m:e>
                            <m:sub>
                              <m:r>
                                <a:rPr lang="pl-PL" b="0" i="1" smtClean="0">
                                  <a:latin typeface="Cambria Math" panose="02040503050406030204" pitchFamily="18" charset="0"/>
                                </a:rPr>
                                <m:t>𝑘</m:t>
                              </m:r>
                            </m:sub>
                            <m:sup>
                              <m:r>
                                <a:rPr lang="pl-PL" i="1">
                                  <a:latin typeface="Cambria Math" panose="02040503050406030204" pitchFamily="18" charset="0"/>
                                </a:rPr>
                                <m:t>2</m:t>
                              </m:r>
                            </m:sup>
                          </m:sSubSup>
                        </m:num>
                        <m:den>
                          <m:sSub>
                            <m:sSubPr>
                              <m:ctrlPr>
                                <a:rPr lang="pl-PL" b="0" i="1" smtClean="0">
                                  <a:effectLst/>
                                  <a:latin typeface="Cambria Math" panose="02040503050406030204" pitchFamily="18" charset="0"/>
                                </a:rPr>
                              </m:ctrlPr>
                            </m:sSubPr>
                            <m:e>
                              <m:r>
                                <a:rPr lang="pl-PL" b="0" i="1" smtClean="0">
                                  <a:effectLst/>
                                  <a:latin typeface="Cambria Math" panose="02040503050406030204" pitchFamily="18" charset="0"/>
                                </a:rPr>
                                <m:t>𝑛</m:t>
                              </m:r>
                            </m:e>
                            <m:sub>
                              <m:r>
                                <a:rPr lang="pl-PL" b="0" i="1" smtClean="0">
                                  <a:effectLst/>
                                  <a:latin typeface="Cambria Math" panose="02040503050406030204" pitchFamily="18" charset="0"/>
                                </a:rPr>
                                <m:t>1</m:t>
                              </m:r>
                            </m:sub>
                          </m:sSub>
                          <m:r>
                            <a:rPr lang="pl-PL" b="0" i="1" smtClean="0">
                              <a:effectLst/>
                              <a:latin typeface="Cambria Math" panose="02040503050406030204" pitchFamily="18" charset="0"/>
                            </a:rPr>
                            <m:t>+</m:t>
                          </m:r>
                          <m:sSub>
                            <m:sSubPr>
                              <m:ctrlPr>
                                <a:rPr lang="pl-PL" i="1">
                                  <a:latin typeface="Cambria Math" panose="02040503050406030204" pitchFamily="18" charset="0"/>
                                </a:rPr>
                              </m:ctrlPr>
                            </m:sSubPr>
                            <m:e>
                              <m:r>
                                <a:rPr lang="pl-PL" i="1">
                                  <a:latin typeface="Cambria Math" panose="02040503050406030204" pitchFamily="18" charset="0"/>
                                </a:rPr>
                                <m:t>𝑛</m:t>
                              </m:r>
                            </m:e>
                            <m:sub>
                              <m:r>
                                <a:rPr lang="pl-PL" b="0" i="1" smtClean="0">
                                  <a:latin typeface="Cambria Math" panose="02040503050406030204" pitchFamily="18" charset="0"/>
                                </a:rPr>
                                <m:t>2</m:t>
                              </m:r>
                            </m:sub>
                          </m:sSub>
                          <m:r>
                            <a:rPr lang="pl-PL" b="0" i="1" smtClean="0">
                              <a:latin typeface="Cambria Math" panose="02040503050406030204" pitchFamily="18" charset="0"/>
                            </a:rPr>
                            <m:t>+…</m:t>
                          </m:r>
                          <m:sSub>
                            <m:sSubPr>
                              <m:ctrlPr>
                                <a:rPr lang="pl-PL" i="1">
                                  <a:latin typeface="Cambria Math" panose="02040503050406030204" pitchFamily="18" charset="0"/>
                                </a:rPr>
                              </m:ctrlPr>
                            </m:sSubPr>
                            <m:e>
                              <m:r>
                                <a:rPr lang="pl-PL" i="1">
                                  <a:latin typeface="Cambria Math" panose="02040503050406030204" pitchFamily="18" charset="0"/>
                                </a:rPr>
                                <m:t>𝑛</m:t>
                              </m:r>
                            </m:e>
                            <m:sub>
                              <m:r>
                                <a:rPr lang="pl-PL" b="0" i="1" smtClean="0">
                                  <a:latin typeface="Cambria Math" panose="02040503050406030204" pitchFamily="18" charset="0"/>
                                </a:rPr>
                                <m:t>𝑘</m:t>
                              </m:r>
                            </m:sub>
                          </m:sSub>
                          <m:r>
                            <a:rPr lang="pl-PL" b="0" i="1" smtClean="0">
                              <a:latin typeface="Cambria Math" panose="02040503050406030204" pitchFamily="18" charset="0"/>
                            </a:rPr>
                            <m:t>−</m:t>
                          </m:r>
                          <m:r>
                            <a:rPr lang="pl-PL" b="0" i="1" smtClean="0">
                              <a:latin typeface="Cambria Math" panose="02040503050406030204" pitchFamily="18" charset="0"/>
                            </a:rPr>
                            <m:t>𝑘</m:t>
                          </m:r>
                        </m:den>
                      </m:f>
                    </m:oMath>
                  </m:oMathPara>
                </a14:m>
                <a:endParaRPr lang="pl-PL" b="0" dirty="0">
                  <a:effectLst/>
                </a:endParaRPr>
              </a:p>
              <a:p>
                <a:pPr marL="0" indent="0">
                  <a:buNone/>
                </a:pPr>
                <a:endParaRPr lang="pl-PL" dirty="0"/>
              </a:p>
              <a:p>
                <a:r>
                  <a:rPr lang="pl-PL" dirty="0" err="1"/>
                  <a:t>where</a:t>
                </a:r>
                <a:r>
                  <a:rPr lang="pl-PL" dirty="0"/>
                  <a:t>: k – </a:t>
                </a:r>
                <a:r>
                  <a:rPr lang="pl-PL" dirty="0" err="1"/>
                  <a:t>number</a:t>
                </a:r>
                <a:r>
                  <a:rPr lang="pl-PL" dirty="0"/>
                  <a:t> of </a:t>
                </a:r>
                <a:r>
                  <a:rPr lang="pl-PL" dirty="0" err="1"/>
                  <a:t>classes</a:t>
                </a:r>
                <a:r>
                  <a:rPr lang="pl-PL" dirty="0"/>
                  <a:t> (</a:t>
                </a:r>
                <a:r>
                  <a:rPr lang="pl-PL" dirty="0" err="1"/>
                  <a:t>groups</a:t>
                </a:r>
                <a:r>
                  <a:rPr lang="pl-PL" dirty="0"/>
                  <a:t>), n(i) – </a:t>
                </a:r>
                <a:r>
                  <a:rPr lang="pl-PL" dirty="0" err="1"/>
                  <a:t>number</a:t>
                </a:r>
                <a:r>
                  <a:rPr lang="pl-PL" dirty="0"/>
                  <a:t> of </a:t>
                </a:r>
                <a:r>
                  <a:rPr lang="pl-PL" dirty="0" err="1"/>
                  <a:t>elements</a:t>
                </a:r>
                <a:r>
                  <a:rPr lang="pl-PL" dirty="0"/>
                  <a:t> in a </a:t>
                </a:r>
                <a:r>
                  <a:rPr lang="pl-PL" dirty="0" err="1"/>
                  <a:t>class</a:t>
                </a:r>
                <a:r>
                  <a:rPr lang="pl-PL" dirty="0"/>
                  <a:t> (</a:t>
                </a:r>
                <a:r>
                  <a:rPr lang="pl-PL" dirty="0" err="1"/>
                  <a:t>group</a:t>
                </a:r>
                <a:r>
                  <a:rPr lang="pl-PL" dirty="0"/>
                  <a:t>), S(i)</a:t>
                </a:r>
                <a:r>
                  <a:rPr lang="pl-PL" baseline="30000" dirty="0"/>
                  <a:t>2</a:t>
                </a:r>
                <a:r>
                  <a:rPr lang="pl-PL" dirty="0"/>
                  <a:t> – </a:t>
                </a:r>
                <a:r>
                  <a:rPr lang="pl-PL" dirty="0" err="1"/>
                  <a:t>variance</a:t>
                </a:r>
                <a:r>
                  <a:rPr lang="pl-PL" dirty="0"/>
                  <a:t> of </a:t>
                </a:r>
                <a:r>
                  <a:rPr lang="pl-PL" dirty="0" err="1"/>
                  <a:t>elements</a:t>
                </a:r>
                <a:r>
                  <a:rPr lang="pl-PL" dirty="0"/>
                  <a:t> </a:t>
                </a:r>
                <a:r>
                  <a:rPr lang="pl-PL" dirty="0" err="1"/>
                  <a:t>that</a:t>
                </a:r>
                <a:r>
                  <a:rPr lang="pl-PL" dirty="0"/>
                  <a:t> </a:t>
                </a:r>
                <a:r>
                  <a:rPr lang="pl-PL" dirty="0" err="1"/>
                  <a:t>belong</a:t>
                </a:r>
                <a:r>
                  <a:rPr lang="pl-PL" dirty="0"/>
                  <a:t> to the </a:t>
                </a:r>
                <a:r>
                  <a:rPr lang="pl-PL" dirty="0" err="1"/>
                  <a:t>class</a:t>
                </a:r>
                <a:r>
                  <a:rPr lang="pl-PL" dirty="0"/>
                  <a:t> (</a:t>
                </a:r>
                <a:r>
                  <a:rPr lang="pl-PL" dirty="0" err="1"/>
                  <a:t>group</a:t>
                </a:r>
                <a:r>
                  <a:rPr lang="pl-PL" dirty="0"/>
                  <a:t>) „i”.</a:t>
                </a:r>
              </a:p>
            </p:txBody>
          </p:sp>
        </mc:Choice>
        <mc:Fallback xmlns="">
          <p:sp>
            <p:nvSpPr>
              <p:cNvPr id="3" name="Symbol zastępczy zawartości 2">
                <a:extLst>
                  <a:ext uri="{FF2B5EF4-FFF2-40B4-BE49-F238E27FC236}">
                    <a16:creationId xmlns:a16="http://schemas.microsoft.com/office/drawing/2014/main" id="{999F19D5-DFCD-4AB6-B0F7-59B37D84DB24}"/>
                  </a:ext>
                </a:extLst>
              </p:cNvPr>
              <p:cNvSpPr>
                <a:spLocks noGrp="1" noRot="1" noChangeAspect="1" noMove="1" noResize="1" noEditPoints="1" noAdjustHandles="1" noChangeArrowheads="1" noChangeShapeType="1" noTextEdit="1"/>
              </p:cNvSpPr>
              <p:nvPr>
                <p:ph idx="1"/>
              </p:nvPr>
            </p:nvSpPr>
            <p:spPr>
              <a:blipFill>
                <a:blip r:embed="rId2"/>
                <a:stretch>
                  <a:fillRect l="-1217" t="-2241" r="-1797"/>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2F7BE198-9FDE-4045-9DBE-05D322F19A6C}"/>
              </a:ext>
            </a:extLst>
          </p:cNvPr>
          <p:cNvSpPr>
            <a:spLocks noGrp="1"/>
          </p:cNvSpPr>
          <p:nvPr>
            <p:ph type="sldNum" sz="quarter" idx="12"/>
          </p:nvPr>
        </p:nvSpPr>
        <p:spPr/>
        <p:txBody>
          <a:bodyPr/>
          <a:lstStyle/>
          <a:p>
            <a:fld id="{A7544F9A-EF6A-47CB-A458-C95835DAEA60}" type="slidenum">
              <a:rPr lang="pl-PL" smtClean="0"/>
              <a:t>17</a:t>
            </a:fld>
            <a:endParaRPr lang="pl-PL"/>
          </a:p>
        </p:txBody>
      </p:sp>
    </p:spTree>
    <p:extLst>
      <p:ext uri="{BB962C8B-B14F-4D97-AF65-F5344CB8AC3E}">
        <p14:creationId xmlns:p14="http://schemas.microsoft.com/office/powerpoint/2010/main" val="819392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7AE1EC0-683A-454F-BD5C-941E25608719}"/>
              </a:ext>
            </a:extLst>
          </p:cNvPr>
          <p:cNvSpPr>
            <a:spLocks noGrp="1"/>
          </p:cNvSpPr>
          <p:nvPr>
            <p:ph type="title"/>
          </p:nvPr>
        </p:nvSpPr>
        <p:spPr/>
        <p:txBody>
          <a:bodyPr/>
          <a:lstStyle/>
          <a:p>
            <a:pPr algn="ctr"/>
            <a:r>
              <a:rPr lang="pl-PL" b="1" dirty="0" err="1"/>
              <a:t>Linear</a:t>
            </a:r>
            <a:r>
              <a:rPr lang="pl-PL" b="1" dirty="0"/>
              <a:t> </a:t>
            </a:r>
            <a:r>
              <a:rPr lang="pl-PL" b="1" dirty="0" err="1"/>
              <a:t>discriminant</a:t>
            </a:r>
            <a:r>
              <a:rPr lang="pl-PL" b="1" dirty="0"/>
              <a:t> </a:t>
            </a:r>
            <a:r>
              <a:rPr lang="pl-PL" b="1" dirty="0" err="1"/>
              <a:t>analysis</a:t>
            </a:r>
            <a:r>
              <a:rPr lang="pl-PL" b="1" dirty="0"/>
              <a:t> </a:t>
            </a:r>
            <a:r>
              <a:rPr lang="pl-PL" b="1" dirty="0" err="1"/>
              <a:t>algorithm</a:t>
            </a:r>
            <a:endParaRPr lang="pl-PL" dirty="0"/>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918F5213-0856-4B37-8153-EBEDA73D5FBB}"/>
                  </a:ext>
                </a:extLst>
              </p:cNvPr>
              <p:cNvSpPr>
                <a:spLocks noGrp="1"/>
              </p:cNvSpPr>
              <p:nvPr>
                <p:ph idx="1"/>
              </p:nvPr>
            </p:nvSpPr>
            <p:spPr/>
            <p:txBody>
              <a:bodyPr>
                <a:normAutofit/>
              </a:bodyPr>
              <a:lstStyle/>
              <a:p>
                <a:r>
                  <a:rPr lang="en-US" b="0" dirty="0">
                    <a:effectLst/>
                  </a:rPr>
                  <a:t>(iii) Construct the lower-dimensional space that maximizes Step1 (between-class variance) and minimizes Step 2</a:t>
                </a:r>
                <a:r>
                  <a:rPr lang="pl-PL" b="0" dirty="0">
                    <a:effectLst/>
                  </a:rPr>
                  <a:t> </a:t>
                </a:r>
                <a:r>
                  <a:rPr lang="en-US" b="0" dirty="0">
                    <a:effectLst/>
                  </a:rPr>
                  <a:t>(within-class variance). In the equation below P is the lower-dimensional space projection. This is also known as Fisher’s criterion.</a:t>
                </a:r>
                <a:endParaRPr lang="pl-PL" b="0" dirty="0">
                  <a:effectLst/>
                </a:endParaRPr>
              </a:p>
              <a:p>
                <a:pPr marL="0" indent="0">
                  <a:buNone/>
                </a:pPr>
                <a14:m>
                  <m:oMathPara xmlns:m="http://schemas.openxmlformats.org/officeDocument/2006/math">
                    <m:oMathParaPr>
                      <m:jc m:val="center"/>
                    </m:oMathParaPr>
                    <m:oMath xmlns:m="http://schemas.openxmlformats.org/officeDocument/2006/math">
                      <m:sSub>
                        <m:sSubPr>
                          <m:ctrlPr>
                            <a:rPr lang="pl-PL" b="0" i="1" smtClean="0">
                              <a:latin typeface="Cambria Math" panose="02040503050406030204" pitchFamily="18" charset="0"/>
                            </a:rPr>
                          </m:ctrlPr>
                        </m:sSubPr>
                        <m:e>
                          <m:r>
                            <a:rPr lang="pl-PL" b="0" i="1" smtClean="0">
                              <a:latin typeface="Cambria Math" panose="02040503050406030204" pitchFamily="18" charset="0"/>
                            </a:rPr>
                            <m:t>𝑃</m:t>
                          </m:r>
                        </m:e>
                        <m:sub>
                          <m:r>
                            <a:rPr lang="pl-PL" b="0" i="1" smtClean="0">
                              <a:latin typeface="Cambria Math" panose="02040503050406030204" pitchFamily="18" charset="0"/>
                            </a:rPr>
                            <m:t>𝑙𝑑𝑎</m:t>
                          </m:r>
                        </m:sub>
                      </m:sSub>
                      <m:r>
                        <a:rPr lang="pl-PL" b="0" i="1" smtClean="0">
                          <a:latin typeface="Cambria Math" panose="02040503050406030204" pitchFamily="18" charset="0"/>
                        </a:rPr>
                        <m:t>=</m:t>
                      </m:r>
                      <m:func>
                        <m:funcPr>
                          <m:ctrlPr>
                            <a:rPr lang="pl-PL" b="0" i="1" smtClean="0">
                              <a:latin typeface="Cambria Math" panose="02040503050406030204" pitchFamily="18" charset="0"/>
                            </a:rPr>
                          </m:ctrlPr>
                        </m:funcPr>
                        <m:fName>
                          <m:limLow>
                            <m:limLowPr>
                              <m:ctrlPr>
                                <a:rPr lang="pl-PL" b="0" i="1" smtClean="0">
                                  <a:latin typeface="Cambria Math" panose="02040503050406030204" pitchFamily="18" charset="0"/>
                                </a:rPr>
                              </m:ctrlPr>
                            </m:limLowPr>
                            <m:e>
                              <m:r>
                                <m:rPr>
                                  <m:sty m:val="p"/>
                                </m:rPr>
                                <a:rPr lang="pl-PL" b="0" i="0" smtClean="0">
                                  <a:latin typeface="Cambria Math" panose="02040503050406030204" pitchFamily="18" charset="0"/>
                                </a:rPr>
                                <m:t>argmax</m:t>
                              </m:r>
                            </m:e>
                            <m:lim>
                              <m:r>
                                <a:rPr lang="pl-PL" b="0" i="1" smtClean="0">
                                  <a:latin typeface="Cambria Math" panose="02040503050406030204" pitchFamily="18" charset="0"/>
                                </a:rPr>
                                <m:t>𝑃</m:t>
                              </m:r>
                            </m:lim>
                          </m:limLow>
                        </m:fName>
                        <m:e>
                          <m:f>
                            <m:fPr>
                              <m:ctrlPr>
                                <a:rPr lang="pl-PL" b="0" i="1" smtClean="0">
                                  <a:latin typeface="Cambria Math" panose="02040503050406030204" pitchFamily="18" charset="0"/>
                                </a:rPr>
                              </m:ctrlPr>
                            </m:fPr>
                            <m:num>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r>
                                    <a:rPr lang="pl-PL" b="0" i="1" smtClean="0">
                                      <a:latin typeface="Cambria Math" panose="02040503050406030204" pitchFamily="18" charset="0"/>
                                    </a:rPr>
                                    <m:t>𝑃</m:t>
                                  </m:r>
                                </m:e>
                                <m:sup>
                                  <m:r>
                                    <a:rPr lang="pl-PL" b="0" i="1" smtClean="0">
                                      <a:latin typeface="Cambria Math" panose="02040503050406030204" pitchFamily="18" charset="0"/>
                                    </a:rPr>
                                    <m:t>𝑇</m:t>
                                  </m:r>
                                </m:sup>
                              </m:sSup>
                              <m:sSub>
                                <m:sSubPr>
                                  <m:ctrlPr>
                                    <a:rPr lang="pl-PL" b="0" i="1" smtClean="0">
                                      <a:latin typeface="Cambria Math" panose="02040503050406030204" pitchFamily="18" charset="0"/>
                                    </a:rPr>
                                  </m:ctrlPr>
                                </m:sSubPr>
                                <m:e>
                                  <m:r>
                                    <a:rPr lang="pl-PL" b="0" i="1" smtClean="0">
                                      <a:latin typeface="Cambria Math" panose="02040503050406030204" pitchFamily="18" charset="0"/>
                                    </a:rPr>
                                    <m:t>𝑆</m:t>
                                  </m:r>
                                </m:e>
                                <m:sub>
                                  <m:r>
                                    <a:rPr lang="pl-PL" b="0" i="1" smtClean="0">
                                      <a:latin typeface="Cambria Math" panose="02040503050406030204" pitchFamily="18" charset="0"/>
                                    </a:rPr>
                                    <m:t>𝑏</m:t>
                                  </m:r>
                                </m:sub>
                              </m:sSub>
                              <m:r>
                                <a:rPr lang="pl-PL" b="0" i="1" smtClean="0">
                                  <a:latin typeface="Cambria Math" panose="02040503050406030204" pitchFamily="18" charset="0"/>
                                </a:rPr>
                                <m:t>𝑃</m:t>
                              </m:r>
                              <m:r>
                                <a:rPr lang="pl-PL" b="0" i="1" smtClean="0">
                                  <a:latin typeface="Cambria Math" panose="02040503050406030204" pitchFamily="18" charset="0"/>
                                </a:rPr>
                                <m:t>|</m:t>
                              </m:r>
                            </m:num>
                            <m:den>
                              <m:sSup>
                                <m:sSupPr>
                                  <m:ctrlPr>
                                    <a:rPr lang="pl-PL" i="1">
                                      <a:latin typeface="Cambria Math" panose="02040503050406030204" pitchFamily="18" charset="0"/>
                                    </a:rPr>
                                  </m:ctrlPr>
                                </m:sSupPr>
                                <m:e>
                                  <m:r>
                                    <a:rPr lang="pl-PL" b="0" i="1" smtClean="0">
                                      <a:latin typeface="Cambria Math" panose="02040503050406030204" pitchFamily="18" charset="0"/>
                                    </a:rPr>
                                    <m:t>|</m:t>
                                  </m:r>
                                  <m:r>
                                    <a:rPr lang="pl-PL" i="1">
                                      <a:latin typeface="Cambria Math" panose="02040503050406030204" pitchFamily="18" charset="0"/>
                                    </a:rPr>
                                    <m:t>𝑃</m:t>
                                  </m:r>
                                </m:e>
                                <m:sup>
                                  <m:r>
                                    <a:rPr lang="pl-PL" i="1">
                                      <a:latin typeface="Cambria Math" panose="02040503050406030204" pitchFamily="18" charset="0"/>
                                    </a:rPr>
                                    <m:t>𝑇</m:t>
                                  </m:r>
                                </m:sup>
                              </m:sSup>
                              <m:sSub>
                                <m:sSubPr>
                                  <m:ctrlPr>
                                    <a:rPr lang="pl-PL" i="1">
                                      <a:latin typeface="Cambria Math" panose="02040503050406030204" pitchFamily="18" charset="0"/>
                                    </a:rPr>
                                  </m:ctrlPr>
                                </m:sSubPr>
                                <m:e>
                                  <m:r>
                                    <a:rPr lang="pl-PL" i="1">
                                      <a:latin typeface="Cambria Math" panose="02040503050406030204" pitchFamily="18" charset="0"/>
                                    </a:rPr>
                                    <m:t>𝑆</m:t>
                                  </m:r>
                                </m:e>
                                <m:sub>
                                  <m:r>
                                    <a:rPr lang="pl-PL" b="0" i="1" smtClean="0">
                                      <a:latin typeface="Cambria Math" panose="02040503050406030204" pitchFamily="18" charset="0"/>
                                    </a:rPr>
                                    <m:t>𝑤</m:t>
                                  </m:r>
                                </m:sub>
                              </m:sSub>
                              <m:r>
                                <a:rPr lang="pl-PL" i="1">
                                  <a:latin typeface="Cambria Math" panose="02040503050406030204" pitchFamily="18" charset="0"/>
                                </a:rPr>
                                <m:t>𝑃</m:t>
                              </m:r>
                              <m:r>
                                <a:rPr lang="pl-PL" b="0" i="1" smtClean="0">
                                  <a:latin typeface="Cambria Math" panose="02040503050406030204" pitchFamily="18" charset="0"/>
                                </a:rPr>
                                <m:t>|</m:t>
                              </m:r>
                            </m:den>
                          </m:f>
                        </m:e>
                      </m:func>
                    </m:oMath>
                  </m:oMathPara>
                </a14:m>
                <a:endParaRPr lang="pl-PL" b="0" dirty="0"/>
              </a:p>
              <a:p>
                <a:pPr marL="0" indent="0">
                  <a:buNone/>
                </a:pPr>
                <a:r>
                  <a:rPr lang="pl-PL" dirty="0" err="1"/>
                  <a:t>Where</a:t>
                </a:r>
                <a:r>
                  <a:rPr lang="pl-PL" dirty="0"/>
                  <a:t> Sb – </a:t>
                </a:r>
                <a:r>
                  <a:rPr lang="pl-PL" dirty="0" err="1"/>
                  <a:t>between-class</a:t>
                </a:r>
                <a:r>
                  <a:rPr lang="pl-PL" dirty="0"/>
                  <a:t> </a:t>
                </a:r>
                <a:r>
                  <a:rPr lang="pl-PL" dirty="0" err="1"/>
                  <a:t>variance</a:t>
                </a:r>
                <a:r>
                  <a:rPr lang="pl-PL" dirty="0"/>
                  <a:t>, </a:t>
                </a:r>
                <a:r>
                  <a:rPr lang="pl-PL" dirty="0" err="1"/>
                  <a:t>Sw</a:t>
                </a:r>
                <a:r>
                  <a:rPr lang="pl-PL" dirty="0"/>
                  <a:t> – </a:t>
                </a:r>
                <a:r>
                  <a:rPr lang="pl-PL" dirty="0" err="1"/>
                  <a:t>within-class</a:t>
                </a:r>
                <a:r>
                  <a:rPr lang="pl-PL" dirty="0"/>
                  <a:t> </a:t>
                </a:r>
                <a:r>
                  <a:rPr lang="pl-PL" dirty="0" err="1"/>
                  <a:t>variance</a:t>
                </a:r>
                <a:endParaRPr lang="pl-PL" dirty="0"/>
              </a:p>
              <a:p>
                <a:pPr marL="0" indent="0">
                  <a:buNone/>
                </a:pPr>
                <a:r>
                  <a:rPr lang="pl-PL" dirty="0"/>
                  <a:t>In </a:t>
                </a:r>
                <a:r>
                  <a:rPr lang="pl-PL" dirty="0" err="1"/>
                  <a:t>other</a:t>
                </a:r>
                <a:r>
                  <a:rPr lang="pl-PL" dirty="0"/>
                  <a:t> </a:t>
                </a:r>
                <a:r>
                  <a:rPr lang="pl-PL" dirty="0" err="1"/>
                  <a:t>words</a:t>
                </a:r>
                <a:r>
                  <a:rPr lang="pl-PL" dirty="0"/>
                  <a:t>: </a:t>
                </a:r>
                <a:r>
                  <a:rPr lang="pl-PL" dirty="0" err="1"/>
                  <a:t>how</a:t>
                </a:r>
                <a:r>
                  <a:rPr lang="pl-PL" dirty="0"/>
                  <a:t>/</a:t>
                </a:r>
                <a:r>
                  <a:rPr lang="pl-PL" dirty="0" err="1"/>
                  <a:t>where</a:t>
                </a:r>
                <a:r>
                  <a:rPr lang="pl-PL" dirty="0"/>
                  <a:t> to set </a:t>
                </a:r>
                <a:r>
                  <a:rPr lang="pl-PL" dirty="0" err="1"/>
                  <a:t>linear</a:t>
                </a:r>
                <a:r>
                  <a:rPr lang="pl-PL" dirty="0"/>
                  <a:t> </a:t>
                </a:r>
                <a:r>
                  <a:rPr lang="pl-PL" dirty="0" err="1"/>
                  <a:t>boundaries</a:t>
                </a:r>
                <a:r>
                  <a:rPr lang="pl-PL" dirty="0"/>
                  <a:t> </a:t>
                </a:r>
                <a:r>
                  <a:rPr lang="pl-PL" dirty="0" err="1"/>
                  <a:t>between</a:t>
                </a:r>
                <a:r>
                  <a:rPr lang="pl-PL" dirty="0"/>
                  <a:t> </a:t>
                </a:r>
                <a:r>
                  <a:rPr lang="pl-PL" dirty="0" err="1"/>
                  <a:t>groups</a:t>
                </a:r>
                <a:r>
                  <a:rPr lang="pl-PL" dirty="0"/>
                  <a:t> </a:t>
                </a:r>
                <a:r>
                  <a:rPr lang="pl-PL" dirty="0" err="1"/>
                  <a:t>so</a:t>
                </a:r>
                <a:r>
                  <a:rPr lang="pl-PL" dirty="0"/>
                  <a:t> the P(</a:t>
                </a:r>
                <a:r>
                  <a:rPr lang="pl-PL" dirty="0" err="1"/>
                  <a:t>lda</a:t>
                </a:r>
                <a:r>
                  <a:rPr lang="pl-PL" dirty="0"/>
                  <a:t>) </a:t>
                </a:r>
                <a:r>
                  <a:rPr lang="pl-PL" dirty="0" err="1"/>
                  <a:t>is</a:t>
                </a:r>
                <a:r>
                  <a:rPr lang="pl-PL" dirty="0"/>
                  <a:t> </a:t>
                </a:r>
                <a:r>
                  <a:rPr lang="pl-PL" dirty="0" err="1"/>
                  <a:t>maximized</a:t>
                </a:r>
                <a:r>
                  <a:rPr lang="pl-PL" dirty="0"/>
                  <a:t>. </a:t>
                </a:r>
              </a:p>
            </p:txBody>
          </p:sp>
        </mc:Choice>
        <mc:Fallback xmlns="">
          <p:sp>
            <p:nvSpPr>
              <p:cNvPr id="3" name="Symbol zastępczy zawartości 2">
                <a:extLst>
                  <a:ext uri="{FF2B5EF4-FFF2-40B4-BE49-F238E27FC236}">
                    <a16:creationId xmlns:a16="http://schemas.microsoft.com/office/drawing/2014/main" id="{918F5213-0856-4B37-8153-EBEDA73D5FBB}"/>
                  </a:ext>
                </a:extLst>
              </p:cNvPr>
              <p:cNvSpPr>
                <a:spLocks noGrp="1" noRot="1" noChangeAspect="1" noMove="1" noResize="1" noEditPoints="1" noAdjustHandles="1" noChangeArrowheads="1" noChangeShapeType="1" noTextEdit="1"/>
              </p:cNvSpPr>
              <p:nvPr>
                <p:ph idx="1"/>
              </p:nvPr>
            </p:nvSpPr>
            <p:spPr>
              <a:blipFill>
                <a:blip r:embed="rId2"/>
                <a:stretch>
                  <a:fillRect l="-1217" t="-2241" r="-1855"/>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72294FF1-8846-4C17-ABFE-2CB66CE9E632}"/>
              </a:ext>
            </a:extLst>
          </p:cNvPr>
          <p:cNvSpPr>
            <a:spLocks noGrp="1"/>
          </p:cNvSpPr>
          <p:nvPr>
            <p:ph type="sldNum" sz="quarter" idx="12"/>
          </p:nvPr>
        </p:nvSpPr>
        <p:spPr/>
        <p:txBody>
          <a:bodyPr/>
          <a:lstStyle/>
          <a:p>
            <a:fld id="{A7544F9A-EF6A-47CB-A458-C95835DAEA60}" type="slidenum">
              <a:rPr lang="pl-PL" smtClean="0"/>
              <a:t>18</a:t>
            </a:fld>
            <a:endParaRPr lang="pl-PL"/>
          </a:p>
        </p:txBody>
      </p:sp>
    </p:spTree>
    <p:extLst>
      <p:ext uri="{BB962C8B-B14F-4D97-AF65-F5344CB8AC3E}">
        <p14:creationId xmlns:p14="http://schemas.microsoft.com/office/powerpoint/2010/main" val="2975232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620082-1374-4C1C-A807-FA108D363EC4}"/>
              </a:ext>
            </a:extLst>
          </p:cNvPr>
          <p:cNvSpPr>
            <a:spLocks noGrp="1"/>
          </p:cNvSpPr>
          <p:nvPr>
            <p:ph type="title"/>
          </p:nvPr>
        </p:nvSpPr>
        <p:spPr/>
        <p:txBody>
          <a:bodyPr/>
          <a:lstStyle/>
          <a:p>
            <a:r>
              <a:rPr lang="pl-PL" dirty="0"/>
              <a:t>LDA </a:t>
            </a:r>
            <a:r>
              <a:rPr lang="pl-PL" dirty="0" err="1"/>
              <a:t>example</a:t>
            </a:r>
            <a:r>
              <a:rPr lang="pl-PL" dirty="0"/>
              <a:t> 1</a:t>
            </a:r>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34EB39DA-D958-461E-8DF3-C4E8D7A31DB2}"/>
                  </a:ext>
                </a:extLst>
              </p:cNvPr>
              <p:cNvSpPr>
                <a:spLocks noGrp="1"/>
              </p:cNvSpPr>
              <p:nvPr>
                <p:ph idx="1"/>
              </p:nvPr>
            </p:nvSpPr>
            <p:spPr/>
            <p:txBody>
              <a:bodyPr/>
              <a:lstStyle/>
              <a:p>
                <a:endParaRPr lang="pl-PL" dirty="0"/>
              </a:p>
              <a:p>
                <a:endParaRPr lang="pl-PL" dirty="0"/>
              </a:p>
              <a:p>
                <a:endParaRPr lang="pl-PL" dirty="0"/>
              </a:p>
              <a:p>
                <a:r>
                  <a:rPr lang="pl-PL" dirty="0"/>
                  <a:t>x1=(1,3), x2=(2,3), x3=(2,4),x4=(3,1),x5=(3,2),x6=(4,2)</a:t>
                </a:r>
              </a:p>
              <a:p>
                <a:r>
                  <a:rPr lang="pl-PL" dirty="0" err="1"/>
                  <a:t>Where</a:t>
                </a:r>
                <a:r>
                  <a:rPr lang="pl-PL" dirty="0"/>
                  <a:t> y1,y2,y3=k1=1, y4,y5,y6=k2=2</a:t>
                </a:r>
              </a:p>
              <a:p>
                <a:r>
                  <a:rPr lang="pl-PL" dirty="0"/>
                  <a:t>(1) </a:t>
                </a:r>
                <a:r>
                  <a:rPr lang="pl-PL" dirty="0" err="1"/>
                  <a:t>find</a:t>
                </a:r>
                <a:r>
                  <a:rPr lang="pl-PL" dirty="0"/>
                  <a:t> </a:t>
                </a:r>
                <a:r>
                  <a:rPr lang="pl-PL" dirty="0" err="1"/>
                  <a:t>estimates</a:t>
                </a:r>
                <a:r>
                  <a:rPr lang="pl-PL" dirty="0"/>
                  <a:t> for the LDA </a:t>
                </a:r>
                <a:r>
                  <a:rPr lang="pl-PL" dirty="0" err="1"/>
                  <a:t>functions</a:t>
                </a:r>
                <a:r>
                  <a:rPr lang="pl-PL" dirty="0"/>
                  <a:t> </a:t>
                </a:r>
                <a14:m>
                  <m:oMath xmlns:m="http://schemas.openxmlformats.org/officeDocument/2006/math">
                    <m:sSub>
                      <m:sSubPr>
                        <m:ctrlPr>
                          <a:rPr lang="pl-PL" sz="2800" i="1" smtClean="0">
                            <a:latin typeface="Cambria Math" panose="02040503050406030204" pitchFamily="18" charset="0"/>
                          </a:rPr>
                        </m:ctrlPr>
                      </m:sSubPr>
                      <m:e>
                        <m:r>
                          <a:rPr lang="pl-PL" sz="2800" i="1" smtClean="0">
                            <a:latin typeface="Cambria Math" panose="02040503050406030204" pitchFamily="18" charset="0"/>
                            <a:ea typeface="Cambria Math" panose="02040503050406030204" pitchFamily="18" charset="0"/>
                          </a:rPr>
                          <m:t>𝛿</m:t>
                        </m:r>
                      </m:e>
                      <m:sub>
                        <m:r>
                          <a:rPr lang="pl-PL" sz="2800" b="0" i="1" smtClean="0">
                            <a:latin typeface="Cambria Math" panose="02040503050406030204" pitchFamily="18" charset="0"/>
                          </a:rPr>
                          <m:t>𝑘</m:t>
                        </m:r>
                        <m:r>
                          <a:rPr lang="pl-PL" sz="2800" b="0" i="1" smtClean="0">
                            <a:latin typeface="Cambria Math" panose="02040503050406030204" pitchFamily="18" charset="0"/>
                          </a:rPr>
                          <m:t>1</m:t>
                        </m:r>
                      </m:sub>
                    </m:sSub>
                  </m:oMath>
                </a14:m>
                <a:r>
                  <a:rPr lang="pl-PL" dirty="0"/>
                  <a:t> and </a:t>
                </a:r>
                <a14:m>
                  <m:oMath xmlns:m="http://schemas.openxmlformats.org/officeDocument/2006/math">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𝛿</m:t>
                        </m:r>
                      </m:e>
                      <m:sub>
                        <m:r>
                          <a:rPr lang="pl-PL" i="1">
                            <a:latin typeface="Cambria Math" panose="02040503050406030204" pitchFamily="18" charset="0"/>
                          </a:rPr>
                          <m:t>𝑘</m:t>
                        </m:r>
                        <m:r>
                          <a:rPr lang="pl-PL" b="0" i="1" smtClean="0">
                            <a:latin typeface="Cambria Math" panose="02040503050406030204" pitchFamily="18" charset="0"/>
                          </a:rPr>
                          <m:t>2</m:t>
                        </m:r>
                      </m:sub>
                    </m:sSub>
                    <m:r>
                      <a:rPr lang="pl-PL" b="0" i="1" smtClean="0">
                        <a:latin typeface="Cambria Math" panose="02040503050406030204" pitchFamily="18" charset="0"/>
                      </a:rPr>
                      <m:t> (</m:t>
                    </m:r>
                    <m:r>
                      <a:rPr lang="pl-PL" b="0" i="1" smtClean="0">
                        <a:latin typeface="Cambria Math" panose="02040503050406030204" pitchFamily="18" charset="0"/>
                      </a:rPr>
                      <m:t>𝑑𝑒𝑙𝑡𝑎</m:t>
                    </m:r>
                    <m:r>
                      <a:rPr lang="pl-PL" b="0" i="1" smtClean="0">
                        <a:latin typeface="Cambria Math" panose="02040503050406030204" pitchFamily="18" charset="0"/>
                      </a:rPr>
                      <m:t>1, </m:t>
                    </m:r>
                    <m:r>
                      <a:rPr lang="pl-PL" b="0" i="1" smtClean="0">
                        <a:latin typeface="Cambria Math" panose="02040503050406030204" pitchFamily="18" charset="0"/>
                      </a:rPr>
                      <m:t>𝑑𝑒𝑙𝑡𝑎</m:t>
                    </m:r>
                    <m:r>
                      <a:rPr lang="pl-PL" b="0" i="1" smtClean="0">
                        <a:latin typeface="Cambria Math" panose="02040503050406030204" pitchFamily="18" charset="0"/>
                      </a:rPr>
                      <m:t>2)</m:t>
                    </m:r>
                  </m:oMath>
                </a14:m>
                <a:endParaRPr lang="pl-PL" dirty="0"/>
              </a:p>
              <a:p>
                <a:r>
                  <a:rPr lang="pl-PL" dirty="0"/>
                  <a:t> (2) </a:t>
                </a:r>
                <a:r>
                  <a:rPr lang="pl-PL" dirty="0" err="1"/>
                  <a:t>find</a:t>
                </a:r>
                <a:r>
                  <a:rPr lang="pl-PL" dirty="0"/>
                  <a:t> the </a:t>
                </a:r>
                <a:r>
                  <a:rPr lang="pl-PL" dirty="0" err="1"/>
                  <a:t>line</a:t>
                </a:r>
                <a:r>
                  <a:rPr lang="pl-PL" dirty="0"/>
                  <a:t> </a:t>
                </a:r>
                <a:r>
                  <a:rPr lang="pl-PL" dirty="0" err="1"/>
                  <a:t>that</a:t>
                </a:r>
                <a:r>
                  <a:rPr lang="pl-PL" dirty="0"/>
                  <a:t> </a:t>
                </a:r>
                <a:r>
                  <a:rPr lang="pl-PL" dirty="0" err="1"/>
                  <a:t>decides</a:t>
                </a:r>
                <a:r>
                  <a:rPr lang="pl-PL" dirty="0"/>
                  <a:t> </a:t>
                </a:r>
                <a:r>
                  <a:rPr lang="pl-PL" dirty="0" err="1"/>
                  <a:t>between</a:t>
                </a:r>
                <a:r>
                  <a:rPr lang="pl-PL" dirty="0"/>
                  <a:t> the 2 </a:t>
                </a:r>
                <a:r>
                  <a:rPr lang="pl-PL" dirty="0" err="1"/>
                  <a:t>classes</a:t>
                </a:r>
                <a:endParaRPr lang="pl-PL" dirty="0"/>
              </a:p>
              <a:p>
                <a:r>
                  <a:rPr lang="pl-PL" dirty="0"/>
                  <a:t>(3) </a:t>
                </a:r>
                <a:r>
                  <a:rPr lang="pl-PL" dirty="0" err="1"/>
                  <a:t>find</a:t>
                </a:r>
                <a:r>
                  <a:rPr lang="pl-PL" dirty="0"/>
                  <a:t> the </a:t>
                </a:r>
                <a:r>
                  <a:rPr lang="pl-PL" dirty="0" err="1"/>
                  <a:t>class</a:t>
                </a:r>
                <a:r>
                  <a:rPr lang="pl-PL" dirty="0"/>
                  <a:t> for the point x= (5,0)</a:t>
                </a:r>
              </a:p>
            </p:txBody>
          </p:sp>
        </mc:Choice>
        <mc:Fallback xmlns="">
          <p:sp>
            <p:nvSpPr>
              <p:cNvPr id="3" name="Symbol zastępczy zawartości 2">
                <a:extLst>
                  <a:ext uri="{FF2B5EF4-FFF2-40B4-BE49-F238E27FC236}">
                    <a16:creationId xmlns:a16="http://schemas.microsoft.com/office/drawing/2014/main" id="{34EB39DA-D958-461E-8DF3-C4E8D7A31DB2}"/>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70580630-DFB7-460E-9002-C55C1036D697}"/>
              </a:ext>
            </a:extLst>
          </p:cNvPr>
          <p:cNvSpPr>
            <a:spLocks noGrp="1"/>
          </p:cNvSpPr>
          <p:nvPr>
            <p:ph type="sldNum" sz="quarter" idx="12"/>
          </p:nvPr>
        </p:nvSpPr>
        <p:spPr/>
        <p:txBody>
          <a:bodyPr/>
          <a:lstStyle/>
          <a:p>
            <a:fld id="{A7544F9A-EF6A-47CB-A458-C95835DAEA60}" type="slidenum">
              <a:rPr lang="pl-PL" smtClean="0"/>
              <a:t>19</a:t>
            </a:fld>
            <a:endParaRPr lang="pl-PL"/>
          </a:p>
        </p:txBody>
      </p:sp>
      <p:pic>
        <p:nvPicPr>
          <p:cNvPr id="5" name="Obraz 4">
            <a:extLst>
              <a:ext uri="{FF2B5EF4-FFF2-40B4-BE49-F238E27FC236}">
                <a16:creationId xmlns:a16="http://schemas.microsoft.com/office/drawing/2014/main" id="{16ADB235-9FCF-44EC-A0C0-D2E23511E2E5}"/>
              </a:ext>
            </a:extLst>
          </p:cNvPr>
          <p:cNvPicPr>
            <a:picLocks noChangeAspect="1"/>
          </p:cNvPicPr>
          <p:nvPr/>
        </p:nvPicPr>
        <p:blipFill rotWithShape="1">
          <a:blip r:embed="rId3"/>
          <a:srcRect l="11141" t="19935" r="32573" b="12751"/>
          <a:stretch/>
        </p:blipFill>
        <p:spPr>
          <a:xfrm>
            <a:off x="7075502" y="0"/>
            <a:ext cx="5116497" cy="3441887"/>
          </a:xfrm>
          <a:prstGeom prst="rect">
            <a:avLst/>
          </a:prstGeom>
        </p:spPr>
      </p:pic>
    </p:spTree>
    <p:extLst>
      <p:ext uri="{BB962C8B-B14F-4D97-AF65-F5344CB8AC3E}">
        <p14:creationId xmlns:p14="http://schemas.microsoft.com/office/powerpoint/2010/main" val="1912512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620082-1374-4C1C-A807-FA108D363EC4}"/>
              </a:ext>
            </a:extLst>
          </p:cNvPr>
          <p:cNvSpPr>
            <a:spLocks noGrp="1"/>
          </p:cNvSpPr>
          <p:nvPr>
            <p:ph type="title"/>
          </p:nvPr>
        </p:nvSpPr>
        <p:spPr/>
        <p:txBody>
          <a:bodyPr/>
          <a:lstStyle/>
          <a:p>
            <a:r>
              <a:rPr lang="pl-PL" dirty="0"/>
              <a:t>LDA </a:t>
            </a:r>
            <a:r>
              <a:rPr lang="pl-PL" dirty="0" err="1"/>
              <a:t>example</a:t>
            </a:r>
            <a:r>
              <a:rPr lang="pl-PL" dirty="0"/>
              <a:t> 1</a:t>
            </a:r>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34EB39DA-D958-461E-8DF3-C4E8D7A31DB2}"/>
                  </a:ext>
                </a:extLst>
              </p:cNvPr>
              <p:cNvSpPr>
                <a:spLocks noGrp="1"/>
              </p:cNvSpPr>
              <p:nvPr>
                <p:ph idx="1"/>
              </p:nvPr>
            </p:nvSpPr>
            <p:spPr/>
            <p:txBody>
              <a:bodyPr>
                <a:normAutofit fontScale="77500" lnSpcReduction="20000"/>
              </a:bodyPr>
              <a:lstStyle/>
              <a:p>
                <a:r>
                  <a:rPr lang="pl-PL" dirty="0"/>
                  <a:t>P=2 – liczba cech </a:t>
                </a:r>
              </a:p>
              <a:p>
                <a:r>
                  <a:rPr lang="pl-PL" dirty="0"/>
                  <a:t>K=2 – </a:t>
                </a:r>
                <a:r>
                  <a:rPr lang="pl-PL" dirty="0" err="1"/>
                  <a:t>number</a:t>
                </a:r>
                <a:r>
                  <a:rPr lang="pl-PL" dirty="0"/>
                  <a:t> of </a:t>
                </a:r>
                <a:r>
                  <a:rPr lang="pl-PL" dirty="0" err="1"/>
                  <a:t>classes</a:t>
                </a:r>
                <a:endParaRPr lang="pl-PL" dirty="0"/>
              </a:p>
              <a:p>
                <a:r>
                  <a:rPr lang="pl-PL" dirty="0"/>
                  <a:t>N=6 – </a:t>
                </a:r>
                <a:r>
                  <a:rPr lang="pl-PL" dirty="0" err="1"/>
                  <a:t>number</a:t>
                </a:r>
                <a:r>
                  <a:rPr lang="pl-PL" dirty="0"/>
                  <a:t> of </a:t>
                </a:r>
                <a:r>
                  <a:rPr lang="pl-PL" dirty="0" err="1"/>
                  <a:t>observations</a:t>
                </a:r>
                <a:endParaRPr lang="pl-PL" dirty="0"/>
              </a:p>
              <a:p>
                <a:r>
                  <a:rPr lang="pl-PL" dirty="0"/>
                  <a:t>N1=3</a:t>
                </a:r>
              </a:p>
              <a:p>
                <a:r>
                  <a:rPr lang="pl-PL" dirty="0"/>
                  <a:t>N2=3</a:t>
                </a:r>
              </a:p>
              <a:p>
                <a:r>
                  <a:rPr lang="pl-PL" dirty="0"/>
                  <a:t>I </a:t>
                </a:r>
                <a:r>
                  <a:rPr lang="pl-PL" dirty="0" err="1"/>
                  <a:t>will</a:t>
                </a:r>
                <a:r>
                  <a:rPr lang="pl-PL" dirty="0"/>
                  <a:t> skip the </a:t>
                </a:r>
                <a:r>
                  <a:rPr lang="pl-PL" dirty="0" err="1"/>
                  <a:t>hats</a:t>
                </a:r>
                <a:r>
                  <a:rPr lang="pl-PL" dirty="0"/>
                  <a:t> </a:t>
                </a:r>
                <a:r>
                  <a:rPr lang="pl-PL" dirty="0" err="1"/>
                  <a:t>that</a:t>
                </a:r>
                <a:r>
                  <a:rPr lang="pl-PL" dirty="0"/>
                  <a:t> </a:t>
                </a:r>
                <a:r>
                  <a:rPr lang="pl-PL" dirty="0" err="1"/>
                  <a:t>signify</a:t>
                </a:r>
                <a:r>
                  <a:rPr lang="pl-PL" dirty="0"/>
                  <a:t> </a:t>
                </a:r>
                <a:r>
                  <a:rPr lang="pl-PL" dirty="0" err="1"/>
                  <a:t>dealing</a:t>
                </a:r>
                <a:r>
                  <a:rPr lang="pl-PL" dirty="0"/>
                  <a:t> with </a:t>
                </a:r>
                <a:r>
                  <a:rPr lang="pl-PL" dirty="0" err="1"/>
                  <a:t>estimates</a:t>
                </a:r>
                <a:endParaRPr lang="pl-PL" dirty="0"/>
              </a:p>
              <a:p>
                <a14:m>
                  <m:oMath xmlns:m="http://schemas.openxmlformats.org/officeDocument/2006/math">
                    <m:sSub>
                      <m:sSubPr>
                        <m:ctrlPr>
                          <a:rPr lang="pl-PL"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Π</m:t>
                        </m:r>
                      </m:e>
                      <m:sub>
                        <m:r>
                          <a:rPr lang="pl-PL" b="0" i="1" smtClean="0">
                            <a:latin typeface="Cambria Math" panose="02040503050406030204" pitchFamily="18" charset="0"/>
                            <a:ea typeface="Cambria Math" panose="02040503050406030204" pitchFamily="18" charset="0"/>
                          </a:rPr>
                          <m:t>1</m:t>
                        </m:r>
                      </m:sub>
                    </m:sSub>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𝑁</m:t>
                        </m:r>
                        <m:r>
                          <a:rPr lang="pl-PL" b="0" i="1" smtClean="0">
                            <a:latin typeface="Cambria Math" panose="02040503050406030204" pitchFamily="18" charset="0"/>
                          </a:rPr>
                          <m:t>1</m:t>
                        </m:r>
                      </m:num>
                      <m:den>
                        <m:r>
                          <a:rPr lang="pl-PL" b="0" i="1" smtClean="0">
                            <a:latin typeface="Cambria Math" panose="02040503050406030204" pitchFamily="18" charset="0"/>
                          </a:rPr>
                          <m:t>𝑁</m:t>
                        </m:r>
                      </m:den>
                    </m:f>
                    <m:r>
                      <a:rPr lang="pl-PL" b="0" i="1" smtClean="0">
                        <a:latin typeface="Cambria Math" panose="02040503050406030204" pitchFamily="18" charset="0"/>
                      </a:rPr>
                      <m:t>=3/6</m:t>
                    </m:r>
                  </m:oMath>
                </a14:m>
                <a:r>
                  <a:rPr lang="pl-PL" dirty="0"/>
                  <a:t> – </a:t>
                </a:r>
                <a:r>
                  <a:rPr lang="pl-PL" dirty="0" err="1"/>
                  <a:t>probability</a:t>
                </a:r>
                <a:r>
                  <a:rPr lang="pl-PL" dirty="0"/>
                  <a:t> of element from </a:t>
                </a:r>
                <a:r>
                  <a:rPr lang="pl-PL" dirty="0" err="1"/>
                  <a:t>class</a:t>
                </a:r>
                <a:r>
                  <a:rPr lang="pl-PL" dirty="0"/>
                  <a:t> 1 (</a:t>
                </a:r>
                <a:r>
                  <a:rPr lang="pl-PL" dirty="0" err="1"/>
                  <a:t>empirically</a:t>
                </a:r>
                <a:r>
                  <a:rPr lang="pl-PL" dirty="0"/>
                  <a:t> </a:t>
                </a:r>
                <a:r>
                  <a:rPr lang="pl-PL" dirty="0" err="1"/>
                  <a:t>calculated</a:t>
                </a:r>
                <a:r>
                  <a:rPr lang="pl-PL" dirty="0"/>
                  <a:t>)</a:t>
                </a:r>
              </a:p>
              <a:p>
                <a14:m>
                  <m:oMath xmlns:m="http://schemas.openxmlformats.org/officeDocument/2006/math">
                    <m:sSub>
                      <m:sSubPr>
                        <m:ctrlPr>
                          <a:rPr lang="pl-PL" i="1" smtClean="0">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Π</m:t>
                        </m:r>
                      </m:e>
                      <m:sub>
                        <m:r>
                          <a:rPr lang="pl-PL" b="0" i="1" smtClean="0">
                            <a:latin typeface="Cambria Math" panose="02040503050406030204" pitchFamily="18" charset="0"/>
                            <a:ea typeface="Cambria Math" panose="02040503050406030204" pitchFamily="18" charset="0"/>
                          </a:rPr>
                          <m:t>2</m:t>
                        </m:r>
                      </m:sub>
                    </m:sSub>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𝑁</m:t>
                        </m:r>
                        <m:r>
                          <a:rPr lang="pl-PL" b="0" i="1" smtClean="0">
                            <a:latin typeface="Cambria Math" panose="02040503050406030204" pitchFamily="18" charset="0"/>
                          </a:rPr>
                          <m:t>2</m:t>
                        </m:r>
                      </m:num>
                      <m:den>
                        <m:r>
                          <a:rPr lang="pl-PL" b="0" i="1" smtClean="0">
                            <a:latin typeface="Cambria Math" panose="02040503050406030204" pitchFamily="18" charset="0"/>
                          </a:rPr>
                          <m:t>𝑁</m:t>
                        </m:r>
                      </m:den>
                    </m:f>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3</m:t>
                        </m:r>
                      </m:num>
                      <m:den>
                        <m:r>
                          <a:rPr lang="pl-PL" b="0" i="1" smtClean="0">
                            <a:latin typeface="Cambria Math" panose="02040503050406030204" pitchFamily="18" charset="0"/>
                          </a:rPr>
                          <m:t>6</m:t>
                        </m:r>
                      </m:den>
                    </m:f>
                    <m:r>
                      <a:rPr lang="pl-PL" b="0" i="1" smtClean="0">
                        <a:latin typeface="Cambria Math" panose="02040503050406030204" pitchFamily="18" charset="0"/>
                      </a:rPr>
                      <m:t> −</m:t>
                    </m:r>
                    <m:r>
                      <a:rPr lang="pl-PL" b="0" i="1" smtClean="0">
                        <a:latin typeface="Cambria Math" panose="02040503050406030204" pitchFamily="18" charset="0"/>
                      </a:rPr>
                      <m:t>𝑝𝑟𝑜𝑏𝑎𝑏𝑖𝑙𝑖𝑡𝑦</m:t>
                    </m:r>
                    <m:r>
                      <a:rPr lang="pl-PL" b="0" i="1" smtClean="0">
                        <a:latin typeface="Cambria Math" panose="02040503050406030204" pitchFamily="18" charset="0"/>
                      </a:rPr>
                      <m:t> </m:t>
                    </m:r>
                    <m:r>
                      <a:rPr lang="pl-PL" b="0" i="1" smtClean="0">
                        <a:latin typeface="Cambria Math" panose="02040503050406030204" pitchFamily="18" charset="0"/>
                      </a:rPr>
                      <m:t>𝑡h𝑎𝑡</m:t>
                    </m:r>
                    <m:r>
                      <a:rPr lang="pl-PL" b="0" i="1" smtClean="0">
                        <a:latin typeface="Cambria Math" panose="02040503050406030204" pitchFamily="18" charset="0"/>
                      </a:rPr>
                      <m:t> </m:t>
                    </m:r>
                    <m:r>
                      <a:rPr lang="pl-PL" b="0" i="1" smtClean="0">
                        <a:latin typeface="Cambria Math" panose="02040503050406030204" pitchFamily="18" charset="0"/>
                      </a:rPr>
                      <m:t>𝑎𝑛</m:t>
                    </m:r>
                    <m:r>
                      <a:rPr lang="pl-PL" b="0" i="1" smtClean="0">
                        <a:latin typeface="Cambria Math" panose="02040503050406030204" pitchFamily="18" charset="0"/>
                      </a:rPr>
                      <m:t> </m:t>
                    </m:r>
                    <m:r>
                      <a:rPr lang="pl-PL" b="0" i="1" smtClean="0">
                        <a:latin typeface="Cambria Math" panose="02040503050406030204" pitchFamily="18" charset="0"/>
                      </a:rPr>
                      <m:t>𝑒𝑙𝑒𝑚𝑒𝑛𝑡</m:t>
                    </m:r>
                    <m:r>
                      <a:rPr lang="pl-PL" b="0" i="1" smtClean="0">
                        <a:latin typeface="Cambria Math" panose="02040503050406030204" pitchFamily="18" charset="0"/>
                      </a:rPr>
                      <m:t> </m:t>
                    </m:r>
                    <m:r>
                      <a:rPr lang="pl-PL" b="0" i="1" smtClean="0">
                        <a:latin typeface="Cambria Math" panose="02040503050406030204" pitchFamily="18" charset="0"/>
                      </a:rPr>
                      <m:t>𝑖𝑠</m:t>
                    </m:r>
                    <m:r>
                      <a:rPr lang="pl-PL" b="0" i="1" smtClean="0">
                        <a:latin typeface="Cambria Math" panose="02040503050406030204" pitchFamily="18" charset="0"/>
                      </a:rPr>
                      <m:t> </m:t>
                    </m:r>
                    <m:r>
                      <a:rPr lang="pl-PL" b="0" i="1" smtClean="0">
                        <a:latin typeface="Cambria Math" panose="02040503050406030204" pitchFamily="18" charset="0"/>
                      </a:rPr>
                      <m:t>𝑓𝑟𝑜𝑚</m:t>
                    </m:r>
                    <m:r>
                      <a:rPr lang="pl-PL" b="0" i="1" smtClean="0">
                        <a:latin typeface="Cambria Math" panose="02040503050406030204" pitchFamily="18" charset="0"/>
                      </a:rPr>
                      <m:t> </m:t>
                    </m:r>
                    <m:r>
                      <a:rPr lang="pl-PL" b="0" i="1" smtClean="0">
                        <a:latin typeface="Cambria Math" panose="02040503050406030204" pitchFamily="18" charset="0"/>
                      </a:rPr>
                      <m:t>𝑐𝑙𝑎𝑠𝑠</m:t>
                    </m:r>
                    <m:r>
                      <a:rPr lang="pl-PL" b="0" i="1" smtClean="0">
                        <a:latin typeface="Cambria Math" panose="02040503050406030204" pitchFamily="18" charset="0"/>
                      </a:rPr>
                      <m:t> 2</m:t>
                    </m:r>
                  </m:oMath>
                </a14:m>
                <a:endParaRPr lang="pl-PL" b="0" dirty="0"/>
              </a:p>
              <a:p>
                <a14:m>
                  <m:oMath xmlns:m="http://schemas.openxmlformats.org/officeDocument/2006/math">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i="1">
                            <a:latin typeface="Cambria Math" panose="02040503050406030204" pitchFamily="18" charset="0"/>
                          </a:rPr>
                          <m:t>𝑘</m:t>
                        </m:r>
                        <m:r>
                          <a:rPr lang="pl-PL" i="1">
                            <a:latin typeface="Cambria Math" panose="02040503050406030204" pitchFamily="18" charset="0"/>
                          </a:rPr>
                          <m:t>1</m:t>
                        </m:r>
                      </m:sub>
                    </m:sSub>
                  </m:oMath>
                </a14:m>
                <a:r>
                  <a:rPr lang="pl-PL" dirty="0"/>
                  <a:t> </a:t>
                </a:r>
                <a14:m>
                  <m:oMath xmlns:m="http://schemas.openxmlformats.org/officeDocument/2006/math">
                    <m:r>
                      <a:rPr lang="pl-PL" i="1">
                        <a:latin typeface="Cambria Math" panose="02040503050406030204" pitchFamily="18" charset="0"/>
                      </a:rPr>
                      <m:t>=</m:t>
                    </m:r>
                    <m:f>
                      <m:fPr>
                        <m:ctrlPr>
                          <a:rPr lang="pl-PL" i="1">
                            <a:latin typeface="Cambria Math" panose="02040503050406030204" pitchFamily="18" charset="0"/>
                          </a:rPr>
                        </m:ctrlPr>
                      </m:fPr>
                      <m:num>
                        <m:r>
                          <a:rPr lang="pl-PL" i="1">
                            <a:latin typeface="Cambria Math" panose="02040503050406030204" pitchFamily="18" charset="0"/>
                          </a:rPr>
                          <m:t>1</m:t>
                        </m:r>
                      </m:num>
                      <m:den>
                        <m:r>
                          <a:rPr lang="pl-PL" i="1">
                            <a:latin typeface="Cambria Math" panose="02040503050406030204" pitchFamily="18" charset="0"/>
                          </a:rPr>
                          <m:t>𝑁</m:t>
                        </m:r>
                        <m:r>
                          <a:rPr lang="pl-PL" i="1">
                            <a:latin typeface="Cambria Math" panose="02040503050406030204" pitchFamily="18" charset="0"/>
                          </a:rPr>
                          <m:t>1</m:t>
                        </m:r>
                      </m:den>
                    </m:f>
                    <m:r>
                      <a:rPr lang="pl-PL" i="1">
                        <a:latin typeface="Cambria Math" panose="02040503050406030204" pitchFamily="18" charset="0"/>
                      </a:rPr>
                      <m:t>∗</m:t>
                    </m:r>
                    <m:r>
                      <a:rPr lang="pl-PL" i="1">
                        <a:latin typeface="Cambria Math" panose="02040503050406030204" pitchFamily="18" charset="0"/>
                      </a:rPr>
                      <m:t>𝑠𝑢𝑚</m:t>
                    </m:r>
                    <m:d>
                      <m:dPr>
                        <m:ctrlPr>
                          <a:rPr lang="pl-PL" i="1">
                            <a:latin typeface="Cambria Math" panose="02040503050406030204" pitchFamily="18" charset="0"/>
                          </a:rPr>
                        </m:ctrlPr>
                      </m:dPr>
                      <m:e>
                        <m:r>
                          <a:rPr lang="pl-PL" i="1">
                            <a:latin typeface="Cambria Math" panose="02040503050406030204" pitchFamily="18" charset="0"/>
                          </a:rPr>
                          <m:t>𝑓𝑜𝑟</m:t>
                        </m:r>
                        <m:r>
                          <a:rPr lang="pl-PL" i="1">
                            <a:latin typeface="Cambria Math" panose="02040503050406030204" pitchFamily="18" charset="0"/>
                          </a:rPr>
                          <m:t> </m:t>
                        </m:r>
                        <m:r>
                          <a:rPr lang="pl-PL" i="1">
                            <a:latin typeface="Cambria Math" panose="02040503050406030204" pitchFamily="18" charset="0"/>
                          </a:rPr>
                          <m:t>𝑎𝑙𝑙</m:t>
                        </m:r>
                        <m:r>
                          <a:rPr lang="pl-PL" i="1">
                            <a:latin typeface="Cambria Math" panose="02040503050406030204" pitchFamily="18" charset="0"/>
                          </a:rPr>
                          <m:t> </m:t>
                        </m:r>
                        <m:r>
                          <a:rPr lang="pl-PL" i="1">
                            <a:latin typeface="Cambria Math" panose="02040503050406030204" pitchFamily="18" charset="0"/>
                          </a:rPr>
                          <m:t>𝑖</m:t>
                        </m:r>
                        <m:r>
                          <a:rPr lang="pl-PL" i="1">
                            <a:latin typeface="Cambria Math" panose="02040503050406030204" pitchFamily="18" charset="0"/>
                          </a:rPr>
                          <m:t> </m:t>
                        </m:r>
                        <m:r>
                          <a:rPr lang="pl-PL" i="1">
                            <a:latin typeface="Cambria Math" panose="02040503050406030204" pitchFamily="18" charset="0"/>
                          </a:rPr>
                          <m:t>𝑠𝑢𝑐h</m:t>
                        </m:r>
                        <m:r>
                          <a:rPr lang="pl-PL" i="1">
                            <a:latin typeface="Cambria Math" panose="02040503050406030204" pitchFamily="18" charset="0"/>
                          </a:rPr>
                          <m:t> </m:t>
                        </m:r>
                        <m:r>
                          <a:rPr lang="pl-PL" i="1">
                            <a:latin typeface="Cambria Math" panose="02040503050406030204" pitchFamily="18" charset="0"/>
                          </a:rPr>
                          <m:t>𝑡h𝑎𝑡</m:t>
                        </m:r>
                        <m:r>
                          <a:rPr lang="pl-PL" i="1">
                            <a:latin typeface="Cambria Math" panose="02040503050406030204" pitchFamily="18" charset="0"/>
                          </a:rPr>
                          <m:t> </m:t>
                        </m:r>
                        <m:r>
                          <a:rPr lang="pl-PL" i="1">
                            <a:latin typeface="Cambria Math" panose="02040503050406030204" pitchFamily="18" charset="0"/>
                          </a:rPr>
                          <m:t>𝑦𝑖</m:t>
                        </m:r>
                        <m:r>
                          <a:rPr lang="pl-PL" i="1">
                            <a:latin typeface="Cambria Math" panose="02040503050406030204" pitchFamily="18" charset="0"/>
                          </a:rPr>
                          <m:t>=1</m:t>
                        </m:r>
                      </m:e>
                    </m:d>
                    <m:r>
                      <a:rPr lang="pl-PL" i="1">
                        <a:latin typeface="Cambria Math" panose="02040503050406030204" pitchFamily="18" charset="0"/>
                      </a:rPr>
                      <m:t>𝑥</m:t>
                    </m:r>
                    <m:d>
                      <m:dPr>
                        <m:ctrlPr>
                          <a:rPr lang="pl-PL" i="1">
                            <a:latin typeface="Cambria Math" panose="02040503050406030204" pitchFamily="18" charset="0"/>
                          </a:rPr>
                        </m:ctrlPr>
                      </m:dPr>
                      <m:e>
                        <m:r>
                          <a:rPr lang="pl-PL" i="1">
                            <a:latin typeface="Cambria Math" panose="02040503050406030204" pitchFamily="18" charset="0"/>
                          </a:rPr>
                          <m:t>𝑖</m:t>
                        </m:r>
                      </m:e>
                    </m:d>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1</m:t>
                        </m:r>
                      </m:num>
                      <m:den>
                        <m:r>
                          <a:rPr lang="pl-PL" b="0" i="1" smtClean="0">
                            <a:latin typeface="Cambria Math" panose="02040503050406030204" pitchFamily="18" charset="0"/>
                          </a:rPr>
                          <m:t>3</m:t>
                        </m:r>
                      </m:den>
                    </m:f>
                    <m:r>
                      <a:rPr lang="pl-PL" b="0" i="1" smtClean="0">
                        <a:latin typeface="Cambria Math" panose="02040503050406030204" pitchFamily="18" charset="0"/>
                      </a:rPr>
                      <m:t>∗</m:t>
                    </m:r>
                    <m:d>
                      <m:dPr>
                        <m:begChr m:val="["/>
                        <m:endChr m:val="]"/>
                        <m:ctrlPr>
                          <a:rPr lang="pl-PL" b="0" i="1" smtClean="0">
                            <a:latin typeface="Cambria Math" panose="02040503050406030204" pitchFamily="18" charset="0"/>
                          </a:rPr>
                        </m:ctrlPr>
                      </m:dPr>
                      <m:e>
                        <m:r>
                          <a:rPr lang="pl-PL" b="0" i="1" smtClean="0">
                            <a:latin typeface="Cambria Math" panose="02040503050406030204" pitchFamily="18" charset="0"/>
                          </a:rPr>
                          <m:t>𝑥</m:t>
                        </m:r>
                        <m:r>
                          <a:rPr lang="pl-PL" b="0" i="1" smtClean="0">
                            <a:latin typeface="Cambria Math" panose="02040503050406030204" pitchFamily="18" charset="0"/>
                          </a:rPr>
                          <m:t>1+</m:t>
                        </m:r>
                        <m:r>
                          <a:rPr lang="pl-PL" b="0" i="1" smtClean="0">
                            <a:latin typeface="Cambria Math" panose="02040503050406030204" pitchFamily="18" charset="0"/>
                          </a:rPr>
                          <m:t>𝑥</m:t>
                        </m:r>
                        <m:r>
                          <a:rPr lang="pl-PL" b="0" i="1" smtClean="0">
                            <a:latin typeface="Cambria Math" panose="02040503050406030204" pitchFamily="18" charset="0"/>
                          </a:rPr>
                          <m:t>2+</m:t>
                        </m:r>
                        <m:r>
                          <a:rPr lang="pl-PL" b="0" i="1" smtClean="0">
                            <a:latin typeface="Cambria Math" panose="02040503050406030204" pitchFamily="18" charset="0"/>
                          </a:rPr>
                          <m:t>𝑥</m:t>
                        </m:r>
                        <m:r>
                          <a:rPr lang="pl-PL" b="0" i="1" smtClean="0">
                            <a:latin typeface="Cambria Math" panose="02040503050406030204" pitchFamily="18" charset="0"/>
                          </a:rPr>
                          <m:t>3</m:t>
                        </m:r>
                      </m:e>
                    </m:d>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5</m:t>
                        </m:r>
                      </m:num>
                      <m:den>
                        <m:r>
                          <a:rPr lang="pl-PL" b="0" i="1" smtClean="0">
                            <a:latin typeface="Cambria Math" panose="02040503050406030204" pitchFamily="18" charset="0"/>
                          </a:rPr>
                          <m:t>3</m:t>
                        </m:r>
                      </m:den>
                    </m:f>
                    <m:r>
                      <a:rPr lang="pl-PL" b="0" i="1" smtClean="0">
                        <a:latin typeface="Cambria Math" panose="02040503050406030204" pitchFamily="18" charset="0"/>
                      </a:rPr>
                      <m:t>,  10/3]</m:t>
                    </m:r>
                  </m:oMath>
                </a14:m>
                <a:endParaRPr lang="pl-PL" dirty="0"/>
              </a:p>
              <a:p>
                <a14:m>
                  <m:oMath xmlns:m="http://schemas.openxmlformats.org/officeDocument/2006/math">
                    <m:sSub>
                      <m:sSubPr>
                        <m:ctrlPr>
                          <a:rPr lang="pl-PL" i="1" smtClean="0">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i="1">
                            <a:latin typeface="Cambria Math" panose="02040503050406030204" pitchFamily="18" charset="0"/>
                          </a:rPr>
                          <m:t>𝑘</m:t>
                        </m:r>
                        <m:r>
                          <a:rPr lang="pl-PL" i="1">
                            <a:latin typeface="Cambria Math" panose="02040503050406030204" pitchFamily="18" charset="0"/>
                          </a:rPr>
                          <m:t>1</m:t>
                        </m:r>
                      </m:sub>
                    </m:sSub>
                  </m:oMath>
                </a14:m>
                <a:r>
                  <a:rPr lang="pl-PL" dirty="0"/>
                  <a:t> </a:t>
                </a:r>
                <a14:m>
                  <m:oMath xmlns:m="http://schemas.openxmlformats.org/officeDocument/2006/math">
                    <m:r>
                      <a:rPr lang="pl-PL" i="1">
                        <a:latin typeface="Cambria Math" panose="02040503050406030204" pitchFamily="18" charset="0"/>
                      </a:rPr>
                      <m:t>=</m:t>
                    </m:r>
                    <m:f>
                      <m:fPr>
                        <m:ctrlPr>
                          <a:rPr lang="pl-PL" i="1">
                            <a:latin typeface="Cambria Math" panose="02040503050406030204" pitchFamily="18" charset="0"/>
                          </a:rPr>
                        </m:ctrlPr>
                      </m:fPr>
                      <m:num>
                        <m:r>
                          <a:rPr lang="pl-PL" i="1">
                            <a:latin typeface="Cambria Math" panose="02040503050406030204" pitchFamily="18" charset="0"/>
                          </a:rPr>
                          <m:t>1</m:t>
                        </m:r>
                      </m:num>
                      <m:den>
                        <m:r>
                          <a:rPr lang="pl-PL" i="1">
                            <a:latin typeface="Cambria Math" panose="02040503050406030204" pitchFamily="18" charset="0"/>
                          </a:rPr>
                          <m:t>𝑁</m:t>
                        </m:r>
                        <m:r>
                          <a:rPr lang="pl-PL" i="1">
                            <a:latin typeface="Cambria Math" panose="02040503050406030204" pitchFamily="18" charset="0"/>
                          </a:rPr>
                          <m:t>1</m:t>
                        </m:r>
                      </m:den>
                    </m:f>
                    <m:r>
                      <a:rPr lang="pl-PL" i="1">
                        <a:latin typeface="Cambria Math" panose="02040503050406030204" pitchFamily="18" charset="0"/>
                      </a:rPr>
                      <m:t>∗</m:t>
                    </m:r>
                    <m:r>
                      <a:rPr lang="pl-PL" i="1">
                        <a:latin typeface="Cambria Math" panose="02040503050406030204" pitchFamily="18" charset="0"/>
                      </a:rPr>
                      <m:t>𝑠𝑢𝑚</m:t>
                    </m:r>
                    <m:d>
                      <m:dPr>
                        <m:ctrlPr>
                          <a:rPr lang="pl-PL" i="1">
                            <a:latin typeface="Cambria Math" panose="02040503050406030204" pitchFamily="18" charset="0"/>
                          </a:rPr>
                        </m:ctrlPr>
                      </m:dPr>
                      <m:e>
                        <m:r>
                          <a:rPr lang="pl-PL" i="1">
                            <a:latin typeface="Cambria Math" panose="02040503050406030204" pitchFamily="18" charset="0"/>
                          </a:rPr>
                          <m:t>𝑓𝑜𝑟</m:t>
                        </m:r>
                        <m:r>
                          <a:rPr lang="pl-PL" i="1">
                            <a:latin typeface="Cambria Math" panose="02040503050406030204" pitchFamily="18" charset="0"/>
                          </a:rPr>
                          <m:t> </m:t>
                        </m:r>
                        <m:r>
                          <a:rPr lang="pl-PL" i="1">
                            <a:latin typeface="Cambria Math" panose="02040503050406030204" pitchFamily="18" charset="0"/>
                          </a:rPr>
                          <m:t>𝑎𝑙𝑙</m:t>
                        </m:r>
                        <m:r>
                          <a:rPr lang="pl-PL" i="1">
                            <a:latin typeface="Cambria Math" panose="02040503050406030204" pitchFamily="18" charset="0"/>
                          </a:rPr>
                          <m:t> </m:t>
                        </m:r>
                        <m:r>
                          <a:rPr lang="pl-PL" i="1">
                            <a:latin typeface="Cambria Math" panose="02040503050406030204" pitchFamily="18" charset="0"/>
                          </a:rPr>
                          <m:t>𝑖</m:t>
                        </m:r>
                        <m:r>
                          <a:rPr lang="pl-PL" i="1">
                            <a:latin typeface="Cambria Math" panose="02040503050406030204" pitchFamily="18" charset="0"/>
                          </a:rPr>
                          <m:t> </m:t>
                        </m:r>
                        <m:r>
                          <a:rPr lang="pl-PL" i="1">
                            <a:latin typeface="Cambria Math" panose="02040503050406030204" pitchFamily="18" charset="0"/>
                          </a:rPr>
                          <m:t>𝑠𝑢𝑐h</m:t>
                        </m:r>
                        <m:r>
                          <a:rPr lang="pl-PL" i="1">
                            <a:latin typeface="Cambria Math" panose="02040503050406030204" pitchFamily="18" charset="0"/>
                          </a:rPr>
                          <m:t> </m:t>
                        </m:r>
                        <m:r>
                          <a:rPr lang="pl-PL" i="1">
                            <a:latin typeface="Cambria Math" panose="02040503050406030204" pitchFamily="18" charset="0"/>
                          </a:rPr>
                          <m:t>𝑡h𝑎𝑡</m:t>
                        </m:r>
                        <m:r>
                          <a:rPr lang="pl-PL" i="1">
                            <a:latin typeface="Cambria Math" panose="02040503050406030204" pitchFamily="18" charset="0"/>
                          </a:rPr>
                          <m:t> </m:t>
                        </m:r>
                        <m:r>
                          <a:rPr lang="pl-PL" i="1">
                            <a:latin typeface="Cambria Math" panose="02040503050406030204" pitchFamily="18" charset="0"/>
                          </a:rPr>
                          <m:t>𝑦𝑖</m:t>
                        </m:r>
                        <m:r>
                          <a:rPr lang="pl-PL" i="1">
                            <a:latin typeface="Cambria Math" panose="02040503050406030204" pitchFamily="18" charset="0"/>
                          </a:rPr>
                          <m:t>=2</m:t>
                        </m:r>
                      </m:e>
                    </m:d>
                    <m:r>
                      <a:rPr lang="pl-PL" i="1">
                        <a:latin typeface="Cambria Math" panose="02040503050406030204" pitchFamily="18" charset="0"/>
                      </a:rPr>
                      <m:t>𝑥</m:t>
                    </m:r>
                    <m:d>
                      <m:dPr>
                        <m:ctrlPr>
                          <a:rPr lang="pl-PL" i="1">
                            <a:latin typeface="Cambria Math" panose="02040503050406030204" pitchFamily="18" charset="0"/>
                          </a:rPr>
                        </m:ctrlPr>
                      </m:dPr>
                      <m:e>
                        <m:r>
                          <a:rPr lang="pl-PL" i="1">
                            <a:latin typeface="Cambria Math" panose="02040503050406030204" pitchFamily="18" charset="0"/>
                          </a:rPr>
                          <m:t>𝑖</m:t>
                        </m:r>
                      </m:e>
                    </m:d>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1</m:t>
                        </m:r>
                      </m:num>
                      <m:den>
                        <m:r>
                          <a:rPr lang="pl-PL" b="0" i="1" smtClean="0">
                            <a:latin typeface="Cambria Math" panose="02040503050406030204" pitchFamily="18" charset="0"/>
                          </a:rPr>
                          <m:t>3</m:t>
                        </m:r>
                      </m:den>
                    </m:f>
                    <m:r>
                      <a:rPr lang="pl-PL" b="0" i="1" smtClean="0">
                        <a:latin typeface="Cambria Math" panose="02040503050406030204" pitchFamily="18" charset="0"/>
                      </a:rPr>
                      <m:t>∗</m:t>
                    </m:r>
                    <m:d>
                      <m:dPr>
                        <m:begChr m:val="["/>
                        <m:endChr m:val="]"/>
                        <m:ctrlPr>
                          <a:rPr lang="pl-PL" b="0" i="1" smtClean="0">
                            <a:latin typeface="Cambria Math" panose="02040503050406030204" pitchFamily="18" charset="0"/>
                          </a:rPr>
                        </m:ctrlPr>
                      </m:dPr>
                      <m:e>
                        <m:r>
                          <a:rPr lang="pl-PL" b="0" i="1" smtClean="0">
                            <a:latin typeface="Cambria Math" panose="02040503050406030204" pitchFamily="18" charset="0"/>
                          </a:rPr>
                          <m:t>𝑥</m:t>
                        </m:r>
                        <m:r>
                          <a:rPr lang="pl-PL" b="0" i="1" smtClean="0">
                            <a:latin typeface="Cambria Math" panose="02040503050406030204" pitchFamily="18" charset="0"/>
                          </a:rPr>
                          <m:t>4+</m:t>
                        </m:r>
                        <m:r>
                          <a:rPr lang="pl-PL" b="0" i="1" smtClean="0">
                            <a:latin typeface="Cambria Math" panose="02040503050406030204" pitchFamily="18" charset="0"/>
                          </a:rPr>
                          <m:t>𝑥</m:t>
                        </m:r>
                        <m:r>
                          <a:rPr lang="pl-PL" b="0" i="1" smtClean="0">
                            <a:latin typeface="Cambria Math" panose="02040503050406030204" pitchFamily="18" charset="0"/>
                          </a:rPr>
                          <m:t>5+</m:t>
                        </m:r>
                        <m:r>
                          <a:rPr lang="pl-PL" b="0" i="1" smtClean="0">
                            <a:latin typeface="Cambria Math" panose="02040503050406030204" pitchFamily="18" charset="0"/>
                          </a:rPr>
                          <m:t>𝑥</m:t>
                        </m:r>
                        <m:r>
                          <a:rPr lang="pl-PL" b="0" i="1" smtClean="0">
                            <a:latin typeface="Cambria Math" panose="02040503050406030204" pitchFamily="18" charset="0"/>
                          </a:rPr>
                          <m:t>6</m:t>
                        </m:r>
                      </m:e>
                    </m:d>
                    <m:r>
                      <a:rPr lang="pl-PL" b="0" i="1" smtClean="0">
                        <a:latin typeface="Cambria Math" panose="02040503050406030204" pitchFamily="18" charset="0"/>
                      </a:rPr>
                      <m:t>=[</m:t>
                    </m:r>
                    <m:f>
                      <m:fPr>
                        <m:ctrlPr>
                          <a:rPr lang="pl-PL" b="0" i="1" smtClean="0">
                            <a:latin typeface="Cambria Math" panose="02040503050406030204" pitchFamily="18" charset="0"/>
                          </a:rPr>
                        </m:ctrlPr>
                      </m:fPr>
                      <m:num>
                        <m:r>
                          <a:rPr lang="pl-PL" b="0" i="1" smtClean="0">
                            <a:latin typeface="Cambria Math" panose="02040503050406030204" pitchFamily="18" charset="0"/>
                          </a:rPr>
                          <m:t>10</m:t>
                        </m:r>
                      </m:num>
                      <m:den>
                        <m:r>
                          <a:rPr lang="pl-PL" b="0" i="1" smtClean="0">
                            <a:latin typeface="Cambria Math" panose="02040503050406030204" pitchFamily="18" charset="0"/>
                          </a:rPr>
                          <m:t>3</m:t>
                        </m:r>
                      </m:den>
                    </m:f>
                    <m:r>
                      <a:rPr lang="pl-PL" b="0" i="1" smtClean="0">
                        <a:latin typeface="Cambria Math" panose="02040503050406030204" pitchFamily="18" charset="0"/>
                      </a:rPr>
                      <m:t>, 5/3]</m:t>
                    </m:r>
                  </m:oMath>
                </a14:m>
                <a:endParaRPr lang="pl-PL" dirty="0"/>
              </a:p>
              <a:p>
                <a:endParaRPr lang="pl-PL" dirty="0"/>
              </a:p>
              <a:p>
                <a:endParaRPr lang="pl-PL" dirty="0"/>
              </a:p>
            </p:txBody>
          </p:sp>
        </mc:Choice>
        <mc:Fallback xmlns="">
          <p:sp>
            <p:nvSpPr>
              <p:cNvPr id="3" name="Symbol zastępczy zawartości 2">
                <a:extLst>
                  <a:ext uri="{FF2B5EF4-FFF2-40B4-BE49-F238E27FC236}">
                    <a16:creationId xmlns:a16="http://schemas.microsoft.com/office/drawing/2014/main" id="{34EB39DA-D958-461E-8DF3-C4E8D7A31DB2}"/>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70580630-DFB7-460E-9002-C55C1036D697}"/>
              </a:ext>
            </a:extLst>
          </p:cNvPr>
          <p:cNvSpPr>
            <a:spLocks noGrp="1"/>
          </p:cNvSpPr>
          <p:nvPr>
            <p:ph type="sldNum" sz="quarter" idx="12"/>
          </p:nvPr>
        </p:nvSpPr>
        <p:spPr/>
        <p:txBody>
          <a:bodyPr/>
          <a:lstStyle/>
          <a:p>
            <a:fld id="{A7544F9A-EF6A-47CB-A458-C95835DAEA60}" type="slidenum">
              <a:rPr lang="pl-PL" smtClean="0"/>
              <a:t>20</a:t>
            </a:fld>
            <a:endParaRPr lang="pl-PL"/>
          </a:p>
        </p:txBody>
      </p:sp>
    </p:spTree>
    <p:extLst>
      <p:ext uri="{BB962C8B-B14F-4D97-AF65-F5344CB8AC3E}">
        <p14:creationId xmlns:p14="http://schemas.microsoft.com/office/powerpoint/2010/main" val="1084233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0620082-1374-4C1C-A807-FA108D363EC4}"/>
              </a:ext>
            </a:extLst>
          </p:cNvPr>
          <p:cNvSpPr>
            <a:spLocks noGrp="1"/>
          </p:cNvSpPr>
          <p:nvPr>
            <p:ph type="title"/>
          </p:nvPr>
        </p:nvSpPr>
        <p:spPr/>
        <p:txBody>
          <a:bodyPr/>
          <a:lstStyle/>
          <a:p>
            <a:r>
              <a:rPr lang="pl-PL" dirty="0"/>
              <a:t>LDA </a:t>
            </a:r>
            <a:r>
              <a:rPr lang="pl-PL" dirty="0" err="1"/>
              <a:t>example</a:t>
            </a:r>
            <a:r>
              <a:rPr lang="pl-PL" dirty="0"/>
              <a:t> 1</a:t>
            </a:r>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34EB39DA-D958-461E-8DF3-C4E8D7A31DB2}"/>
                  </a:ext>
                </a:extLst>
              </p:cNvPr>
              <p:cNvSpPr>
                <a:spLocks noGrp="1"/>
              </p:cNvSpPr>
              <p:nvPr>
                <p:ph idx="1"/>
              </p:nvPr>
            </p:nvSpPr>
            <p:spPr/>
            <p:txBody>
              <a:bodyPr>
                <a:normAutofit/>
              </a:bodyPr>
              <a:lstStyle/>
              <a:p>
                <a14:m>
                  <m:oMath xmlns:m="http://schemas.openxmlformats.org/officeDocument/2006/math">
                    <m:acc>
                      <m:accPr>
                        <m:chr m:val="̂"/>
                        <m:ctrlPr>
                          <a:rPr lang="el-GR" i="1" smtClean="0">
                            <a:latin typeface="Cambria Math" panose="02040503050406030204" pitchFamily="18" charset="0"/>
                            <a:ea typeface="Cambria Math" panose="02040503050406030204" pitchFamily="18" charset="0"/>
                          </a:rPr>
                        </m:ctrlPr>
                      </m:accPr>
                      <m:e>
                        <m:r>
                          <m:rPr>
                            <m:sty m:val="p"/>
                          </m:rPr>
                          <a:rPr lang="el-GR" i="1">
                            <a:latin typeface="Cambria Math" panose="02040503050406030204" pitchFamily="18" charset="0"/>
                            <a:ea typeface="Cambria Math" panose="02040503050406030204" pitchFamily="18" charset="0"/>
                          </a:rPr>
                          <m:t>Σ</m:t>
                        </m:r>
                      </m:e>
                    </m:acc>
                    <m:r>
                      <a:rPr lang="pl-PL" b="0" i="1" smtClean="0">
                        <a:latin typeface="Cambria Math" panose="02040503050406030204" pitchFamily="18" charset="0"/>
                        <a:ea typeface="Cambria Math" panose="02040503050406030204" pitchFamily="18" charset="0"/>
                      </a:rPr>
                      <m:t>=</m:t>
                    </m:r>
                    <m:f>
                      <m:fPr>
                        <m:ctrlPr>
                          <a:rPr lang="pl-PL" b="0" i="1" smtClean="0">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a:rPr lang="pl-PL" b="0" i="1" smtClean="0">
                            <a:latin typeface="Cambria Math" panose="02040503050406030204" pitchFamily="18" charset="0"/>
                            <a:ea typeface="Cambria Math" panose="02040503050406030204" pitchFamily="18" charset="0"/>
                          </a:rPr>
                          <m:t>𝑁</m:t>
                        </m:r>
                        <m:r>
                          <a:rPr lang="pl-PL" b="0" i="1" smtClean="0">
                            <a:latin typeface="Cambria Math" panose="02040503050406030204" pitchFamily="18" charset="0"/>
                            <a:ea typeface="Cambria Math" panose="02040503050406030204" pitchFamily="18" charset="0"/>
                          </a:rPr>
                          <m:t>−</m:t>
                        </m:r>
                        <m:r>
                          <a:rPr lang="pl-PL" b="0" i="1" smtClean="0">
                            <a:latin typeface="Cambria Math" panose="02040503050406030204" pitchFamily="18" charset="0"/>
                            <a:ea typeface="Cambria Math" panose="02040503050406030204" pitchFamily="18" charset="0"/>
                          </a:rPr>
                          <m:t>𝐾</m:t>
                        </m:r>
                      </m:den>
                    </m:f>
                    <m:sSubSup>
                      <m:sSubSupPr>
                        <m:ctrlPr>
                          <a:rPr lang="pl-PL" b="0" i="1" smtClean="0">
                            <a:latin typeface="Cambria Math" panose="02040503050406030204" pitchFamily="18" charset="0"/>
                            <a:ea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Σ</m:t>
                        </m:r>
                      </m:e>
                      <m:sub>
                        <m:r>
                          <a:rPr lang="pl-PL" b="0" i="1" smtClean="0">
                            <a:latin typeface="Cambria Math" panose="02040503050406030204" pitchFamily="18" charset="0"/>
                            <a:ea typeface="Cambria Math" panose="02040503050406030204" pitchFamily="18" charset="0"/>
                          </a:rPr>
                          <m:t>𝑘</m:t>
                        </m:r>
                        <m:r>
                          <a:rPr lang="pl-PL" b="0" i="1" smtClean="0">
                            <a:latin typeface="Cambria Math" panose="02040503050406030204" pitchFamily="18" charset="0"/>
                            <a:ea typeface="Cambria Math" panose="02040503050406030204" pitchFamily="18" charset="0"/>
                          </a:rPr>
                          <m:t>=1</m:t>
                        </m:r>
                      </m:sub>
                      <m:sup>
                        <m:r>
                          <a:rPr lang="pl-PL" b="0" i="1" smtClean="0">
                            <a:latin typeface="Cambria Math" panose="02040503050406030204" pitchFamily="18" charset="0"/>
                            <a:ea typeface="Cambria Math" panose="02040503050406030204" pitchFamily="18" charset="0"/>
                          </a:rPr>
                          <m:t>𝐾</m:t>
                        </m:r>
                      </m:sup>
                    </m:sSubSup>
                    <m:sSub>
                      <m:sSubPr>
                        <m:ctrlPr>
                          <a:rPr lang="pl-PL"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pl-PL" b="0" i="1" smtClean="0">
                            <a:latin typeface="Cambria Math" panose="02040503050406030204" pitchFamily="18" charset="0"/>
                            <a:ea typeface="Cambria Math" panose="02040503050406030204" pitchFamily="18" charset="0"/>
                          </a:rPr>
                          <m:t>𝑖</m:t>
                        </m:r>
                        <m:r>
                          <a:rPr lang="pl-PL" b="0" i="1" smtClean="0">
                            <a:latin typeface="Cambria Math" panose="02040503050406030204" pitchFamily="18" charset="0"/>
                            <a:ea typeface="Cambria Math" panose="02040503050406030204" pitchFamily="18" charset="0"/>
                          </a:rPr>
                          <m:t>:</m:t>
                        </m:r>
                        <m:r>
                          <a:rPr lang="pl-PL" b="0" i="1" smtClean="0">
                            <a:latin typeface="Cambria Math" panose="02040503050406030204" pitchFamily="18" charset="0"/>
                            <a:ea typeface="Cambria Math" panose="02040503050406030204" pitchFamily="18" charset="0"/>
                          </a:rPr>
                          <m:t>𝑦𝑖</m:t>
                        </m:r>
                        <m:r>
                          <a:rPr lang="pl-PL" b="0" i="1" smtClean="0">
                            <a:latin typeface="Cambria Math" panose="02040503050406030204" pitchFamily="18" charset="0"/>
                            <a:ea typeface="Cambria Math" panose="02040503050406030204" pitchFamily="18" charset="0"/>
                          </a:rPr>
                          <m:t>=</m:t>
                        </m:r>
                        <m:r>
                          <a:rPr lang="pl-PL" b="0" i="1" smtClean="0">
                            <a:latin typeface="Cambria Math" panose="02040503050406030204" pitchFamily="18" charset="0"/>
                            <a:ea typeface="Cambria Math" panose="02040503050406030204" pitchFamily="18" charset="0"/>
                          </a:rPr>
                          <m:t>𝑘</m:t>
                        </m:r>
                      </m:sub>
                    </m:sSub>
                    <m:d>
                      <m:dPr>
                        <m:ctrlPr>
                          <a:rPr lang="pl-PL" b="0" i="1" smtClean="0">
                            <a:latin typeface="Cambria Math" panose="02040503050406030204" pitchFamily="18" charset="0"/>
                            <a:ea typeface="Cambria Math" panose="02040503050406030204" pitchFamily="18" charset="0"/>
                          </a:rPr>
                        </m:ctrlPr>
                      </m:dPr>
                      <m:e>
                        <m:sSub>
                          <m:sSubPr>
                            <m:ctrlPr>
                              <a:rPr lang="pl-PL" b="0" i="1" smtClean="0">
                                <a:latin typeface="Cambria Math" panose="02040503050406030204" pitchFamily="18" charset="0"/>
                                <a:ea typeface="Cambria Math" panose="02040503050406030204" pitchFamily="18" charset="0"/>
                              </a:rPr>
                            </m:ctrlPr>
                          </m:sSubPr>
                          <m:e>
                            <m:r>
                              <a:rPr lang="pl-PL" b="0" i="1" smtClean="0">
                                <a:latin typeface="Cambria Math" panose="02040503050406030204" pitchFamily="18" charset="0"/>
                                <a:ea typeface="Cambria Math" panose="02040503050406030204" pitchFamily="18" charset="0"/>
                              </a:rPr>
                              <m:t>𝑥</m:t>
                            </m:r>
                          </m:e>
                          <m:sub>
                            <m:r>
                              <a:rPr lang="pl-PL" b="0" i="1" smtClean="0">
                                <a:latin typeface="Cambria Math" panose="02040503050406030204" pitchFamily="18" charset="0"/>
                                <a:ea typeface="Cambria Math" panose="02040503050406030204" pitchFamily="18" charset="0"/>
                              </a:rPr>
                              <m:t>𝑖</m:t>
                            </m:r>
                          </m:sub>
                        </m:sSub>
                        <m:r>
                          <a:rPr lang="pl-PL" b="0" i="1" smtClean="0">
                            <a:latin typeface="Cambria Math" panose="02040503050406030204" pitchFamily="18" charset="0"/>
                            <a:ea typeface="Cambria Math" panose="02040503050406030204" pitchFamily="18" charset="0"/>
                          </a:rPr>
                          <m:t>−</m:t>
                        </m:r>
                        <m:sSub>
                          <m:sSubPr>
                            <m:ctrlPr>
                              <a:rPr lang="pl-PL" i="1">
                                <a:latin typeface="Cambria Math" panose="02040503050406030204" pitchFamily="18" charset="0"/>
                                <a:ea typeface="Cambria Math" panose="02040503050406030204" pitchFamily="18" charset="0"/>
                              </a:rPr>
                            </m:ctrlPr>
                          </m:sSubPr>
                          <m:e>
                            <m:acc>
                              <m:accPr>
                                <m:chr m:val="̂"/>
                                <m:ctrlPr>
                                  <a:rPr lang="pl-PL" i="1">
                                    <a:latin typeface="Cambria Math" panose="02040503050406030204" pitchFamily="18" charset="0"/>
                                    <a:ea typeface="Cambria Math" panose="02040503050406030204" pitchFamily="18" charset="0"/>
                                  </a:rPr>
                                </m:ctrlPr>
                              </m:accPr>
                              <m:e>
                                <m:r>
                                  <a:rPr lang="pl-PL" i="1">
                                    <a:latin typeface="Cambria Math" panose="02040503050406030204" pitchFamily="18" charset="0"/>
                                    <a:ea typeface="Cambria Math" panose="02040503050406030204" pitchFamily="18" charset="0"/>
                                  </a:rPr>
                                  <m:t>𝜇</m:t>
                                </m:r>
                              </m:e>
                            </m:acc>
                          </m:e>
                          <m:sub>
                            <m:r>
                              <a:rPr lang="pl-PL" i="1">
                                <a:latin typeface="Cambria Math" panose="02040503050406030204" pitchFamily="18" charset="0"/>
                                <a:ea typeface="Cambria Math" panose="02040503050406030204" pitchFamily="18" charset="0"/>
                              </a:rPr>
                              <m:t>𝑘</m:t>
                            </m:r>
                          </m:sub>
                        </m:sSub>
                      </m:e>
                    </m:d>
                    <m:d>
                      <m:dPr>
                        <m:ctrlPr>
                          <a:rPr lang="pl-PL" b="0" i="1" smtClean="0">
                            <a:latin typeface="Cambria Math" panose="02040503050406030204" pitchFamily="18" charset="0"/>
                            <a:ea typeface="Cambria Math" panose="02040503050406030204" pitchFamily="18" charset="0"/>
                          </a:rPr>
                        </m:ctrlPr>
                      </m:dPr>
                      <m:e>
                        <m:sSub>
                          <m:sSubPr>
                            <m:ctrlPr>
                              <a:rPr lang="pl-PL" i="1">
                                <a:latin typeface="Cambria Math" panose="02040503050406030204" pitchFamily="18" charset="0"/>
                                <a:ea typeface="Cambria Math" panose="02040503050406030204" pitchFamily="18" charset="0"/>
                              </a:rPr>
                            </m:ctrlPr>
                          </m:sSubPr>
                          <m:e>
                            <m:r>
                              <a:rPr lang="pl-PL" i="1">
                                <a:latin typeface="Cambria Math" panose="02040503050406030204" pitchFamily="18" charset="0"/>
                                <a:ea typeface="Cambria Math" panose="02040503050406030204" pitchFamily="18" charset="0"/>
                              </a:rPr>
                              <m:t>𝑥</m:t>
                            </m:r>
                          </m:e>
                          <m:sub>
                            <m:r>
                              <a:rPr lang="pl-PL" i="1">
                                <a:latin typeface="Cambria Math" panose="02040503050406030204" pitchFamily="18" charset="0"/>
                                <a:ea typeface="Cambria Math" panose="02040503050406030204" pitchFamily="18" charset="0"/>
                              </a:rPr>
                              <m:t>𝑖</m:t>
                            </m:r>
                          </m:sub>
                        </m:sSub>
                        <m:r>
                          <a:rPr lang="pl-PL" i="1">
                            <a:latin typeface="Cambria Math" panose="02040503050406030204" pitchFamily="18" charset="0"/>
                            <a:ea typeface="Cambria Math" panose="02040503050406030204" pitchFamily="18" charset="0"/>
                          </a:rPr>
                          <m:t>−</m:t>
                        </m:r>
                        <m:sSub>
                          <m:sSubPr>
                            <m:ctrlPr>
                              <a:rPr lang="pl-PL" i="1">
                                <a:latin typeface="Cambria Math" panose="02040503050406030204" pitchFamily="18" charset="0"/>
                                <a:ea typeface="Cambria Math" panose="02040503050406030204" pitchFamily="18" charset="0"/>
                              </a:rPr>
                            </m:ctrlPr>
                          </m:sSubPr>
                          <m:e>
                            <m:acc>
                              <m:accPr>
                                <m:chr m:val="̂"/>
                                <m:ctrlPr>
                                  <a:rPr lang="pl-PL" i="1">
                                    <a:latin typeface="Cambria Math" panose="02040503050406030204" pitchFamily="18" charset="0"/>
                                    <a:ea typeface="Cambria Math" panose="02040503050406030204" pitchFamily="18" charset="0"/>
                                  </a:rPr>
                                </m:ctrlPr>
                              </m:accPr>
                              <m:e>
                                <m:r>
                                  <a:rPr lang="pl-PL" i="1">
                                    <a:latin typeface="Cambria Math" panose="02040503050406030204" pitchFamily="18" charset="0"/>
                                    <a:ea typeface="Cambria Math" panose="02040503050406030204" pitchFamily="18" charset="0"/>
                                  </a:rPr>
                                  <m:t>𝜇</m:t>
                                </m:r>
                              </m:e>
                            </m:acc>
                          </m:e>
                          <m:sub>
                            <m:r>
                              <a:rPr lang="pl-PL" i="1">
                                <a:latin typeface="Cambria Math" panose="02040503050406030204" pitchFamily="18" charset="0"/>
                                <a:ea typeface="Cambria Math" panose="02040503050406030204" pitchFamily="18" charset="0"/>
                              </a:rPr>
                              <m:t>𝑘</m:t>
                            </m:r>
                          </m:sub>
                        </m:sSub>
                      </m:e>
                    </m:d>
                    <m:r>
                      <a:rPr lang="pl-PL" b="0" i="1" baseline="30000" smtClean="0">
                        <a:latin typeface="Cambria Math" panose="02040503050406030204" pitchFamily="18" charset="0"/>
                        <a:ea typeface="Cambria Math" panose="02040503050406030204" pitchFamily="18" charset="0"/>
                      </a:rPr>
                      <m:t>𝑇</m:t>
                    </m:r>
                  </m:oMath>
                </a14:m>
                <a:br>
                  <a:rPr lang="pl-PL" baseline="30000" dirty="0"/>
                </a:br>
                <a14:m>
                  <m:oMath xmlns:m="http://schemas.openxmlformats.org/officeDocument/2006/math">
                    <m:r>
                      <a:rPr lang="pl-PL" i="1">
                        <a:latin typeface="Cambria Math" panose="02040503050406030204" pitchFamily="18" charset="0"/>
                        <a:ea typeface="Cambria Math" panose="02040503050406030204" pitchFamily="18" charset="0"/>
                      </a:rPr>
                      <m:t>=</m:t>
                    </m:r>
                    <m:f>
                      <m:fPr>
                        <m:ctrlPr>
                          <a:rPr lang="pl-PL" i="1">
                            <a:latin typeface="Cambria Math" panose="02040503050406030204" pitchFamily="18" charset="0"/>
                            <a:ea typeface="Cambria Math" panose="02040503050406030204" pitchFamily="18" charset="0"/>
                          </a:rPr>
                        </m:ctrlPr>
                      </m:fPr>
                      <m:num>
                        <m:r>
                          <a:rPr lang="pl-PL" i="1">
                            <a:latin typeface="Cambria Math" panose="02040503050406030204" pitchFamily="18" charset="0"/>
                            <a:ea typeface="Cambria Math" panose="02040503050406030204" pitchFamily="18" charset="0"/>
                          </a:rPr>
                          <m:t>1</m:t>
                        </m:r>
                      </m:num>
                      <m:den>
                        <m:r>
                          <a:rPr lang="pl-PL" b="0" i="1" smtClean="0">
                            <a:latin typeface="Cambria Math" panose="02040503050406030204" pitchFamily="18" charset="0"/>
                            <a:ea typeface="Cambria Math" panose="02040503050406030204" pitchFamily="18" charset="0"/>
                          </a:rPr>
                          <m:t>6</m:t>
                        </m:r>
                        <m:r>
                          <a:rPr lang="pl-PL" i="1">
                            <a:latin typeface="Cambria Math" panose="02040503050406030204" pitchFamily="18" charset="0"/>
                            <a:ea typeface="Cambria Math" panose="02040503050406030204" pitchFamily="18" charset="0"/>
                          </a:rPr>
                          <m:t>−</m:t>
                        </m:r>
                        <m:r>
                          <a:rPr lang="pl-PL" b="0" i="1" smtClean="0">
                            <a:latin typeface="Cambria Math" panose="02040503050406030204" pitchFamily="18" charset="0"/>
                            <a:ea typeface="Cambria Math" panose="02040503050406030204" pitchFamily="18" charset="0"/>
                          </a:rPr>
                          <m:t>2</m:t>
                        </m:r>
                      </m:den>
                    </m:f>
                    <m:sSubSup>
                      <m:sSubSupPr>
                        <m:ctrlPr>
                          <a:rPr lang="pl-PL" i="1">
                            <a:latin typeface="Cambria Math" panose="02040503050406030204" pitchFamily="18" charset="0"/>
                            <a:ea typeface="Cambria Math" panose="02040503050406030204" pitchFamily="18" charset="0"/>
                          </a:rPr>
                        </m:ctrlPr>
                      </m:sSubSupPr>
                      <m:e>
                        <m:r>
                          <m:rPr>
                            <m:sty m:val="p"/>
                          </m:rPr>
                          <a:rPr lang="el-GR" i="1">
                            <a:latin typeface="Cambria Math" panose="02040503050406030204" pitchFamily="18" charset="0"/>
                            <a:ea typeface="Cambria Math" panose="02040503050406030204" pitchFamily="18" charset="0"/>
                          </a:rPr>
                          <m:t>Σ</m:t>
                        </m:r>
                      </m:e>
                      <m:sub>
                        <m:r>
                          <a:rPr lang="pl-PL" i="1">
                            <a:latin typeface="Cambria Math" panose="02040503050406030204" pitchFamily="18" charset="0"/>
                            <a:ea typeface="Cambria Math" panose="02040503050406030204" pitchFamily="18" charset="0"/>
                          </a:rPr>
                          <m:t>𝑘</m:t>
                        </m:r>
                        <m:r>
                          <a:rPr lang="pl-PL" i="1">
                            <a:latin typeface="Cambria Math" panose="02040503050406030204" pitchFamily="18" charset="0"/>
                            <a:ea typeface="Cambria Math" panose="02040503050406030204" pitchFamily="18" charset="0"/>
                          </a:rPr>
                          <m:t>=1</m:t>
                        </m:r>
                      </m:sub>
                      <m:sup>
                        <m:r>
                          <a:rPr lang="pl-PL" i="1">
                            <a:latin typeface="Cambria Math" panose="02040503050406030204" pitchFamily="18" charset="0"/>
                            <a:ea typeface="Cambria Math" panose="02040503050406030204" pitchFamily="18" charset="0"/>
                          </a:rPr>
                          <m:t>𝐾</m:t>
                        </m:r>
                      </m:sup>
                    </m:sSubSup>
                    <m:sSub>
                      <m:sSubPr>
                        <m:ctrlPr>
                          <a:rPr lang="pl-PL"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pl-PL" i="1">
                            <a:latin typeface="Cambria Math" panose="02040503050406030204" pitchFamily="18" charset="0"/>
                            <a:ea typeface="Cambria Math" panose="02040503050406030204" pitchFamily="18" charset="0"/>
                          </a:rPr>
                          <m:t>𝑖</m:t>
                        </m:r>
                        <m:r>
                          <a:rPr lang="pl-PL" i="1">
                            <a:latin typeface="Cambria Math" panose="02040503050406030204" pitchFamily="18" charset="0"/>
                            <a:ea typeface="Cambria Math" panose="02040503050406030204" pitchFamily="18" charset="0"/>
                          </a:rPr>
                          <m:t>:</m:t>
                        </m:r>
                        <m:r>
                          <a:rPr lang="pl-PL" i="1">
                            <a:latin typeface="Cambria Math" panose="02040503050406030204" pitchFamily="18" charset="0"/>
                            <a:ea typeface="Cambria Math" panose="02040503050406030204" pitchFamily="18" charset="0"/>
                          </a:rPr>
                          <m:t>𝑦𝑖</m:t>
                        </m:r>
                        <m:r>
                          <a:rPr lang="pl-PL" i="1">
                            <a:latin typeface="Cambria Math" panose="02040503050406030204" pitchFamily="18" charset="0"/>
                            <a:ea typeface="Cambria Math" panose="02040503050406030204" pitchFamily="18" charset="0"/>
                          </a:rPr>
                          <m:t>=</m:t>
                        </m:r>
                        <m:r>
                          <a:rPr lang="pl-PL" i="1">
                            <a:latin typeface="Cambria Math" panose="02040503050406030204" pitchFamily="18" charset="0"/>
                            <a:ea typeface="Cambria Math" panose="02040503050406030204" pitchFamily="18" charset="0"/>
                          </a:rPr>
                          <m:t>𝑘</m:t>
                        </m:r>
                      </m:sub>
                    </m:sSub>
                    <m:d>
                      <m:dPr>
                        <m:ctrlPr>
                          <a:rPr lang="pl-PL" i="1">
                            <a:latin typeface="Cambria Math" panose="02040503050406030204" pitchFamily="18" charset="0"/>
                            <a:ea typeface="Cambria Math" panose="02040503050406030204" pitchFamily="18" charset="0"/>
                          </a:rPr>
                        </m:ctrlPr>
                      </m:dPr>
                      <m:e>
                        <m:sSub>
                          <m:sSubPr>
                            <m:ctrlPr>
                              <a:rPr lang="pl-PL" i="1">
                                <a:latin typeface="Cambria Math" panose="02040503050406030204" pitchFamily="18" charset="0"/>
                                <a:ea typeface="Cambria Math" panose="02040503050406030204" pitchFamily="18" charset="0"/>
                              </a:rPr>
                            </m:ctrlPr>
                          </m:sSubPr>
                          <m:e>
                            <m:r>
                              <a:rPr lang="pl-PL" i="1">
                                <a:latin typeface="Cambria Math" panose="02040503050406030204" pitchFamily="18" charset="0"/>
                                <a:ea typeface="Cambria Math" panose="02040503050406030204" pitchFamily="18" charset="0"/>
                              </a:rPr>
                              <m:t>𝑥</m:t>
                            </m:r>
                          </m:e>
                          <m:sub>
                            <m:r>
                              <a:rPr lang="pl-PL" i="1">
                                <a:latin typeface="Cambria Math" panose="02040503050406030204" pitchFamily="18" charset="0"/>
                                <a:ea typeface="Cambria Math" panose="02040503050406030204" pitchFamily="18" charset="0"/>
                              </a:rPr>
                              <m:t>𝑖</m:t>
                            </m:r>
                          </m:sub>
                        </m:sSub>
                        <m:r>
                          <a:rPr lang="pl-PL" i="1">
                            <a:latin typeface="Cambria Math" panose="02040503050406030204" pitchFamily="18" charset="0"/>
                            <a:ea typeface="Cambria Math" panose="02040503050406030204" pitchFamily="18" charset="0"/>
                          </a:rPr>
                          <m:t>−</m:t>
                        </m:r>
                        <m:sSub>
                          <m:sSubPr>
                            <m:ctrlPr>
                              <a:rPr lang="pl-PL" i="1">
                                <a:latin typeface="Cambria Math" panose="02040503050406030204" pitchFamily="18" charset="0"/>
                                <a:ea typeface="Cambria Math" panose="02040503050406030204" pitchFamily="18" charset="0"/>
                              </a:rPr>
                            </m:ctrlPr>
                          </m:sSubPr>
                          <m:e>
                            <m:acc>
                              <m:accPr>
                                <m:chr m:val="̂"/>
                                <m:ctrlPr>
                                  <a:rPr lang="pl-PL" i="1">
                                    <a:latin typeface="Cambria Math" panose="02040503050406030204" pitchFamily="18" charset="0"/>
                                    <a:ea typeface="Cambria Math" panose="02040503050406030204" pitchFamily="18" charset="0"/>
                                  </a:rPr>
                                </m:ctrlPr>
                              </m:accPr>
                              <m:e>
                                <m:r>
                                  <a:rPr lang="pl-PL" i="1">
                                    <a:latin typeface="Cambria Math" panose="02040503050406030204" pitchFamily="18" charset="0"/>
                                    <a:ea typeface="Cambria Math" panose="02040503050406030204" pitchFamily="18" charset="0"/>
                                  </a:rPr>
                                  <m:t>𝜇</m:t>
                                </m:r>
                              </m:e>
                            </m:acc>
                          </m:e>
                          <m:sub>
                            <m:r>
                              <a:rPr lang="pl-PL" i="1">
                                <a:latin typeface="Cambria Math" panose="02040503050406030204" pitchFamily="18" charset="0"/>
                                <a:ea typeface="Cambria Math" panose="02040503050406030204" pitchFamily="18" charset="0"/>
                              </a:rPr>
                              <m:t>𝑘</m:t>
                            </m:r>
                          </m:sub>
                        </m:sSub>
                      </m:e>
                    </m:d>
                    <m:d>
                      <m:dPr>
                        <m:ctrlPr>
                          <a:rPr lang="pl-PL" i="1">
                            <a:latin typeface="Cambria Math" panose="02040503050406030204" pitchFamily="18" charset="0"/>
                            <a:ea typeface="Cambria Math" panose="02040503050406030204" pitchFamily="18" charset="0"/>
                          </a:rPr>
                        </m:ctrlPr>
                      </m:dPr>
                      <m:e>
                        <m:sSub>
                          <m:sSubPr>
                            <m:ctrlPr>
                              <a:rPr lang="pl-PL" i="1">
                                <a:latin typeface="Cambria Math" panose="02040503050406030204" pitchFamily="18" charset="0"/>
                                <a:ea typeface="Cambria Math" panose="02040503050406030204" pitchFamily="18" charset="0"/>
                              </a:rPr>
                            </m:ctrlPr>
                          </m:sSubPr>
                          <m:e>
                            <m:r>
                              <a:rPr lang="pl-PL" i="1">
                                <a:latin typeface="Cambria Math" panose="02040503050406030204" pitchFamily="18" charset="0"/>
                                <a:ea typeface="Cambria Math" panose="02040503050406030204" pitchFamily="18" charset="0"/>
                              </a:rPr>
                              <m:t>𝑥</m:t>
                            </m:r>
                          </m:e>
                          <m:sub>
                            <m:r>
                              <a:rPr lang="pl-PL" i="1">
                                <a:latin typeface="Cambria Math" panose="02040503050406030204" pitchFamily="18" charset="0"/>
                                <a:ea typeface="Cambria Math" panose="02040503050406030204" pitchFamily="18" charset="0"/>
                              </a:rPr>
                              <m:t>𝑖</m:t>
                            </m:r>
                          </m:sub>
                        </m:sSub>
                        <m:r>
                          <a:rPr lang="pl-PL" i="1">
                            <a:latin typeface="Cambria Math" panose="02040503050406030204" pitchFamily="18" charset="0"/>
                            <a:ea typeface="Cambria Math" panose="02040503050406030204" pitchFamily="18" charset="0"/>
                          </a:rPr>
                          <m:t>−</m:t>
                        </m:r>
                        <m:sSub>
                          <m:sSubPr>
                            <m:ctrlPr>
                              <a:rPr lang="pl-PL" i="1">
                                <a:latin typeface="Cambria Math" panose="02040503050406030204" pitchFamily="18" charset="0"/>
                                <a:ea typeface="Cambria Math" panose="02040503050406030204" pitchFamily="18" charset="0"/>
                              </a:rPr>
                            </m:ctrlPr>
                          </m:sSubPr>
                          <m:e>
                            <m:acc>
                              <m:accPr>
                                <m:chr m:val="̂"/>
                                <m:ctrlPr>
                                  <a:rPr lang="pl-PL" i="1">
                                    <a:latin typeface="Cambria Math" panose="02040503050406030204" pitchFamily="18" charset="0"/>
                                    <a:ea typeface="Cambria Math" panose="02040503050406030204" pitchFamily="18" charset="0"/>
                                  </a:rPr>
                                </m:ctrlPr>
                              </m:accPr>
                              <m:e>
                                <m:r>
                                  <a:rPr lang="pl-PL" i="1">
                                    <a:latin typeface="Cambria Math" panose="02040503050406030204" pitchFamily="18" charset="0"/>
                                    <a:ea typeface="Cambria Math" panose="02040503050406030204" pitchFamily="18" charset="0"/>
                                  </a:rPr>
                                  <m:t>𝜇</m:t>
                                </m:r>
                              </m:e>
                            </m:acc>
                          </m:e>
                          <m:sub>
                            <m:r>
                              <a:rPr lang="pl-PL" i="1">
                                <a:latin typeface="Cambria Math" panose="02040503050406030204" pitchFamily="18" charset="0"/>
                                <a:ea typeface="Cambria Math" panose="02040503050406030204" pitchFamily="18" charset="0"/>
                              </a:rPr>
                              <m:t>𝑘</m:t>
                            </m:r>
                          </m:sub>
                        </m:sSub>
                      </m:e>
                    </m:d>
                    <m:r>
                      <a:rPr lang="pl-PL" i="1" baseline="30000">
                        <a:latin typeface="Cambria Math" panose="02040503050406030204" pitchFamily="18" charset="0"/>
                        <a:ea typeface="Cambria Math" panose="02040503050406030204" pitchFamily="18" charset="0"/>
                      </a:rPr>
                      <m:t>𝑇</m:t>
                    </m:r>
                  </m:oMath>
                </a14:m>
                <a:endParaRPr lang="pl-PL" baseline="30000" dirty="0"/>
              </a:p>
              <a:p>
                <a:endParaRPr lang="pl-PL" baseline="30000" dirty="0"/>
              </a:p>
              <a:p>
                <a:endParaRPr lang="pl-PL" baseline="30000" dirty="0"/>
              </a:p>
              <a:p>
                <a14:m>
                  <m:oMath xmlns:m="http://schemas.openxmlformats.org/officeDocument/2006/math">
                    <m:acc>
                      <m:accPr>
                        <m:chr m:val="̂"/>
                        <m:ctrlPr>
                          <a:rPr lang="el-GR" i="1" smtClean="0">
                            <a:latin typeface="Cambria Math" panose="02040503050406030204" pitchFamily="18" charset="0"/>
                            <a:ea typeface="Cambria Math" panose="02040503050406030204" pitchFamily="18" charset="0"/>
                          </a:rPr>
                        </m:ctrlPr>
                      </m:accPr>
                      <m:e>
                        <m:r>
                          <m:rPr>
                            <m:sty m:val="p"/>
                          </m:rPr>
                          <a:rPr lang="el-GR" i="1">
                            <a:latin typeface="Cambria Math" panose="02040503050406030204" pitchFamily="18" charset="0"/>
                            <a:ea typeface="Cambria Math" panose="02040503050406030204" pitchFamily="18" charset="0"/>
                          </a:rPr>
                          <m:t>Σ</m:t>
                        </m:r>
                      </m:e>
                    </m:acc>
                    <m:r>
                      <a:rPr lang="pl-PL" b="0" i="1" smtClean="0">
                        <a:latin typeface="Cambria Math" panose="02040503050406030204" pitchFamily="18" charset="0"/>
                        <a:ea typeface="Cambria Math" panose="02040503050406030204" pitchFamily="18" charset="0"/>
                      </a:rPr>
                      <m:t>=</m:t>
                    </m:r>
                    <m:f>
                      <m:fPr>
                        <m:ctrlPr>
                          <a:rPr lang="pl-PL" b="0" i="1" smtClean="0">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a:rPr lang="pl-PL" b="0" i="1" smtClean="0">
                            <a:latin typeface="Cambria Math" panose="02040503050406030204" pitchFamily="18" charset="0"/>
                            <a:ea typeface="Cambria Math" panose="02040503050406030204" pitchFamily="18" charset="0"/>
                          </a:rPr>
                          <m:t>4</m:t>
                        </m:r>
                      </m:den>
                    </m:f>
                    <m:r>
                      <a:rPr lang="pl-PL" b="0" i="1" smtClean="0">
                        <a:latin typeface="Cambria Math" panose="02040503050406030204" pitchFamily="18" charset="0"/>
                        <a:ea typeface="Cambria Math" panose="02040503050406030204" pitchFamily="18" charset="0"/>
                      </a:rPr>
                      <m:t>∗ </m:t>
                    </m:r>
                    <m:d>
                      <m:dPr>
                        <m:begChr m:val="["/>
                        <m:endChr m:val="]"/>
                        <m:ctrlPr>
                          <a:rPr lang="pl-PL" b="0" i="1" smtClean="0">
                            <a:latin typeface="Cambria Math" panose="02040503050406030204" pitchFamily="18" charset="0"/>
                            <a:ea typeface="Cambria Math" panose="02040503050406030204" pitchFamily="18" charset="0"/>
                          </a:rPr>
                        </m:ctrlPr>
                      </m:dPr>
                      <m:e>
                        <m:m>
                          <m:mPr>
                            <m:mcs>
                              <m:mc>
                                <m:mcPr>
                                  <m:count m:val="2"/>
                                  <m:mcJc m:val="center"/>
                                </m:mcPr>
                              </m:mc>
                            </m:mcs>
                            <m:ctrlPr>
                              <a:rPr lang="pl-PL" i="1">
                                <a:latin typeface="Cambria Math" panose="02040503050406030204" pitchFamily="18" charset="0"/>
                                <a:ea typeface="Cambria Math" panose="02040503050406030204" pitchFamily="18" charset="0"/>
                              </a:rPr>
                            </m:ctrlPr>
                          </m:mPr>
                          <m:mr>
                            <m:e>
                              <m:f>
                                <m:fPr>
                                  <m:ctrlPr>
                                    <a:rPr lang="pl-PL" b="0" i="1" smtClean="0">
                                      <a:latin typeface="Cambria Math" panose="02040503050406030204" pitchFamily="18" charset="0"/>
                                      <a:ea typeface="Cambria Math" panose="02040503050406030204" pitchFamily="18" charset="0"/>
                                    </a:rPr>
                                  </m:ctrlPr>
                                </m:fPr>
                                <m:num>
                                  <m:r>
                                    <m:rPr>
                                      <m:brk m:alnAt="7"/>
                                    </m:rPr>
                                    <a:rPr lang="pl-PL" b="0" i="1" smtClean="0">
                                      <a:latin typeface="Cambria Math" panose="02040503050406030204" pitchFamily="18" charset="0"/>
                                      <a:ea typeface="Cambria Math" panose="02040503050406030204" pitchFamily="18" charset="0"/>
                                    </a:rPr>
                                    <m:t>4</m:t>
                                  </m:r>
                                </m:num>
                                <m:den>
                                  <m:r>
                                    <m:rPr>
                                      <m:brk m:alnAt="7"/>
                                    </m:rPr>
                                    <a:rPr lang="pl-PL" b="0" i="1" smtClean="0">
                                      <a:latin typeface="Cambria Math" panose="02040503050406030204" pitchFamily="18" charset="0"/>
                                      <a:ea typeface="Cambria Math" panose="02040503050406030204" pitchFamily="18" charset="0"/>
                                    </a:rPr>
                                    <m:t>3</m:t>
                                  </m:r>
                                </m:den>
                              </m:f>
                            </m:e>
                            <m:e>
                              <m:f>
                                <m:fPr>
                                  <m:ctrlPr>
                                    <a:rPr lang="pl-PL" b="0" i="1" smtClean="0">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2</m:t>
                                  </m:r>
                                </m:num>
                                <m:den>
                                  <m:r>
                                    <a:rPr lang="pl-PL" b="0" i="1" smtClean="0">
                                      <a:latin typeface="Cambria Math" panose="02040503050406030204" pitchFamily="18" charset="0"/>
                                      <a:ea typeface="Cambria Math" panose="02040503050406030204" pitchFamily="18" charset="0"/>
                                    </a:rPr>
                                    <m:t>3</m:t>
                                  </m:r>
                                </m:den>
                              </m:f>
                            </m:e>
                          </m:mr>
                          <m:mr>
                            <m:e>
                              <m:f>
                                <m:fPr>
                                  <m:ctrlPr>
                                    <a:rPr lang="pl-PL" b="0" i="1" smtClean="0">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2</m:t>
                                  </m:r>
                                </m:num>
                                <m:den>
                                  <m:r>
                                    <a:rPr lang="pl-PL" b="0" i="1" smtClean="0">
                                      <a:latin typeface="Cambria Math" panose="02040503050406030204" pitchFamily="18" charset="0"/>
                                      <a:ea typeface="Cambria Math" panose="02040503050406030204" pitchFamily="18" charset="0"/>
                                    </a:rPr>
                                    <m:t>3</m:t>
                                  </m:r>
                                </m:den>
                              </m:f>
                            </m:e>
                            <m:e>
                              <m:f>
                                <m:fPr>
                                  <m:ctrlPr>
                                    <a:rPr lang="pl-PL" b="0" i="1" smtClean="0">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4</m:t>
                                  </m:r>
                                </m:num>
                                <m:den>
                                  <m:r>
                                    <a:rPr lang="pl-PL" b="0" i="1" smtClean="0">
                                      <a:latin typeface="Cambria Math" panose="02040503050406030204" pitchFamily="18" charset="0"/>
                                      <a:ea typeface="Cambria Math" panose="02040503050406030204" pitchFamily="18" charset="0"/>
                                    </a:rPr>
                                    <m:t>3</m:t>
                                  </m:r>
                                </m:den>
                              </m:f>
                            </m:e>
                          </m:mr>
                        </m:m>
                      </m:e>
                    </m:d>
                    <m:r>
                      <a:rPr lang="pl-PL" b="0" i="1" smtClean="0">
                        <a:latin typeface="Cambria Math" panose="02040503050406030204" pitchFamily="18" charset="0"/>
                        <a:ea typeface="Cambria Math" panose="02040503050406030204" pitchFamily="18" charset="0"/>
                      </a:rPr>
                      <m:t>=</m:t>
                    </m:r>
                    <m:d>
                      <m:dPr>
                        <m:begChr m:val="["/>
                        <m:endChr m:val="]"/>
                        <m:ctrlPr>
                          <a:rPr lang="pl-PL" i="1">
                            <a:latin typeface="Cambria Math" panose="02040503050406030204" pitchFamily="18" charset="0"/>
                            <a:ea typeface="Cambria Math" panose="02040503050406030204" pitchFamily="18" charset="0"/>
                          </a:rPr>
                        </m:ctrlPr>
                      </m:dPr>
                      <m:e>
                        <m:m>
                          <m:mPr>
                            <m:mcs>
                              <m:mc>
                                <m:mcPr>
                                  <m:count m:val="2"/>
                                  <m:mcJc m:val="center"/>
                                </m:mcPr>
                              </m:mc>
                            </m:mcs>
                            <m:ctrlPr>
                              <a:rPr lang="pl-PL" i="1">
                                <a:latin typeface="Cambria Math" panose="02040503050406030204" pitchFamily="18" charset="0"/>
                                <a:ea typeface="Cambria Math" panose="02040503050406030204" pitchFamily="18" charset="0"/>
                              </a:rPr>
                            </m:ctrlPr>
                          </m:mPr>
                          <m:mr>
                            <m:e>
                              <m:f>
                                <m:fPr>
                                  <m:ctrlPr>
                                    <a:rPr lang="pl-PL" i="1">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m:rPr>
                                      <m:brk m:alnAt="7"/>
                                    </m:rPr>
                                    <a:rPr lang="pl-PL" i="1">
                                      <a:latin typeface="Cambria Math" panose="02040503050406030204" pitchFamily="18" charset="0"/>
                                      <a:ea typeface="Cambria Math" panose="02040503050406030204" pitchFamily="18" charset="0"/>
                                    </a:rPr>
                                    <m:t>3</m:t>
                                  </m:r>
                                </m:den>
                              </m:f>
                            </m:e>
                            <m:e>
                              <m:f>
                                <m:fPr>
                                  <m:ctrlPr>
                                    <a:rPr lang="pl-PL" i="1">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a:rPr lang="pl-PL" b="0" i="1" smtClean="0">
                                      <a:latin typeface="Cambria Math" panose="02040503050406030204" pitchFamily="18" charset="0"/>
                                      <a:ea typeface="Cambria Math" panose="02040503050406030204" pitchFamily="18" charset="0"/>
                                    </a:rPr>
                                    <m:t>6</m:t>
                                  </m:r>
                                </m:den>
                              </m:f>
                            </m:e>
                          </m:mr>
                          <m:mr>
                            <m:e>
                              <m:f>
                                <m:fPr>
                                  <m:ctrlPr>
                                    <a:rPr lang="pl-PL" i="1">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a:rPr lang="pl-PL" b="0" i="1" smtClean="0">
                                      <a:latin typeface="Cambria Math" panose="02040503050406030204" pitchFamily="18" charset="0"/>
                                      <a:ea typeface="Cambria Math" panose="02040503050406030204" pitchFamily="18" charset="0"/>
                                    </a:rPr>
                                    <m:t>6</m:t>
                                  </m:r>
                                </m:den>
                              </m:f>
                            </m:e>
                            <m:e>
                              <m:f>
                                <m:fPr>
                                  <m:ctrlPr>
                                    <a:rPr lang="pl-PL" i="1">
                                      <a:latin typeface="Cambria Math" panose="02040503050406030204" pitchFamily="18" charset="0"/>
                                      <a:ea typeface="Cambria Math" panose="02040503050406030204" pitchFamily="18" charset="0"/>
                                    </a:rPr>
                                  </m:ctrlPr>
                                </m:fPr>
                                <m:num>
                                  <m:r>
                                    <a:rPr lang="pl-PL" b="0" i="1" smtClean="0">
                                      <a:latin typeface="Cambria Math" panose="02040503050406030204" pitchFamily="18" charset="0"/>
                                      <a:ea typeface="Cambria Math" panose="02040503050406030204" pitchFamily="18" charset="0"/>
                                    </a:rPr>
                                    <m:t>1</m:t>
                                  </m:r>
                                </m:num>
                                <m:den>
                                  <m:r>
                                    <a:rPr lang="pl-PL" i="1">
                                      <a:latin typeface="Cambria Math" panose="02040503050406030204" pitchFamily="18" charset="0"/>
                                      <a:ea typeface="Cambria Math" panose="02040503050406030204" pitchFamily="18" charset="0"/>
                                    </a:rPr>
                                    <m:t>3</m:t>
                                  </m:r>
                                </m:den>
                              </m:f>
                            </m:e>
                          </m:mr>
                        </m:m>
                      </m:e>
                    </m:d>
                  </m:oMath>
                </a14:m>
                <a:r>
                  <a:rPr lang="pl-PL" dirty="0"/>
                  <a:t> </a:t>
                </a:r>
                <a:r>
                  <a:rPr lang="pl-PL" dirty="0" err="1"/>
                  <a:t>because</a:t>
                </a:r>
                <a:r>
                  <a:rPr lang="pl-PL" dirty="0"/>
                  <a:t>… (on the </a:t>
                </a:r>
                <a:r>
                  <a:rPr lang="pl-PL" dirty="0" err="1"/>
                  <a:t>next</a:t>
                </a:r>
                <a:r>
                  <a:rPr lang="pl-PL" dirty="0"/>
                  <a:t> </a:t>
                </a:r>
                <a:r>
                  <a:rPr lang="pl-PL" dirty="0" err="1"/>
                  <a:t>slide</a:t>
                </a:r>
                <a:r>
                  <a:rPr lang="pl-PL" dirty="0"/>
                  <a:t>)</a:t>
                </a:r>
              </a:p>
            </p:txBody>
          </p:sp>
        </mc:Choice>
        <mc:Fallback xmlns="">
          <p:sp>
            <p:nvSpPr>
              <p:cNvPr id="3" name="Symbol zastępczy zawartości 2">
                <a:extLst>
                  <a:ext uri="{FF2B5EF4-FFF2-40B4-BE49-F238E27FC236}">
                    <a16:creationId xmlns:a16="http://schemas.microsoft.com/office/drawing/2014/main" id="{34EB39DA-D958-461E-8DF3-C4E8D7A31DB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70580630-DFB7-460E-9002-C55C1036D697}"/>
              </a:ext>
            </a:extLst>
          </p:cNvPr>
          <p:cNvSpPr>
            <a:spLocks noGrp="1"/>
          </p:cNvSpPr>
          <p:nvPr>
            <p:ph type="sldNum" sz="quarter" idx="12"/>
          </p:nvPr>
        </p:nvSpPr>
        <p:spPr/>
        <p:txBody>
          <a:bodyPr/>
          <a:lstStyle/>
          <a:p>
            <a:fld id="{A7544F9A-EF6A-47CB-A458-C95835DAEA60}" type="slidenum">
              <a:rPr lang="pl-PL" smtClean="0"/>
              <a:t>21</a:t>
            </a:fld>
            <a:endParaRPr lang="pl-PL"/>
          </a:p>
        </p:txBody>
      </p:sp>
    </p:spTree>
    <p:extLst>
      <p:ext uri="{BB962C8B-B14F-4D97-AF65-F5344CB8AC3E}">
        <p14:creationId xmlns:p14="http://schemas.microsoft.com/office/powerpoint/2010/main" val="4163864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5F412BF-F09D-4E7A-BEB2-7CA34F5A7200}"/>
              </a:ext>
            </a:extLst>
          </p:cNvPr>
          <p:cNvSpPr>
            <a:spLocks noGrp="1"/>
          </p:cNvSpPr>
          <p:nvPr>
            <p:ph type="title"/>
          </p:nvPr>
        </p:nvSpPr>
        <p:spPr>
          <a:xfrm>
            <a:off x="838200" y="0"/>
            <a:ext cx="10515600" cy="646929"/>
          </a:xfrm>
        </p:spPr>
        <p:txBody>
          <a:bodyPr>
            <a:normAutofit fontScale="90000"/>
          </a:bodyPr>
          <a:lstStyle/>
          <a:p>
            <a:r>
              <a:rPr lang="pl-PL" dirty="0" err="1"/>
              <a:t>Because</a:t>
            </a:r>
            <a:r>
              <a:rPr lang="pl-PL" dirty="0"/>
              <a:t>…</a:t>
            </a:r>
          </a:p>
        </p:txBody>
      </p:sp>
      <p:graphicFrame>
        <p:nvGraphicFramePr>
          <p:cNvPr id="5" name="Symbol zastępczy zawartości 4">
            <a:extLst>
              <a:ext uri="{FF2B5EF4-FFF2-40B4-BE49-F238E27FC236}">
                <a16:creationId xmlns:a16="http://schemas.microsoft.com/office/drawing/2014/main" id="{924AAF6B-D96C-4F9D-A9DA-25373311A4B0}"/>
              </a:ext>
            </a:extLst>
          </p:cNvPr>
          <p:cNvGraphicFramePr>
            <a:graphicFrameLocks noGrp="1"/>
          </p:cNvGraphicFramePr>
          <p:nvPr>
            <p:ph idx="1"/>
            <p:extLst>
              <p:ext uri="{D42A27DB-BD31-4B8C-83A1-F6EECF244321}">
                <p14:modId xmlns:p14="http://schemas.microsoft.com/office/powerpoint/2010/main" val="3584204178"/>
              </p:ext>
            </p:extLst>
          </p:nvPr>
        </p:nvGraphicFramePr>
        <p:xfrm>
          <a:off x="0" y="565636"/>
          <a:ext cx="12192002" cy="5280660"/>
        </p:xfrm>
        <a:graphic>
          <a:graphicData uri="http://schemas.openxmlformats.org/drawingml/2006/table">
            <a:tbl>
              <a:tblPr>
                <a:tableStyleId>{5C22544A-7EE6-4342-B048-85BDC9FD1C3A}</a:tableStyleId>
              </a:tblPr>
              <a:tblGrid>
                <a:gridCol w="818484">
                  <a:extLst>
                    <a:ext uri="{9D8B030D-6E8A-4147-A177-3AD203B41FA5}">
                      <a16:colId xmlns:a16="http://schemas.microsoft.com/office/drawing/2014/main" val="529127106"/>
                    </a:ext>
                  </a:extLst>
                </a:gridCol>
                <a:gridCol w="818484">
                  <a:extLst>
                    <a:ext uri="{9D8B030D-6E8A-4147-A177-3AD203B41FA5}">
                      <a16:colId xmlns:a16="http://schemas.microsoft.com/office/drawing/2014/main" val="973085034"/>
                    </a:ext>
                  </a:extLst>
                </a:gridCol>
                <a:gridCol w="818484">
                  <a:extLst>
                    <a:ext uri="{9D8B030D-6E8A-4147-A177-3AD203B41FA5}">
                      <a16:colId xmlns:a16="http://schemas.microsoft.com/office/drawing/2014/main" val="3025106291"/>
                    </a:ext>
                  </a:extLst>
                </a:gridCol>
                <a:gridCol w="818484">
                  <a:extLst>
                    <a:ext uri="{9D8B030D-6E8A-4147-A177-3AD203B41FA5}">
                      <a16:colId xmlns:a16="http://schemas.microsoft.com/office/drawing/2014/main" val="1586108311"/>
                    </a:ext>
                  </a:extLst>
                </a:gridCol>
                <a:gridCol w="818484">
                  <a:extLst>
                    <a:ext uri="{9D8B030D-6E8A-4147-A177-3AD203B41FA5}">
                      <a16:colId xmlns:a16="http://schemas.microsoft.com/office/drawing/2014/main" val="3381187203"/>
                    </a:ext>
                  </a:extLst>
                </a:gridCol>
                <a:gridCol w="124473">
                  <a:extLst>
                    <a:ext uri="{9D8B030D-6E8A-4147-A177-3AD203B41FA5}">
                      <a16:colId xmlns:a16="http://schemas.microsoft.com/office/drawing/2014/main" val="2917335726"/>
                    </a:ext>
                  </a:extLst>
                </a:gridCol>
                <a:gridCol w="915684">
                  <a:extLst>
                    <a:ext uri="{9D8B030D-6E8A-4147-A177-3AD203B41FA5}">
                      <a16:colId xmlns:a16="http://schemas.microsoft.com/office/drawing/2014/main" val="967444641"/>
                    </a:ext>
                  </a:extLst>
                </a:gridCol>
                <a:gridCol w="818484">
                  <a:extLst>
                    <a:ext uri="{9D8B030D-6E8A-4147-A177-3AD203B41FA5}">
                      <a16:colId xmlns:a16="http://schemas.microsoft.com/office/drawing/2014/main" val="4091010886"/>
                    </a:ext>
                  </a:extLst>
                </a:gridCol>
                <a:gridCol w="59122">
                  <a:extLst>
                    <a:ext uri="{9D8B030D-6E8A-4147-A177-3AD203B41FA5}">
                      <a16:colId xmlns:a16="http://schemas.microsoft.com/office/drawing/2014/main" val="1933134879"/>
                    </a:ext>
                  </a:extLst>
                </a:gridCol>
                <a:gridCol w="1049242">
                  <a:extLst>
                    <a:ext uri="{9D8B030D-6E8A-4147-A177-3AD203B41FA5}">
                      <a16:colId xmlns:a16="http://schemas.microsoft.com/office/drawing/2014/main" val="2412018430"/>
                    </a:ext>
                  </a:extLst>
                </a:gridCol>
                <a:gridCol w="818484">
                  <a:extLst>
                    <a:ext uri="{9D8B030D-6E8A-4147-A177-3AD203B41FA5}">
                      <a16:colId xmlns:a16="http://schemas.microsoft.com/office/drawing/2014/main" val="3587092775"/>
                    </a:ext>
                  </a:extLst>
                </a:gridCol>
                <a:gridCol w="818484">
                  <a:extLst>
                    <a:ext uri="{9D8B030D-6E8A-4147-A177-3AD203B41FA5}">
                      <a16:colId xmlns:a16="http://schemas.microsoft.com/office/drawing/2014/main" val="3711259219"/>
                    </a:ext>
                  </a:extLst>
                </a:gridCol>
                <a:gridCol w="818484">
                  <a:extLst>
                    <a:ext uri="{9D8B030D-6E8A-4147-A177-3AD203B41FA5}">
                      <a16:colId xmlns:a16="http://schemas.microsoft.com/office/drawing/2014/main" val="2367932246"/>
                    </a:ext>
                  </a:extLst>
                </a:gridCol>
                <a:gridCol w="818484">
                  <a:extLst>
                    <a:ext uri="{9D8B030D-6E8A-4147-A177-3AD203B41FA5}">
                      <a16:colId xmlns:a16="http://schemas.microsoft.com/office/drawing/2014/main" val="909206802"/>
                    </a:ext>
                  </a:extLst>
                </a:gridCol>
                <a:gridCol w="221673">
                  <a:extLst>
                    <a:ext uri="{9D8B030D-6E8A-4147-A177-3AD203B41FA5}">
                      <a16:colId xmlns:a16="http://schemas.microsoft.com/office/drawing/2014/main" val="3067238890"/>
                    </a:ext>
                  </a:extLst>
                </a:gridCol>
                <a:gridCol w="818484">
                  <a:extLst>
                    <a:ext uri="{9D8B030D-6E8A-4147-A177-3AD203B41FA5}">
                      <a16:colId xmlns:a16="http://schemas.microsoft.com/office/drawing/2014/main" val="1595227086"/>
                    </a:ext>
                  </a:extLst>
                </a:gridCol>
                <a:gridCol w="818484">
                  <a:extLst>
                    <a:ext uri="{9D8B030D-6E8A-4147-A177-3AD203B41FA5}">
                      <a16:colId xmlns:a16="http://schemas.microsoft.com/office/drawing/2014/main" val="3778903362"/>
                    </a:ext>
                  </a:extLst>
                </a:gridCol>
              </a:tblGrid>
              <a:tr h="209163">
                <a:tc>
                  <a:txBody>
                    <a:bodyPr/>
                    <a:lstStyle/>
                    <a:p>
                      <a:pPr algn="r" fontAlgn="b"/>
                      <a:r>
                        <a:rPr lang="pl-PL" sz="1600" b="0" i="0" u="none" strike="noStrike" dirty="0">
                          <a:solidFill>
                            <a:schemeClr val="tx1"/>
                          </a:solidFill>
                          <a:effectLst/>
                          <a:latin typeface="Calibri" panose="020F0502020204030204" pitchFamily="34" charset="0"/>
                        </a:rPr>
                        <a:t>Class</a:t>
                      </a:r>
                    </a:p>
                  </a:txBody>
                  <a:tcPr marL="7620" marR="7620" marT="7620" marB="0" anchor="b"/>
                </a:tc>
                <a:tc>
                  <a:txBody>
                    <a:bodyPr/>
                    <a:lstStyle/>
                    <a:p>
                      <a:pPr algn="r" fontAlgn="b"/>
                      <a:r>
                        <a:rPr lang="pl-PL" sz="1600" b="0" i="0" u="none" strike="noStrike" dirty="0">
                          <a:solidFill>
                            <a:schemeClr val="tx1"/>
                          </a:solidFill>
                          <a:effectLst/>
                          <a:latin typeface="Calibri" panose="020F0502020204030204" pitchFamily="34" charset="0"/>
                        </a:rPr>
                        <a:t>x</a:t>
                      </a:r>
                    </a:p>
                  </a:txBody>
                  <a:tcPr marL="7620" marR="7620" marT="7620" marB="0" anchor="b"/>
                </a:tc>
                <a:tc>
                  <a:txBody>
                    <a:bodyPr/>
                    <a:lstStyle/>
                    <a:p>
                      <a:pPr algn="r" fontAlgn="b"/>
                      <a:r>
                        <a:rPr lang="pl-PL" sz="1600" b="0" i="0" u="none" strike="noStrike" dirty="0">
                          <a:solidFill>
                            <a:schemeClr val="tx1"/>
                          </a:solidFill>
                          <a:effectLst/>
                          <a:latin typeface="Calibri" panose="020F0502020204030204" pitchFamily="34" charset="0"/>
                        </a:rPr>
                        <a:t>y</a:t>
                      </a:r>
                    </a:p>
                  </a:txBody>
                  <a:tcPr marL="7620" marR="7620" marT="7620" marB="0" anchor="b"/>
                </a:tc>
                <a:tc>
                  <a:txBody>
                    <a:bodyPr/>
                    <a:lstStyle/>
                    <a:p>
                      <a:pPr algn="r" fontAlgn="b"/>
                      <a:r>
                        <a:rPr lang="pl-PL" sz="1600" b="0" i="0" u="none" strike="noStrike" dirty="0" err="1">
                          <a:solidFill>
                            <a:schemeClr val="tx1"/>
                          </a:solidFill>
                          <a:effectLst/>
                          <a:latin typeface="Calibri" panose="020F0502020204030204" pitchFamily="34" charset="0"/>
                        </a:rPr>
                        <a:t>avX</a:t>
                      </a:r>
                      <a:endParaRPr lang="pl-PL" sz="1600" b="0" i="0" u="none" strike="noStrike" dirty="0">
                        <a:solidFill>
                          <a:schemeClr val="tx1"/>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a:solidFill>
                            <a:schemeClr val="tx1"/>
                          </a:solidFill>
                          <a:effectLst/>
                          <a:latin typeface="Calibri" panose="020F0502020204030204" pitchFamily="34" charset="0"/>
                        </a:rPr>
                        <a:t>Av Y</a:t>
                      </a: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a:solidFill>
                            <a:srgbClr val="000000"/>
                          </a:solidFill>
                          <a:effectLst/>
                          <a:latin typeface="Calibri" panose="020F0502020204030204" pitchFamily="34" charset="0"/>
                        </a:rPr>
                        <a:t>X-</a:t>
                      </a:r>
                      <a:r>
                        <a:rPr lang="pl-PL" sz="1600" b="0" i="0" u="none" strike="noStrike" dirty="0" err="1">
                          <a:solidFill>
                            <a:srgbClr val="000000"/>
                          </a:solidFill>
                          <a:effectLst/>
                          <a:latin typeface="Calibri" panose="020F0502020204030204" pitchFamily="34" charset="0"/>
                        </a:rPr>
                        <a:t>avX</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a:solidFill>
                            <a:srgbClr val="000000"/>
                          </a:solidFill>
                          <a:effectLst/>
                          <a:latin typeface="Calibri" panose="020F0502020204030204" pitchFamily="34" charset="0"/>
                        </a:rPr>
                        <a:t>Y-</a:t>
                      </a:r>
                      <a:r>
                        <a:rPr lang="pl-PL" sz="1600" b="0" i="0" u="none" strike="noStrike" dirty="0" err="1">
                          <a:solidFill>
                            <a:srgbClr val="000000"/>
                          </a:solidFill>
                          <a:effectLst/>
                          <a:latin typeface="Calibri" panose="020F0502020204030204" pitchFamily="34" charset="0"/>
                        </a:rPr>
                        <a:t>avY</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err="1">
                          <a:solidFill>
                            <a:srgbClr val="000000"/>
                          </a:solidFill>
                          <a:effectLst/>
                          <a:latin typeface="Calibri" panose="020F0502020204030204" pitchFamily="34" charset="0"/>
                        </a:rPr>
                        <a:t>transposed</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X-</a:t>
                      </a:r>
                      <a:r>
                        <a:rPr lang="pl-PL" sz="1600" b="0" i="0" u="none" strike="noStrike" dirty="0" err="1">
                          <a:solidFill>
                            <a:srgbClr val="000000"/>
                          </a:solidFill>
                          <a:effectLst/>
                          <a:latin typeface="Calibri" panose="020F0502020204030204" pitchFamily="34" charset="0"/>
                        </a:rPr>
                        <a:t>avX</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Y-</a:t>
                      </a:r>
                      <a:r>
                        <a:rPr lang="pl-PL" sz="1600" b="0" i="0" u="none" strike="noStrike" dirty="0" err="1">
                          <a:solidFill>
                            <a:srgbClr val="000000"/>
                          </a:solidFill>
                          <a:effectLst/>
                          <a:latin typeface="Calibri" panose="020F0502020204030204" pitchFamily="34" charset="0"/>
                        </a:rPr>
                        <a:t>avY</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err="1">
                          <a:solidFill>
                            <a:srgbClr val="000000"/>
                          </a:solidFill>
                          <a:effectLst/>
                          <a:latin typeface="Calibri" panose="020F0502020204030204" pitchFamily="34" charset="0"/>
                        </a:rPr>
                        <a:t>product</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b="0" i="0" u="none" strike="noStrike" dirty="0" err="1">
                          <a:solidFill>
                            <a:srgbClr val="000000"/>
                          </a:solidFill>
                          <a:effectLst/>
                          <a:latin typeface="Calibri" panose="020F0502020204030204" pitchFamily="34" charset="0"/>
                        </a:rPr>
                        <a:t>product</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04089498"/>
                  </a:ext>
                </a:extLst>
              </a:tr>
              <a:tr h="182880">
                <a:tc>
                  <a:txBody>
                    <a:bodyPr/>
                    <a:lstStyle/>
                    <a:p>
                      <a:pPr algn="r" fontAlgn="b"/>
                      <a:r>
                        <a:rPr lang="pl-PL" sz="1600" b="0" i="0" u="none" strike="noStrike" dirty="0">
                          <a:solidFill>
                            <a:srgbClr val="FF0000"/>
                          </a:solidFill>
                          <a:effectLst/>
                          <a:latin typeface="Calibri" panose="020F0502020204030204" pitchFamily="34" charset="0"/>
                        </a:rPr>
                        <a:t>1</a:t>
                      </a:r>
                    </a:p>
                  </a:txBody>
                  <a:tcPr marL="7620" marR="7620" marT="7620" marB="0" anchor="b"/>
                </a:tc>
                <a:tc>
                  <a:txBody>
                    <a:bodyPr/>
                    <a:lstStyle/>
                    <a:p>
                      <a:pPr algn="r" fontAlgn="b"/>
                      <a:r>
                        <a:rPr lang="pl-PL" sz="1600" u="none" strike="noStrike" dirty="0">
                          <a:solidFill>
                            <a:srgbClr val="FF0000"/>
                          </a:solidFill>
                          <a:effectLst/>
                        </a:rPr>
                        <a:t>1</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FF0000"/>
                          </a:solidFill>
                          <a:effectLst/>
                        </a:rPr>
                        <a:t>3</a:t>
                      </a:r>
                      <a:endParaRPr lang="pl-PL" sz="16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FF0000"/>
                          </a:solidFill>
                          <a:effectLst/>
                        </a:rPr>
                        <a:t>1.666667</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FF0000"/>
                          </a:solidFill>
                          <a:effectLst/>
                        </a:rPr>
                        <a:t>3.333333</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-0.66667</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-0.33333</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-0.66667</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0.444444</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0.222222</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84055588"/>
                  </a:ext>
                </a:extLst>
              </a:tr>
              <a:tr h="247781">
                <a:tc>
                  <a:txBody>
                    <a:bodyPr/>
                    <a:lstStyle/>
                    <a:p>
                      <a:pPr algn="r" fontAlgn="b"/>
                      <a:r>
                        <a:rPr lang="pl-PL" sz="1600" b="0" i="0" u="none" strike="noStrike" dirty="0">
                          <a:solidFill>
                            <a:srgbClr val="FF0000"/>
                          </a:solidFill>
                          <a:effectLst/>
                          <a:latin typeface="Calibri" panose="020F0502020204030204" pitchFamily="34" charset="0"/>
                        </a:rPr>
                        <a:t>1</a:t>
                      </a:r>
                    </a:p>
                  </a:txBody>
                  <a:tcPr marL="7620" marR="7620" marT="7620" marB="0" anchor="b"/>
                </a:tc>
                <a:tc>
                  <a:txBody>
                    <a:bodyPr/>
                    <a:lstStyle/>
                    <a:p>
                      <a:pPr algn="r" fontAlgn="b"/>
                      <a:r>
                        <a:rPr lang="pl-PL" sz="1600" u="none" strike="noStrike" dirty="0">
                          <a:solidFill>
                            <a:srgbClr val="FF0000"/>
                          </a:solidFill>
                          <a:effectLst/>
                        </a:rPr>
                        <a:t>2</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FF0000"/>
                          </a:solidFill>
                          <a:effectLst/>
                        </a:rPr>
                        <a:t>3</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0.333333</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-0.33333</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-0.33333</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-0.66667</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-0.33333</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1">
                              <a:lumMod val="60000"/>
                              <a:lumOff val="40000"/>
                            </a:schemeClr>
                          </a:solidFill>
                          <a:effectLst/>
                        </a:rPr>
                        <a:t>0.222222</a:t>
                      </a:r>
                      <a:endParaRPr lang="pl-PL" sz="1600" b="0" i="0" u="none" strike="noStrike">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1">
                              <a:lumMod val="60000"/>
                              <a:lumOff val="40000"/>
                            </a:schemeClr>
                          </a:solidFill>
                          <a:effectLst/>
                        </a:rPr>
                        <a:t>0.111111</a:t>
                      </a:r>
                      <a:endParaRPr lang="pl-PL" sz="1600" b="0" i="0" u="none" strike="noStrike" dirty="0">
                        <a:solidFill>
                          <a:schemeClr val="accent1">
                            <a:lumMod val="60000"/>
                            <a:lumOff val="40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29760614"/>
                  </a:ext>
                </a:extLst>
              </a:tr>
              <a:tr h="182880">
                <a:tc>
                  <a:txBody>
                    <a:bodyPr/>
                    <a:lstStyle/>
                    <a:p>
                      <a:pPr algn="r" fontAlgn="b"/>
                      <a:r>
                        <a:rPr lang="pl-PL" sz="1600" b="0" i="0" u="none" strike="noStrike" dirty="0">
                          <a:solidFill>
                            <a:srgbClr val="FF0000"/>
                          </a:solidFill>
                          <a:effectLst/>
                          <a:latin typeface="Calibri" panose="020F0502020204030204" pitchFamily="34" charset="0"/>
                        </a:rPr>
                        <a:t>1</a:t>
                      </a:r>
                    </a:p>
                  </a:txBody>
                  <a:tcPr marL="7620" marR="7620" marT="7620" marB="0" anchor="b"/>
                </a:tc>
                <a:tc>
                  <a:txBody>
                    <a:bodyPr/>
                    <a:lstStyle/>
                    <a:p>
                      <a:pPr algn="r" fontAlgn="b"/>
                      <a:r>
                        <a:rPr lang="pl-PL" sz="1600" u="none" strike="noStrike">
                          <a:solidFill>
                            <a:srgbClr val="FF0000"/>
                          </a:solidFill>
                          <a:effectLst/>
                        </a:rPr>
                        <a:t>2</a:t>
                      </a:r>
                      <a:endParaRPr lang="pl-PL" sz="16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FF0000"/>
                          </a:solidFill>
                          <a:effectLst/>
                        </a:rPr>
                        <a:t>4</a:t>
                      </a:r>
                      <a:endParaRPr lang="pl-PL" sz="16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0.333333</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0.666667</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7544962"/>
                  </a:ext>
                </a:extLst>
              </a:tr>
              <a:tr h="182880">
                <a:tc>
                  <a:txBody>
                    <a:bodyPr/>
                    <a:lstStyle/>
                    <a:p>
                      <a:pPr algn="r" fontAlgn="b"/>
                      <a:r>
                        <a:rPr lang="pl-PL" sz="1600" b="0" i="0" u="none" strike="noStrike" dirty="0">
                          <a:solidFill>
                            <a:schemeClr val="tx1"/>
                          </a:solidFill>
                          <a:effectLst/>
                          <a:latin typeface="Calibri" panose="020F0502020204030204" pitchFamily="34" charset="0"/>
                        </a:rPr>
                        <a:t>2</a:t>
                      </a:r>
                    </a:p>
                  </a:txBody>
                  <a:tcPr marL="7620" marR="7620" marT="7620" marB="0" anchor="b"/>
                </a:tc>
                <a:tc>
                  <a:txBody>
                    <a:bodyPr/>
                    <a:lstStyle/>
                    <a:p>
                      <a:pPr algn="r" fontAlgn="b"/>
                      <a:r>
                        <a:rPr lang="pl-PL" sz="1600" u="none" strike="noStrike">
                          <a:effectLst/>
                        </a:rPr>
                        <a:t>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1</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-0.33333</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-0.66667</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0.333333</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0.111111</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-0.11111</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20174958"/>
                  </a:ext>
                </a:extLst>
              </a:tr>
              <a:tr h="182880">
                <a:tc>
                  <a:txBody>
                    <a:bodyPr/>
                    <a:lstStyle/>
                    <a:p>
                      <a:pPr algn="r" fontAlgn="b"/>
                      <a:r>
                        <a:rPr lang="pl-PL" sz="1600" b="0" i="0" u="none" strike="noStrike" dirty="0">
                          <a:solidFill>
                            <a:srgbClr val="000000"/>
                          </a:solidFill>
                          <a:effectLst/>
                          <a:latin typeface="Calibri" panose="020F0502020204030204" pitchFamily="34" charset="0"/>
                        </a:rPr>
                        <a:t>2</a:t>
                      </a:r>
                    </a:p>
                  </a:txBody>
                  <a:tcPr marL="7620" marR="7620" marT="7620" marB="0" anchor="b"/>
                </a:tc>
                <a:tc>
                  <a:txBody>
                    <a:bodyPr/>
                    <a:lstStyle/>
                    <a:p>
                      <a:pPr algn="r" fontAlgn="b"/>
                      <a:r>
                        <a:rPr lang="pl-PL" sz="1600" u="none" strike="noStrike">
                          <a:effectLst/>
                        </a:rPr>
                        <a:t>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-0.33333</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0.333333</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6">
                              <a:lumMod val="75000"/>
                            </a:schemeClr>
                          </a:solidFill>
                          <a:effectLst/>
                        </a:rPr>
                        <a:t>-0.33333</a:t>
                      </a:r>
                      <a:endParaRPr lang="pl-PL" sz="1600" b="0" i="0" u="none" strike="noStrike">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6">
                              <a:lumMod val="75000"/>
                            </a:schemeClr>
                          </a:solidFill>
                          <a:effectLst/>
                        </a:rPr>
                        <a:t>0.333333</a:t>
                      </a:r>
                      <a:endParaRPr lang="pl-PL" sz="1600" b="0" i="0" u="none" strike="noStrike">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6">
                              <a:lumMod val="75000"/>
                            </a:schemeClr>
                          </a:solidFill>
                          <a:effectLst/>
                        </a:rPr>
                        <a:t>-0.33333</a:t>
                      </a:r>
                      <a:endParaRPr lang="pl-PL" sz="1600" b="0" i="0" u="none" strike="noStrike">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6">
                              <a:lumMod val="75000"/>
                            </a:schemeClr>
                          </a:solidFill>
                          <a:effectLst/>
                        </a:rPr>
                        <a:t>-0.11111</a:t>
                      </a:r>
                      <a:endParaRPr lang="pl-PL" sz="1600" b="0" i="0" u="none" strike="noStrike">
                        <a:solidFill>
                          <a:schemeClr val="accent6">
                            <a:lumMod val="75000"/>
                          </a:schemeClr>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6">
                              <a:lumMod val="75000"/>
                            </a:schemeClr>
                          </a:solidFill>
                          <a:effectLst/>
                        </a:rPr>
                        <a:t>0.111111</a:t>
                      </a:r>
                      <a:endParaRPr lang="pl-PL" sz="1600" b="0" i="0" u="none" strike="noStrike" dirty="0">
                        <a:solidFill>
                          <a:schemeClr val="accent6">
                            <a:lumMod val="75000"/>
                          </a:schemeClr>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82277828"/>
                  </a:ext>
                </a:extLst>
              </a:tr>
              <a:tr h="182880">
                <a:tc>
                  <a:txBody>
                    <a:bodyPr/>
                    <a:lstStyle/>
                    <a:p>
                      <a:pPr algn="r" fontAlgn="b"/>
                      <a:r>
                        <a:rPr lang="pl-PL" sz="1600" b="0" i="0" u="none" strike="noStrike" dirty="0">
                          <a:solidFill>
                            <a:srgbClr val="000000"/>
                          </a:solidFill>
                          <a:effectLst/>
                          <a:latin typeface="Calibri" panose="020F0502020204030204" pitchFamily="34" charset="0"/>
                        </a:rPr>
                        <a:t>2</a:t>
                      </a:r>
                    </a:p>
                  </a:txBody>
                  <a:tcPr marL="7620" marR="7620" marT="7620" marB="0" anchor="b"/>
                </a:tc>
                <a:tc>
                  <a:txBody>
                    <a:bodyPr/>
                    <a:lstStyle/>
                    <a:p>
                      <a:pPr algn="r" fontAlgn="b"/>
                      <a:r>
                        <a:rPr lang="pl-PL" sz="1600" u="none" strike="noStrike">
                          <a:effectLst/>
                        </a:rPr>
                        <a:t>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err="1">
                          <a:solidFill>
                            <a:srgbClr val="000000"/>
                          </a:solidFill>
                          <a:effectLst/>
                          <a:latin typeface="Calibri" panose="020F0502020204030204" pitchFamily="34" charset="0"/>
                        </a:rPr>
                        <a:t>subtotal</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Class 1</a:t>
                      </a:r>
                    </a:p>
                  </a:txBody>
                  <a:tcPr marL="7620" marR="7620" marT="7620" marB="0" anchor="b"/>
                </a:tc>
                <a:extLst>
                  <a:ext uri="{0D108BD9-81ED-4DB2-BD59-A6C34878D82A}">
                    <a16:rowId xmlns:a16="http://schemas.microsoft.com/office/drawing/2014/main" val="4037942879"/>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0.333333</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0.111111</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0.222222</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3008557"/>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0070C0"/>
                          </a:solidFill>
                          <a:effectLst/>
                        </a:rPr>
                        <a:t>0.666667</a:t>
                      </a:r>
                      <a:endParaRPr lang="pl-PL" sz="1600" b="0" i="0" u="none" strike="noStrike">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0070C0"/>
                          </a:solidFill>
                          <a:effectLst/>
                        </a:rPr>
                        <a:t>0.333333</a:t>
                      </a:r>
                      <a:endParaRPr lang="pl-PL" sz="1600" b="0" i="0" u="none" strike="noStrike">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0.666667</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0.222222</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0070C0"/>
                          </a:solidFill>
                          <a:effectLst/>
                        </a:rPr>
                        <a:t>0.444444</a:t>
                      </a:r>
                      <a:endParaRPr lang="pl-PL" sz="1600" b="0" i="0" u="none" strike="noStrike" dirty="0">
                        <a:solidFill>
                          <a:srgbClr val="0070C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00754535"/>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29355288"/>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-0.33333</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7030A0"/>
                          </a:solidFill>
                          <a:effectLst/>
                        </a:rPr>
                        <a:t>0.111111</a:t>
                      </a:r>
                      <a:endParaRPr lang="pl-PL" sz="1600" b="0" i="0" u="none" strike="noStrike">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7030A0"/>
                          </a:solidFill>
                          <a:effectLst/>
                        </a:rPr>
                        <a:t>0.222222</a:t>
                      </a:r>
                      <a:endParaRPr lang="pl-PL" sz="1600" b="0" i="0" u="none" strike="noStrike">
                        <a:solidFill>
                          <a:srgbClr val="7030A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08786129"/>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7030A0"/>
                          </a:solidFill>
                          <a:effectLst/>
                        </a:rPr>
                        <a:t>-0.66667</a:t>
                      </a:r>
                      <a:endParaRPr lang="pl-PL" sz="1600" b="0" i="0" u="none" strike="noStrike">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rgbClr val="7030A0"/>
                          </a:solidFill>
                          <a:effectLst/>
                        </a:rPr>
                        <a:t>-0.33333</a:t>
                      </a:r>
                      <a:endParaRPr lang="pl-PL" sz="1600" b="0" i="0" u="none" strike="noStrike">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-0.66667</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0.222222</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rgbClr val="7030A0"/>
                          </a:solidFill>
                          <a:effectLst/>
                        </a:rPr>
                        <a:t>0.444444</a:t>
                      </a:r>
                      <a:endParaRPr lang="pl-PL" sz="1600" b="0" i="0" u="none" strike="noStrike" dirty="0">
                        <a:solidFill>
                          <a:srgbClr val="7030A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68739995"/>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5612079"/>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-0.33333</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chemeClr val="accent2"/>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0.111111</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2"/>
                          </a:solidFill>
                          <a:effectLst/>
                        </a:rPr>
                        <a:t>-0.11111</a:t>
                      </a:r>
                      <a:endParaRPr lang="pl-PL" sz="1600" b="0" i="0" u="none" strike="noStrike">
                        <a:solidFill>
                          <a:schemeClr val="accent2"/>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97548183"/>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2"/>
                          </a:solidFill>
                          <a:effectLst/>
                        </a:rPr>
                        <a:t>0.333333</a:t>
                      </a:r>
                      <a:endParaRPr lang="pl-PL" sz="1600" b="0" i="0" u="none" strike="noStrike">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2"/>
                          </a:solidFill>
                          <a:effectLst/>
                        </a:rPr>
                        <a:t>-0.33333</a:t>
                      </a:r>
                      <a:endParaRPr lang="pl-PL" sz="1600" b="0" i="0" u="none" strike="noStrike">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a:solidFill>
                            <a:schemeClr val="accent2"/>
                          </a:solidFill>
                          <a:effectLst/>
                        </a:rPr>
                        <a:t>0.333333</a:t>
                      </a:r>
                      <a:endParaRPr lang="pl-PL" sz="1600" b="0" i="0" u="none" strike="noStrike">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-0.11111</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r" fontAlgn="b"/>
                      <a:r>
                        <a:rPr lang="pl-PL" sz="1600" u="none" strike="noStrike" dirty="0">
                          <a:solidFill>
                            <a:schemeClr val="accent2"/>
                          </a:solidFill>
                          <a:effectLst/>
                        </a:rPr>
                        <a:t>0.111111</a:t>
                      </a:r>
                      <a:endParaRPr lang="pl-PL" sz="1600" b="0" i="0" u="none" strike="noStrike" dirty="0">
                        <a:solidFill>
                          <a:schemeClr val="accent2"/>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4126691"/>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err="1">
                          <a:solidFill>
                            <a:srgbClr val="000000"/>
                          </a:solidFill>
                          <a:effectLst/>
                          <a:latin typeface="Calibri" panose="020F0502020204030204" pitchFamily="34" charset="0"/>
                        </a:rPr>
                        <a:t>subtotal</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Class 2</a:t>
                      </a:r>
                    </a:p>
                  </a:txBody>
                  <a:tcPr marL="7620" marR="7620" marT="7620" marB="0" anchor="b"/>
                </a:tc>
                <a:extLst>
                  <a:ext uri="{0D108BD9-81ED-4DB2-BD59-A6C34878D82A}">
                    <a16:rowId xmlns:a16="http://schemas.microsoft.com/office/drawing/2014/main" val="2070901795"/>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0.444444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0.222222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09382689"/>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0.222222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0.111111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97312876"/>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TOTAL</a:t>
                      </a: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TOTAL</a:t>
                      </a:r>
                    </a:p>
                  </a:txBody>
                  <a:tcPr marL="7620" marR="7620" marT="7620" marB="0" anchor="b"/>
                </a:tc>
                <a:extLst>
                  <a:ext uri="{0D108BD9-81ED-4DB2-BD59-A6C34878D82A}">
                    <a16:rowId xmlns:a16="http://schemas.microsoft.com/office/drawing/2014/main" val="373443098"/>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1.333333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41514666"/>
                  </a:ext>
                </a:extLst>
              </a:tr>
              <a:tr h="182880">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0.666667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1.333333</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39789311"/>
                  </a:ext>
                </a:extLst>
              </a:tr>
            </a:tbl>
          </a:graphicData>
        </a:graphic>
      </p:graphicFrame>
      <p:sp>
        <p:nvSpPr>
          <p:cNvPr id="4" name="Symbol zastępczy numeru slajdu 3">
            <a:extLst>
              <a:ext uri="{FF2B5EF4-FFF2-40B4-BE49-F238E27FC236}">
                <a16:creationId xmlns:a16="http://schemas.microsoft.com/office/drawing/2014/main" id="{9ACB4720-9AD7-4298-B625-E78AD50F044D}"/>
              </a:ext>
            </a:extLst>
          </p:cNvPr>
          <p:cNvSpPr>
            <a:spLocks noGrp="1"/>
          </p:cNvSpPr>
          <p:nvPr>
            <p:ph type="sldNum" sz="quarter" idx="12"/>
          </p:nvPr>
        </p:nvSpPr>
        <p:spPr/>
        <p:txBody>
          <a:bodyPr/>
          <a:lstStyle/>
          <a:p>
            <a:fld id="{A7544F9A-EF6A-47CB-A458-C95835DAEA60}" type="slidenum">
              <a:rPr lang="pl-PL" smtClean="0"/>
              <a:t>22</a:t>
            </a:fld>
            <a:endParaRPr lang="pl-PL"/>
          </a:p>
        </p:txBody>
      </p:sp>
    </p:spTree>
    <p:extLst>
      <p:ext uri="{BB962C8B-B14F-4D97-AF65-F5344CB8AC3E}">
        <p14:creationId xmlns:p14="http://schemas.microsoft.com/office/powerpoint/2010/main" val="420308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41F77F9-0F73-4F34-9770-1E2AEEA6B4B9}"/>
              </a:ext>
            </a:extLst>
          </p:cNvPr>
          <p:cNvSpPr>
            <a:spLocks noGrp="1"/>
          </p:cNvSpPr>
          <p:nvPr>
            <p:ph type="title"/>
          </p:nvPr>
        </p:nvSpPr>
        <p:spPr/>
        <p:txBody>
          <a:bodyPr/>
          <a:lstStyle/>
          <a:p>
            <a:r>
              <a:rPr lang="pl-PL" dirty="0"/>
              <a:t>LDA </a:t>
            </a:r>
            <a:r>
              <a:rPr lang="pl-PL" dirty="0" err="1"/>
              <a:t>example</a:t>
            </a:r>
            <a:r>
              <a:rPr lang="pl-PL" dirty="0"/>
              <a:t> 1</a:t>
            </a:r>
          </a:p>
        </p:txBody>
      </p:sp>
      <mc:AlternateContent xmlns:mc="http://schemas.openxmlformats.org/markup-compatibility/2006" xmlns:a14="http://schemas.microsoft.com/office/drawing/2010/main">
        <mc:Choice Requires="a14">
          <p:sp>
            <p:nvSpPr>
              <p:cNvPr id="3" name="Symbol zastępczy zawartości 2">
                <a:extLst>
                  <a:ext uri="{FF2B5EF4-FFF2-40B4-BE49-F238E27FC236}">
                    <a16:creationId xmlns:a16="http://schemas.microsoft.com/office/drawing/2014/main" id="{B898815E-D90A-40CB-B040-0D9B15980D41}"/>
                  </a:ext>
                </a:extLst>
              </p:cNvPr>
              <p:cNvSpPr>
                <a:spLocks noGrp="1"/>
              </p:cNvSpPr>
              <p:nvPr>
                <p:ph idx="1"/>
              </p:nvPr>
            </p:nvSpPr>
            <p:spPr>
              <a:xfrm>
                <a:off x="838200" y="1825625"/>
                <a:ext cx="10515600" cy="4667250"/>
              </a:xfrm>
            </p:spPr>
            <p:txBody>
              <a:bodyPr>
                <a:normAutofit fontScale="92500" lnSpcReduction="20000"/>
              </a:bodyPr>
              <a:lstStyle/>
              <a:p>
                <a:pPr marL="0" indent="0">
                  <a:buNone/>
                </a:pPr>
                <a14:m>
                  <m:oMath xmlns:m="http://schemas.openxmlformats.org/officeDocument/2006/math">
                    <m:acc>
                      <m:accPr>
                        <m:chr m:val="̂"/>
                        <m:ctrlPr>
                          <a:rPr lang="pl-PL" i="1" smtClean="0">
                            <a:latin typeface="Cambria Math" panose="02040503050406030204" pitchFamily="18" charset="0"/>
                          </a:rPr>
                        </m:ctrlPr>
                      </m:accPr>
                      <m:e>
                        <m:sSub>
                          <m:sSubPr>
                            <m:ctrlPr>
                              <a:rPr lang="pl-PL" i="1" smtClean="0">
                                <a:latin typeface="Cambria Math" panose="02040503050406030204" pitchFamily="18" charset="0"/>
                              </a:rPr>
                            </m:ctrlPr>
                          </m:sSubPr>
                          <m:e>
                            <m:r>
                              <a:rPr lang="pl-PL" i="1" smtClean="0">
                                <a:latin typeface="Cambria Math" panose="02040503050406030204" pitchFamily="18" charset="0"/>
                                <a:ea typeface="Cambria Math" panose="02040503050406030204" pitchFamily="18" charset="0"/>
                              </a:rPr>
                              <m:t>𝛿</m:t>
                            </m:r>
                          </m:e>
                          <m:sub>
                            <m:r>
                              <a:rPr lang="pl-PL" b="0" i="1" smtClean="0">
                                <a:latin typeface="Cambria Math" panose="02040503050406030204" pitchFamily="18" charset="0"/>
                              </a:rPr>
                              <m:t>1</m:t>
                            </m:r>
                          </m:sub>
                        </m:sSub>
                      </m:e>
                    </m:acc>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r>
                          <a:rPr lang="pl-PL" b="0" i="1" smtClean="0">
                            <a:latin typeface="Cambria Math" panose="02040503050406030204" pitchFamily="18" charset="0"/>
                          </a:rPr>
                          <m:t>𝑥</m:t>
                        </m:r>
                      </m:e>
                      <m:sup>
                        <m:r>
                          <a:rPr lang="pl-PL" b="0" i="1" smtClean="0">
                            <a:latin typeface="Cambria Math" panose="02040503050406030204" pitchFamily="18" charset="0"/>
                          </a:rPr>
                          <m:t>𝑇</m:t>
                        </m:r>
                      </m:sup>
                    </m:sSup>
                    <m:sSup>
                      <m:sSupPr>
                        <m:ctrlPr>
                          <a:rPr lang="pl-PL" b="0" i="1" smtClean="0">
                            <a:latin typeface="Cambria Math" panose="02040503050406030204" pitchFamily="18" charset="0"/>
                          </a:rPr>
                        </m:ctrlPr>
                      </m:sSupPr>
                      <m:e>
                        <m:acc>
                          <m:accPr>
                            <m:chr m:val="̂"/>
                            <m:ctrlPr>
                              <a:rPr lang="pl-PL" b="0" i="1" smtClean="0">
                                <a:latin typeface="Cambria Math" panose="02040503050406030204" pitchFamily="18" charset="0"/>
                              </a:rPr>
                            </m:ctrlPr>
                          </m:accPr>
                          <m:e>
                            <m:r>
                              <m:rPr>
                                <m:sty m:val="p"/>
                              </m:rPr>
                              <a:rPr lang="el-GR" b="0" i="1" smtClean="0">
                                <a:latin typeface="Cambria Math" panose="02040503050406030204" pitchFamily="18" charset="0"/>
                                <a:ea typeface="Cambria Math" panose="02040503050406030204" pitchFamily="18" charset="0"/>
                              </a:rPr>
                              <m:t>Σ</m:t>
                            </m:r>
                          </m:e>
                        </m:acc>
                      </m:e>
                      <m:sup>
                        <m:r>
                          <a:rPr lang="pl-PL" b="0" i="1" smtClean="0">
                            <a:latin typeface="Cambria Math" panose="02040503050406030204" pitchFamily="18" charset="0"/>
                          </a:rPr>
                          <m:t>−1</m:t>
                        </m:r>
                      </m:sup>
                    </m:sSup>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rPr>
                              <m:t>1</m:t>
                            </m:r>
                          </m:sub>
                        </m:sSub>
                      </m:e>
                    </m:acc>
                  </m:oMath>
                </a14:m>
                <a:r>
                  <a:rPr lang="pl-PL" dirty="0"/>
                  <a:t>-1/2* </a:t>
                </a:r>
                <a14:m>
                  <m:oMath xmlns:m="http://schemas.openxmlformats.org/officeDocument/2006/math">
                    <m:sSup>
                      <m:sSupPr>
                        <m:ctrlPr>
                          <a:rPr lang="pl-PL" i="1" smtClean="0">
                            <a:latin typeface="Cambria Math" panose="02040503050406030204" pitchFamily="18" charset="0"/>
                          </a:rPr>
                        </m:ctrlPr>
                      </m:sSupPr>
                      <m:e>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rPr>
                                  <m:t>1</m:t>
                                </m:r>
                              </m:sub>
                            </m:sSub>
                          </m:e>
                        </m:acc>
                      </m:e>
                      <m:sup>
                        <m:r>
                          <a:rPr lang="pl-PL" b="0" i="1" smtClean="0">
                            <a:latin typeface="Cambria Math" panose="02040503050406030204" pitchFamily="18" charset="0"/>
                          </a:rPr>
                          <m:t>𝑇</m:t>
                        </m:r>
                      </m:sup>
                    </m:sSup>
                    <m:r>
                      <a:rPr lang="pl-PL" b="0" i="1" smtClean="0">
                        <a:latin typeface="Cambria Math" panose="02040503050406030204" pitchFamily="18" charset="0"/>
                      </a:rPr>
                      <m:t>∗</m:t>
                    </m:r>
                    <m:sSup>
                      <m:sSupPr>
                        <m:ctrlPr>
                          <a:rPr lang="pl-PL" i="1">
                            <a:latin typeface="Cambria Math" panose="02040503050406030204" pitchFamily="18" charset="0"/>
                          </a:rPr>
                        </m:ctrlPr>
                      </m:sSupPr>
                      <m:e>
                        <m:acc>
                          <m:accPr>
                            <m:chr m:val="̂"/>
                            <m:ctrlPr>
                              <a:rPr lang="pl-PL" i="1">
                                <a:latin typeface="Cambria Math" panose="02040503050406030204" pitchFamily="18" charset="0"/>
                              </a:rPr>
                            </m:ctrlPr>
                          </m:accPr>
                          <m:e>
                            <m:r>
                              <m:rPr>
                                <m:sty m:val="p"/>
                              </m:rPr>
                              <a:rPr lang="el-GR" i="1">
                                <a:latin typeface="Cambria Math" panose="02040503050406030204" pitchFamily="18" charset="0"/>
                                <a:ea typeface="Cambria Math" panose="02040503050406030204" pitchFamily="18" charset="0"/>
                              </a:rPr>
                              <m:t>Σ</m:t>
                            </m:r>
                          </m:e>
                        </m:acc>
                      </m:e>
                      <m:sup>
                        <m:r>
                          <a:rPr lang="pl-PL" i="1">
                            <a:latin typeface="Cambria Math" panose="02040503050406030204" pitchFamily="18" charset="0"/>
                          </a:rPr>
                          <m:t>−1</m:t>
                        </m:r>
                      </m:sup>
                    </m:sSup>
                    <m:r>
                      <a:rPr lang="pl-PL" b="0" i="1" smtClean="0">
                        <a:latin typeface="Cambria Math" panose="02040503050406030204" pitchFamily="18" charset="0"/>
                      </a:rPr>
                      <m:t>∗</m:t>
                    </m:r>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ea typeface="Cambria Math" panose="02040503050406030204" pitchFamily="18" charset="0"/>
                              </a:rPr>
                              <m:t>1</m:t>
                            </m:r>
                          </m:sub>
                        </m:sSub>
                      </m:e>
                    </m:acc>
                  </m:oMath>
                </a14:m>
                <a:r>
                  <a:rPr lang="pl-PL" dirty="0"/>
                  <a:t>+log </a:t>
                </a:r>
                <a14:m>
                  <m:oMath xmlns:m="http://schemas.openxmlformats.org/officeDocument/2006/math">
                    <m:acc>
                      <m:accPr>
                        <m:chr m:val="̂"/>
                        <m:ctrlPr>
                          <a:rPr lang="pl-PL" i="1">
                            <a:latin typeface="Cambria Math" panose="02040503050406030204" pitchFamily="18" charset="0"/>
                          </a:rPr>
                        </m:ctrlPr>
                      </m:accPr>
                      <m:e>
                        <m:sSub>
                          <m:sSubPr>
                            <m:ctrlPr>
                              <a:rPr lang="pl-PL"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Π</m:t>
                            </m:r>
                          </m:e>
                          <m:sub>
                            <m:r>
                              <a:rPr lang="pl-PL" b="0" i="1" smtClean="0">
                                <a:latin typeface="Cambria Math" panose="02040503050406030204" pitchFamily="18" charset="0"/>
                              </a:rPr>
                              <m:t>1</m:t>
                            </m:r>
                          </m:sub>
                        </m:sSub>
                      </m:e>
                    </m:acc>
                  </m:oMath>
                </a14:m>
                <a:r>
                  <a:rPr lang="pl-PL" dirty="0"/>
                  <a:t> </a:t>
                </a:r>
              </a:p>
              <a:p>
                <a:pPr marL="0" indent="0">
                  <a:buNone/>
                </a:pPr>
                <a:r>
                  <a:rPr lang="pl-PL" dirty="0"/>
                  <a:t>=</a:t>
                </a:r>
                <a14:m>
                  <m:oMath xmlns:m="http://schemas.openxmlformats.org/officeDocument/2006/math">
                    <m:sSup>
                      <m:sSupPr>
                        <m:ctrlPr>
                          <a:rPr lang="pl-PL" b="0" i="1" smtClean="0">
                            <a:latin typeface="Cambria Math" panose="02040503050406030204" pitchFamily="18" charset="0"/>
                          </a:rPr>
                        </m:ctrlPr>
                      </m:sSupPr>
                      <m:e>
                        <m:r>
                          <a:rPr lang="pl-PL" b="0" i="1" smtClean="0">
                            <a:latin typeface="Cambria Math" panose="02040503050406030204" pitchFamily="18" charset="0"/>
                          </a:rPr>
                          <m:t>𝑥</m:t>
                        </m:r>
                      </m:e>
                      <m:sup>
                        <m:r>
                          <a:rPr lang="pl-PL" b="0" i="1" smtClean="0">
                            <a:latin typeface="Cambria Math" panose="02040503050406030204" pitchFamily="18" charset="0"/>
                          </a:rPr>
                          <m:t>𝑇</m:t>
                        </m:r>
                      </m:sup>
                    </m:sSup>
                    <m:d>
                      <m:dPr>
                        <m:begChr m:val="["/>
                        <m:endChr m:val="]"/>
                        <m:ctrlPr>
                          <a:rPr lang="pl-PL" b="0" i="1" smtClean="0">
                            <a:latin typeface="Cambria Math" panose="02040503050406030204" pitchFamily="18" charset="0"/>
                          </a:rPr>
                        </m:ctrlPr>
                      </m:dPr>
                      <m:e>
                        <m:m>
                          <m:mPr>
                            <m:mcs>
                              <m:mc>
                                <m:mcPr>
                                  <m:count m:val="1"/>
                                  <m:mcJc m:val="center"/>
                                </m:mcPr>
                              </m:mc>
                            </m:mcs>
                            <m:ctrlPr>
                              <a:rPr lang="pl-PL" b="0" i="1" smtClean="0">
                                <a:latin typeface="Cambria Math" panose="02040503050406030204" pitchFamily="18" charset="0"/>
                              </a:rPr>
                            </m:ctrlPr>
                          </m:mPr>
                          <m:mr>
                            <m:e>
                              <m:r>
                                <m:rPr>
                                  <m:brk m:alnAt="7"/>
                                </m:rPr>
                                <a:rPr lang="pl-PL" b="0" i="1" smtClean="0">
                                  <a:latin typeface="Cambria Math" panose="02040503050406030204" pitchFamily="18" charset="0"/>
                                </a:rPr>
                                <m:t>0</m:t>
                              </m:r>
                            </m:e>
                          </m:mr>
                          <m:mr>
                            <m:e>
                              <m:r>
                                <a:rPr lang="pl-PL" b="0" i="1" smtClean="0">
                                  <a:latin typeface="Cambria Math" panose="02040503050406030204" pitchFamily="18" charset="0"/>
                                </a:rPr>
                                <m:t>10</m:t>
                              </m:r>
                            </m:e>
                          </m:mr>
                        </m:m>
                      </m:e>
                    </m:d>
                  </m:oMath>
                </a14:m>
                <a:r>
                  <a:rPr lang="pl-PL" dirty="0"/>
                  <a:t>-1/2*(100/3)</a:t>
                </a:r>
                <a14:m>
                  <m:oMath xmlns:m="http://schemas.openxmlformats.org/officeDocument/2006/math">
                    <m:r>
                      <a:rPr lang="pl-PL" b="0" i="1" smtClean="0">
                        <a:latin typeface="Cambria Math" panose="02040503050406030204" pitchFamily="18" charset="0"/>
                      </a:rPr>
                      <m:t>+</m:t>
                    </m:r>
                    <m:func>
                      <m:funcPr>
                        <m:ctrlPr>
                          <a:rPr lang="pl-PL" b="0" i="1" smtClean="0">
                            <a:latin typeface="Cambria Math" panose="02040503050406030204" pitchFamily="18" charset="0"/>
                          </a:rPr>
                        </m:ctrlPr>
                      </m:funcPr>
                      <m:fName>
                        <m:r>
                          <m:rPr>
                            <m:sty m:val="p"/>
                          </m:rPr>
                          <a:rPr lang="pl-PL" b="0" i="0" smtClean="0">
                            <a:latin typeface="Cambria Math" panose="02040503050406030204" pitchFamily="18" charset="0"/>
                          </a:rPr>
                          <m:t>log</m:t>
                        </m:r>
                      </m:fName>
                      <m:e>
                        <m:d>
                          <m:dPr>
                            <m:ctrlPr>
                              <a:rPr lang="pl-PL" b="0" i="1" smtClean="0">
                                <a:latin typeface="Cambria Math" panose="02040503050406030204" pitchFamily="18" charset="0"/>
                              </a:rPr>
                            </m:ctrlPr>
                          </m:dPr>
                          <m:e>
                            <m:f>
                              <m:fPr>
                                <m:ctrlPr>
                                  <a:rPr lang="pl-PL" b="0" i="1" smtClean="0">
                                    <a:latin typeface="Cambria Math" panose="02040503050406030204" pitchFamily="18" charset="0"/>
                                  </a:rPr>
                                </m:ctrlPr>
                              </m:fPr>
                              <m:num>
                                <m:r>
                                  <a:rPr lang="pl-PL" b="0" i="1" smtClean="0">
                                    <a:latin typeface="Cambria Math" panose="02040503050406030204" pitchFamily="18" charset="0"/>
                                  </a:rPr>
                                  <m:t>1</m:t>
                                </m:r>
                              </m:num>
                              <m:den>
                                <m:r>
                                  <a:rPr lang="pl-PL" b="0" i="1" smtClean="0">
                                    <a:latin typeface="Cambria Math" panose="02040503050406030204" pitchFamily="18" charset="0"/>
                                  </a:rPr>
                                  <m:t>2</m:t>
                                </m:r>
                              </m:den>
                            </m:f>
                          </m:e>
                        </m:d>
                      </m:e>
                    </m:func>
                  </m:oMath>
                </a14:m>
                <a:endParaRPr lang="pl-PL" b="0" dirty="0"/>
              </a:p>
              <a:p>
                <a:pPr marL="0" indent="0">
                  <a:buNone/>
                </a:pPr>
                <a:r>
                  <a:rPr lang="pl-PL" dirty="0"/>
                  <a:t>= 10*X2-50/3+log(1/2) </a:t>
                </a:r>
              </a:p>
              <a:p>
                <a:pPr marL="0" indent="0">
                  <a:buNone/>
                </a:pPr>
                <a14:m>
                  <m:oMath xmlns:m="http://schemas.openxmlformats.org/officeDocument/2006/math">
                    <m:acc>
                      <m:accPr>
                        <m:chr m:val="̂"/>
                        <m:ctrlPr>
                          <a:rPr lang="pl-PL" i="1" smtClean="0">
                            <a:latin typeface="Cambria Math" panose="02040503050406030204" pitchFamily="18" charset="0"/>
                          </a:rPr>
                        </m:ctrlPr>
                      </m:accPr>
                      <m:e>
                        <m:sSub>
                          <m:sSubPr>
                            <m:ctrlPr>
                              <a:rPr lang="pl-PL" i="1" smtClean="0">
                                <a:latin typeface="Cambria Math" panose="02040503050406030204" pitchFamily="18" charset="0"/>
                              </a:rPr>
                            </m:ctrlPr>
                          </m:sSubPr>
                          <m:e>
                            <m:r>
                              <a:rPr lang="pl-PL" i="1" smtClean="0">
                                <a:latin typeface="Cambria Math" panose="02040503050406030204" pitchFamily="18" charset="0"/>
                                <a:ea typeface="Cambria Math" panose="02040503050406030204" pitchFamily="18" charset="0"/>
                              </a:rPr>
                              <m:t>𝛿</m:t>
                            </m:r>
                          </m:e>
                          <m:sub>
                            <m:r>
                              <a:rPr lang="pl-PL" b="0" i="1" smtClean="0">
                                <a:latin typeface="Cambria Math" panose="02040503050406030204" pitchFamily="18" charset="0"/>
                                <a:ea typeface="Cambria Math" panose="02040503050406030204" pitchFamily="18" charset="0"/>
                              </a:rPr>
                              <m:t>2</m:t>
                            </m:r>
                          </m:sub>
                        </m:sSub>
                      </m:e>
                    </m:acc>
                    <m:r>
                      <a:rPr lang="pl-PL" b="0" i="1" smtClean="0">
                        <a:latin typeface="Cambria Math" panose="02040503050406030204" pitchFamily="18" charset="0"/>
                      </a:rPr>
                      <m:t>=</m:t>
                    </m:r>
                    <m:sSup>
                      <m:sSupPr>
                        <m:ctrlPr>
                          <a:rPr lang="pl-PL" b="0" i="1" smtClean="0">
                            <a:latin typeface="Cambria Math" panose="02040503050406030204" pitchFamily="18" charset="0"/>
                          </a:rPr>
                        </m:ctrlPr>
                      </m:sSupPr>
                      <m:e>
                        <m:r>
                          <a:rPr lang="pl-PL" b="0" i="1" smtClean="0">
                            <a:latin typeface="Cambria Math" panose="02040503050406030204" pitchFamily="18" charset="0"/>
                          </a:rPr>
                          <m:t>𝑥</m:t>
                        </m:r>
                      </m:e>
                      <m:sup>
                        <m:r>
                          <a:rPr lang="pl-PL" b="0" i="1" smtClean="0">
                            <a:latin typeface="Cambria Math" panose="02040503050406030204" pitchFamily="18" charset="0"/>
                          </a:rPr>
                          <m:t>𝑇</m:t>
                        </m:r>
                      </m:sup>
                    </m:sSup>
                    <m:sSup>
                      <m:sSupPr>
                        <m:ctrlPr>
                          <a:rPr lang="pl-PL" b="0" i="1" smtClean="0">
                            <a:latin typeface="Cambria Math" panose="02040503050406030204" pitchFamily="18" charset="0"/>
                          </a:rPr>
                        </m:ctrlPr>
                      </m:sSupPr>
                      <m:e>
                        <m:acc>
                          <m:accPr>
                            <m:chr m:val="̂"/>
                            <m:ctrlPr>
                              <a:rPr lang="pl-PL" b="0" i="1" smtClean="0">
                                <a:latin typeface="Cambria Math" panose="02040503050406030204" pitchFamily="18" charset="0"/>
                              </a:rPr>
                            </m:ctrlPr>
                          </m:accPr>
                          <m:e>
                            <m:r>
                              <m:rPr>
                                <m:sty m:val="p"/>
                              </m:rPr>
                              <a:rPr lang="el-GR" b="0" i="1" smtClean="0">
                                <a:latin typeface="Cambria Math" panose="02040503050406030204" pitchFamily="18" charset="0"/>
                                <a:ea typeface="Cambria Math" panose="02040503050406030204" pitchFamily="18" charset="0"/>
                              </a:rPr>
                              <m:t>Σ</m:t>
                            </m:r>
                          </m:e>
                        </m:acc>
                      </m:e>
                      <m:sup>
                        <m:r>
                          <a:rPr lang="pl-PL" b="0" i="1" smtClean="0">
                            <a:latin typeface="Cambria Math" panose="02040503050406030204" pitchFamily="18" charset="0"/>
                          </a:rPr>
                          <m:t>−1</m:t>
                        </m:r>
                      </m:sup>
                    </m:sSup>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rPr>
                              <m:t>2</m:t>
                            </m:r>
                          </m:sub>
                        </m:sSub>
                      </m:e>
                    </m:acc>
                  </m:oMath>
                </a14:m>
                <a:r>
                  <a:rPr lang="pl-PL" dirty="0"/>
                  <a:t>-1/2* </a:t>
                </a:r>
                <a14:m>
                  <m:oMath xmlns:m="http://schemas.openxmlformats.org/officeDocument/2006/math">
                    <m:sSup>
                      <m:sSupPr>
                        <m:ctrlPr>
                          <a:rPr lang="pl-PL" i="1" smtClean="0">
                            <a:latin typeface="Cambria Math" panose="02040503050406030204" pitchFamily="18" charset="0"/>
                          </a:rPr>
                        </m:ctrlPr>
                      </m:sSupPr>
                      <m:e>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rPr>
                                  <m:t>2</m:t>
                                </m:r>
                              </m:sub>
                            </m:sSub>
                          </m:e>
                        </m:acc>
                      </m:e>
                      <m:sup>
                        <m:r>
                          <a:rPr lang="pl-PL" b="0" i="1" smtClean="0">
                            <a:latin typeface="Cambria Math" panose="02040503050406030204" pitchFamily="18" charset="0"/>
                          </a:rPr>
                          <m:t>𝑇</m:t>
                        </m:r>
                      </m:sup>
                    </m:sSup>
                    <m:r>
                      <a:rPr lang="pl-PL" b="0" i="1" smtClean="0">
                        <a:latin typeface="Cambria Math" panose="02040503050406030204" pitchFamily="18" charset="0"/>
                      </a:rPr>
                      <m:t>∗</m:t>
                    </m:r>
                    <m:sSup>
                      <m:sSupPr>
                        <m:ctrlPr>
                          <a:rPr lang="pl-PL" i="1">
                            <a:latin typeface="Cambria Math" panose="02040503050406030204" pitchFamily="18" charset="0"/>
                          </a:rPr>
                        </m:ctrlPr>
                      </m:sSupPr>
                      <m:e>
                        <m:acc>
                          <m:accPr>
                            <m:chr m:val="̂"/>
                            <m:ctrlPr>
                              <a:rPr lang="pl-PL" i="1">
                                <a:latin typeface="Cambria Math" panose="02040503050406030204" pitchFamily="18" charset="0"/>
                              </a:rPr>
                            </m:ctrlPr>
                          </m:accPr>
                          <m:e>
                            <m:r>
                              <m:rPr>
                                <m:sty m:val="p"/>
                              </m:rPr>
                              <a:rPr lang="el-GR" i="1">
                                <a:latin typeface="Cambria Math" panose="02040503050406030204" pitchFamily="18" charset="0"/>
                                <a:ea typeface="Cambria Math" panose="02040503050406030204" pitchFamily="18" charset="0"/>
                              </a:rPr>
                              <m:t>Σ</m:t>
                            </m:r>
                          </m:e>
                        </m:acc>
                      </m:e>
                      <m:sup>
                        <m:r>
                          <a:rPr lang="pl-PL" i="1">
                            <a:latin typeface="Cambria Math" panose="02040503050406030204" pitchFamily="18" charset="0"/>
                          </a:rPr>
                          <m:t>−1</m:t>
                        </m:r>
                      </m:sup>
                    </m:sSup>
                    <m:r>
                      <a:rPr lang="pl-PL" b="0" i="1" smtClean="0">
                        <a:latin typeface="Cambria Math" panose="02040503050406030204" pitchFamily="18" charset="0"/>
                      </a:rPr>
                      <m:t>∗</m:t>
                    </m:r>
                    <m:acc>
                      <m:accPr>
                        <m:chr m:val="̂"/>
                        <m:ctrlPr>
                          <a:rPr lang="pl-PL" i="1">
                            <a:latin typeface="Cambria Math" panose="02040503050406030204" pitchFamily="18" charset="0"/>
                          </a:rPr>
                        </m:ctrlPr>
                      </m:accPr>
                      <m:e>
                        <m:sSub>
                          <m:sSubPr>
                            <m:ctrlPr>
                              <a:rPr lang="pl-PL" i="1">
                                <a:latin typeface="Cambria Math" panose="02040503050406030204" pitchFamily="18" charset="0"/>
                              </a:rPr>
                            </m:ctrlPr>
                          </m:sSubPr>
                          <m:e>
                            <m:r>
                              <a:rPr lang="pl-PL" i="1">
                                <a:latin typeface="Cambria Math" panose="02040503050406030204" pitchFamily="18" charset="0"/>
                                <a:ea typeface="Cambria Math" panose="02040503050406030204" pitchFamily="18" charset="0"/>
                              </a:rPr>
                              <m:t>𝜇</m:t>
                            </m:r>
                          </m:e>
                          <m:sub>
                            <m:r>
                              <a:rPr lang="pl-PL" b="0" i="1" smtClean="0">
                                <a:latin typeface="Cambria Math" panose="02040503050406030204" pitchFamily="18" charset="0"/>
                              </a:rPr>
                              <m:t>2</m:t>
                            </m:r>
                          </m:sub>
                        </m:sSub>
                      </m:e>
                    </m:acc>
                  </m:oMath>
                </a14:m>
                <a:r>
                  <a:rPr lang="pl-PL" dirty="0"/>
                  <a:t>+log </a:t>
                </a:r>
                <a14:m>
                  <m:oMath xmlns:m="http://schemas.openxmlformats.org/officeDocument/2006/math">
                    <m:acc>
                      <m:accPr>
                        <m:chr m:val="̂"/>
                        <m:ctrlPr>
                          <a:rPr lang="pl-PL" i="1">
                            <a:latin typeface="Cambria Math" panose="02040503050406030204" pitchFamily="18" charset="0"/>
                          </a:rPr>
                        </m:ctrlPr>
                      </m:accPr>
                      <m:e>
                        <m:sSub>
                          <m:sSubPr>
                            <m:ctrlPr>
                              <a:rPr lang="pl-PL" i="1" smtClean="0">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Π</m:t>
                            </m:r>
                          </m:e>
                          <m:sub>
                            <m:r>
                              <a:rPr lang="pl-PL" b="0" i="1" smtClean="0">
                                <a:latin typeface="Cambria Math" panose="02040503050406030204" pitchFamily="18" charset="0"/>
                                <a:ea typeface="Cambria Math" panose="02040503050406030204" pitchFamily="18" charset="0"/>
                              </a:rPr>
                              <m:t>2</m:t>
                            </m:r>
                          </m:sub>
                        </m:sSub>
                      </m:e>
                    </m:acc>
                  </m:oMath>
                </a14:m>
                <a:r>
                  <a:rPr lang="pl-PL" dirty="0"/>
                  <a:t> </a:t>
                </a:r>
              </a:p>
              <a:p>
                <a:pPr marL="0" indent="0">
                  <a:buNone/>
                </a:pPr>
                <a:r>
                  <a:rPr lang="pl-PL" dirty="0"/>
                  <a:t>=</a:t>
                </a:r>
                <a14:m>
                  <m:oMath xmlns:m="http://schemas.openxmlformats.org/officeDocument/2006/math">
                    <m:sSup>
                      <m:sSupPr>
                        <m:ctrlPr>
                          <a:rPr lang="pl-PL" b="0" i="1" smtClean="0">
                            <a:latin typeface="Cambria Math" panose="02040503050406030204" pitchFamily="18" charset="0"/>
                          </a:rPr>
                        </m:ctrlPr>
                      </m:sSupPr>
                      <m:e>
                        <m:r>
                          <a:rPr lang="pl-PL" b="0" i="1" smtClean="0">
                            <a:latin typeface="Cambria Math" panose="02040503050406030204" pitchFamily="18" charset="0"/>
                          </a:rPr>
                          <m:t>𝑥</m:t>
                        </m:r>
                      </m:e>
                      <m:sup>
                        <m:r>
                          <a:rPr lang="pl-PL" b="0" i="1" smtClean="0">
                            <a:latin typeface="Cambria Math" panose="02040503050406030204" pitchFamily="18" charset="0"/>
                          </a:rPr>
                          <m:t>𝑇</m:t>
                        </m:r>
                      </m:sup>
                    </m:sSup>
                    <m:d>
                      <m:dPr>
                        <m:begChr m:val="["/>
                        <m:endChr m:val="]"/>
                        <m:ctrlPr>
                          <a:rPr lang="pl-PL" b="0" i="1" smtClean="0">
                            <a:latin typeface="Cambria Math" panose="02040503050406030204" pitchFamily="18" charset="0"/>
                          </a:rPr>
                        </m:ctrlPr>
                      </m:dPr>
                      <m:e>
                        <m:m>
                          <m:mPr>
                            <m:mcs>
                              <m:mc>
                                <m:mcPr>
                                  <m:count m:val="1"/>
                                  <m:mcJc m:val="center"/>
                                </m:mcPr>
                              </m:mc>
                            </m:mcs>
                            <m:ctrlPr>
                              <a:rPr lang="pl-PL" b="0" i="1" smtClean="0">
                                <a:latin typeface="Cambria Math" panose="02040503050406030204" pitchFamily="18" charset="0"/>
                              </a:rPr>
                            </m:ctrlPr>
                          </m:mPr>
                          <m:mr>
                            <m:e>
                              <m:r>
                                <m:rPr>
                                  <m:brk m:alnAt="7"/>
                                </m:rPr>
                                <a:rPr lang="pl-PL" b="0" i="1" smtClean="0">
                                  <a:latin typeface="Cambria Math" panose="02040503050406030204" pitchFamily="18" charset="0"/>
                                </a:rPr>
                                <m:t>0</m:t>
                              </m:r>
                            </m:e>
                          </m:mr>
                          <m:mr>
                            <m:e>
                              <m:r>
                                <a:rPr lang="pl-PL" b="0" i="1" smtClean="0">
                                  <a:latin typeface="Cambria Math" panose="02040503050406030204" pitchFamily="18" charset="0"/>
                                </a:rPr>
                                <m:t>10</m:t>
                              </m:r>
                            </m:e>
                          </m:mr>
                        </m:m>
                      </m:e>
                    </m:d>
                  </m:oMath>
                </a14:m>
                <a:r>
                  <a:rPr lang="pl-PL" dirty="0"/>
                  <a:t>-1/2*(100/3)</a:t>
                </a:r>
                <a14:m>
                  <m:oMath xmlns:m="http://schemas.openxmlformats.org/officeDocument/2006/math">
                    <m:r>
                      <a:rPr lang="pl-PL" b="0" i="1" smtClean="0">
                        <a:latin typeface="Cambria Math" panose="02040503050406030204" pitchFamily="18" charset="0"/>
                      </a:rPr>
                      <m:t>+</m:t>
                    </m:r>
                    <m:func>
                      <m:funcPr>
                        <m:ctrlPr>
                          <a:rPr lang="pl-PL" b="0" i="1" smtClean="0">
                            <a:latin typeface="Cambria Math" panose="02040503050406030204" pitchFamily="18" charset="0"/>
                          </a:rPr>
                        </m:ctrlPr>
                      </m:funcPr>
                      <m:fName>
                        <m:r>
                          <m:rPr>
                            <m:sty m:val="p"/>
                          </m:rPr>
                          <a:rPr lang="pl-PL" b="0" i="0" smtClean="0">
                            <a:latin typeface="Cambria Math" panose="02040503050406030204" pitchFamily="18" charset="0"/>
                          </a:rPr>
                          <m:t>log</m:t>
                        </m:r>
                      </m:fName>
                      <m:e>
                        <m:d>
                          <m:dPr>
                            <m:ctrlPr>
                              <a:rPr lang="pl-PL" b="0" i="1" smtClean="0">
                                <a:latin typeface="Cambria Math" panose="02040503050406030204" pitchFamily="18" charset="0"/>
                              </a:rPr>
                            </m:ctrlPr>
                          </m:dPr>
                          <m:e>
                            <m:f>
                              <m:fPr>
                                <m:ctrlPr>
                                  <a:rPr lang="pl-PL" b="0" i="1" smtClean="0">
                                    <a:latin typeface="Cambria Math" panose="02040503050406030204" pitchFamily="18" charset="0"/>
                                  </a:rPr>
                                </m:ctrlPr>
                              </m:fPr>
                              <m:num>
                                <m:r>
                                  <a:rPr lang="pl-PL" b="0" i="1" smtClean="0">
                                    <a:latin typeface="Cambria Math" panose="02040503050406030204" pitchFamily="18" charset="0"/>
                                  </a:rPr>
                                  <m:t>1</m:t>
                                </m:r>
                              </m:num>
                              <m:den>
                                <m:r>
                                  <a:rPr lang="pl-PL" b="0" i="1" smtClean="0">
                                    <a:latin typeface="Cambria Math" panose="02040503050406030204" pitchFamily="18" charset="0"/>
                                  </a:rPr>
                                  <m:t>2</m:t>
                                </m:r>
                              </m:den>
                            </m:f>
                          </m:e>
                        </m:d>
                      </m:e>
                    </m:func>
                  </m:oMath>
                </a14:m>
                <a:r>
                  <a:rPr lang="pl-PL" b="0" dirty="0"/>
                  <a:t>=</a:t>
                </a:r>
              </a:p>
              <a:p>
                <a:pPr marL="0" indent="0">
                  <a:buNone/>
                </a:pPr>
                <a:r>
                  <a:rPr lang="pl-PL" dirty="0"/>
                  <a:t>10 * X1 -50/3+log(1/2)</a:t>
                </a:r>
              </a:p>
              <a:p>
                <a:pPr marL="0" indent="0">
                  <a:buNone/>
                </a:pPr>
                <a:r>
                  <a:rPr lang="pl-PL" dirty="0"/>
                  <a:t>(</a:t>
                </a:r>
                <a:r>
                  <a:rPr lang="pl-PL" dirty="0" err="1"/>
                  <a:t>calculations</a:t>
                </a:r>
                <a:r>
                  <a:rPr lang="pl-PL" dirty="0"/>
                  <a:t> in Excel </a:t>
                </a:r>
                <a:r>
                  <a:rPr lang="pl-PL" dirty="0" err="1"/>
                  <a:t>are</a:t>
                </a:r>
                <a:r>
                  <a:rPr lang="pl-PL" dirty="0"/>
                  <a:t> </a:t>
                </a:r>
                <a:r>
                  <a:rPr lang="pl-PL" dirty="0" err="1"/>
                  <a:t>shown</a:t>
                </a:r>
                <a:r>
                  <a:rPr lang="pl-PL" dirty="0"/>
                  <a:t> on the </a:t>
                </a:r>
                <a:r>
                  <a:rPr lang="pl-PL" dirty="0" err="1"/>
                  <a:t>next</a:t>
                </a:r>
                <a:r>
                  <a:rPr lang="pl-PL" dirty="0"/>
                  <a:t> </a:t>
                </a:r>
                <a:r>
                  <a:rPr lang="pl-PL" dirty="0" err="1"/>
                  <a:t>slide</a:t>
                </a:r>
                <a:r>
                  <a:rPr lang="pl-PL" dirty="0"/>
                  <a:t>)</a:t>
                </a:r>
              </a:p>
              <a:p>
                <a:pPr marL="0" indent="0">
                  <a:buNone/>
                </a:pPr>
                <a:r>
                  <a:rPr lang="pl-PL" b="0" dirty="0" err="1"/>
                  <a:t>Deltas</a:t>
                </a:r>
                <a:r>
                  <a:rPr lang="pl-PL" b="0" dirty="0"/>
                  <a:t> </a:t>
                </a:r>
                <a:r>
                  <a:rPr lang="pl-PL" b="0" dirty="0" err="1"/>
                  <a:t>equal</a:t>
                </a:r>
                <a:r>
                  <a:rPr lang="pl-PL" b="0" dirty="0"/>
                  <a:t> for </a:t>
                </a:r>
                <a:r>
                  <a:rPr lang="pl-PL" b="0" dirty="0" err="1"/>
                  <a:t>hyperplane</a:t>
                </a:r>
                <a:endParaRPr lang="pl-PL" b="0" dirty="0"/>
              </a:p>
              <a:p>
                <a:pPr marL="0" indent="0">
                  <a:buNone/>
                </a:pPr>
                <a:r>
                  <a:rPr lang="pl-PL" dirty="0"/>
                  <a:t>10*X2-50/3+log(1/2)  = 10*X1-50/3+log(1/2)  -&gt; X1=X2</a:t>
                </a:r>
              </a:p>
              <a:p>
                <a:pPr marL="0" indent="0">
                  <a:buNone/>
                </a:pPr>
                <a:r>
                  <a:rPr lang="pl-PL" b="0" dirty="0" err="1"/>
                  <a:t>Now</a:t>
                </a:r>
                <a:r>
                  <a:rPr lang="pl-PL" b="0" dirty="0"/>
                  <a:t> for </a:t>
                </a:r>
                <a:r>
                  <a:rPr lang="pl-PL" b="0" dirty="0" err="1"/>
                  <a:t>every</a:t>
                </a:r>
                <a:r>
                  <a:rPr lang="pl-PL" b="0" dirty="0"/>
                  <a:t> point we </a:t>
                </a:r>
                <a:r>
                  <a:rPr lang="pl-PL" b="0" dirty="0" err="1"/>
                  <a:t>calculate</a:t>
                </a:r>
                <a:r>
                  <a:rPr lang="pl-PL" b="0" dirty="0"/>
                  <a:t> delta1 and delta2 and </a:t>
                </a:r>
                <a:r>
                  <a:rPr lang="pl-PL" b="0" dirty="0" err="1"/>
                  <a:t>classify</a:t>
                </a:r>
                <a:r>
                  <a:rPr lang="pl-PL" b="0" dirty="0"/>
                  <a:t> </a:t>
                </a:r>
                <a:r>
                  <a:rPr lang="pl-PL" b="0" dirty="0" err="1"/>
                  <a:t>points</a:t>
                </a:r>
                <a:r>
                  <a:rPr lang="pl-PL" b="0" dirty="0"/>
                  <a:t>.</a:t>
                </a:r>
              </a:p>
              <a:p>
                <a:pPr marL="0" indent="0">
                  <a:buNone/>
                </a:pPr>
                <a:endParaRPr lang="pl-PL" b="0" dirty="0"/>
              </a:p>
              <a:p>
                <a:pPr marL="0" indent="0">
                  <a:buNone/>
                </a:pPr>
                <a:endParaRPr lang="pl-PL" b="0" dirty="0"/>
              </a:p>
              <a:p>
                <a:endParaRPr lang="pl-PL" dirty="0"/>
              </a:p>
            </p:txBody>
          </p:sp>
        </mc:Choice>
        <mc:Fallback xmlns="">
          <p:sp>
            <p:nvSpPr>
              <p:cNvPr id="3" name="Symbol zastępczy zawartości 2">
                <a:extLst>
                  <a:ext uri="{FF2B5EF4-FFF2-40B4-BE49-F238E27FC236}">
                    <a16:creationId xmlns:a16="http://schemas.microsoft.com/office/drawing/2014/main" id="{B898815E-D90A-40CB-B040-0D9B15980D41}"/>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872"/>
                </a:stretch>
              </a:blipFill>
            </p:spPr>
            <p:txBody>
              <a:bodyPr/>
              <a:lstStyle/>
              <a:p>
                <a:r>
                  <a:rPr lang="pl-PL">
                    <a:noFill/>
                  </a:rPr>
                  <a:t> </a:t>
                </a:r>
              </a:p>
            </p:txBody>
          </p:sp>
        </mc:Fallback>
      </mc:AlternateContent>
      <p:sp>
        <p:nvSpPr>
          <p:cNvPr id="4" name="Symbol zastępczy numeru slajdu 3">
            <a:extLst>
              <a:ext uri="{FF2B5EF4-FFF2-40B4-BE49-F238E27FC236}">
                <a16:creationId xmlns:a16="http://schemas.microsoft.com/office/drawing/2014/main" id="{AB4A117C-63C1-47E1-B982-4D9A0A7D4926}"/>
              </a:ext>
            </a:extLst>
          </p:cNvPr>
          <p:cNvSpPr>
            <a:spLocks noGrp="1"/>
          </p:cNvSpPr>
          <p:nvPr>
            <p:ph type="sldNum" sz="quarter" idx="12"/>
          </p:nvPr>
        </p:nvSpPr>
        <p:spPr/>
        <p:txBody>
          <a:bodyPr/>
          <a:lstStyle/>
          <a:p>
            <a:fld id="{A7544F9A-EF6A-47CB-A458-C95835DAEA60}" type="slidenum">
              <a:rPr lang="pl-PL" smtClean="0"/>
              <a:t>23</a:t>
            </a:fld>
            <a:endParaRPr lang="pl-PL"/>
          </a:p>
        </p:txBody>
      </p:sp>
      <p:pic>
        <p:nvPicPr>
          <p:cNvPr id="7" name="Obraz 6">
            <a:extLst>
              <a:ext uri="{FF2B5EF4-FFF2-40B4-BE49-F238E27FC236}">
                <a16:creationId xmlns:a16="http://schemas.microsoft.com/office/drawing/2014/main" id="{9F6EFB72-F3A2-4CB7-B2D4-0587E855E2CD}"/>
              </a:ext>
            </a:extLst>
          </p:cNvPr>
          <p:cNvPicPr>
            <a:picLocks noChangeAspect="1"/>
          </p:cNvPicPr>
          <p:nvPr/>
        </p:nvPicPr>
        <p:blipFill rotWithShape="1">
          <a:blip r:embed="rId3"/>
          <a:srcRect l="20389" t="14811" r="40947" b="40397"/>
          <a:stretch/>
        </p:blipFill>
        <p:spPr>
          <a:xfrm>
            <a:off x="7173158" y="271116"/>
            <a:ext cx="4714042" cy="2929631"/>
          </a:xfrm>
          <a:prstGeom prst="rect">
            <a:avLst/>
          </a:prstGeom>
        </p:spPr>
      </p:pic>
    </p:spTree>
    <p:extLst>
      <p:ext uri="{BB962C8B-B14F-4D97-AF65-F5344CB8AC3E}">
        <p14:creationId xmlns:p14="http://schemas.microsoft.com/office/powerpoint/2010/main" val="3149997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2E9A529-21A3-4CEE-B510-E0D242E8057F}"/>
              </a:ext>
            </a:extLst>
          </p:cNvPr>
          <p:cNvSpPr>
            <a:spLocks noGrp="1"/>
          </p:cNvSpPr>
          <p:nvPr>
            <p:ph type="title"/>
          </p:nvPr>
        </p:nvSpPr>
        <p:spPr>
          <a:xfrm>
            <a:off x="838200" y="0"/>
            <a:ext cx="10515600" cy="602541"/>
          </a:xfrm>
        </p:spPr>
        <p:txBody>
          <a:bodyPr>
            <a:normAutofit fontScale="90000"/>
          </a:bodyPr>
          <a:lstStyle/>
          <a:p>
            <a:r>
              <a:rPr lang="pl-PL" dirty="0" err="1"/>
              <a:t>Discriminant</a:t>
            </a:r>
            <a:r>
              <a:rPr lang="pl-PL" dirty="0"/>
              <a:t> </a:t>
            </a:r>
            <a:r>
              <a:rPr lang="pl-PL" dirty="0" err="1"/>
              <a:t>function</a:t>
            </a:r>
            <a:r>
              <a:rPr lang="pl-PL" dirty="0"/>
              <a:t> 1 </a:t>
            </a:r>
            <a:r>
              <a:rPr lang="pl-PL" dirty="0" err="1"/>
              <a:t>calculation</a:t>
            </a:r>
            <a:endParaRPr lang="pl-PL" dirty="0"/>
          </a:p>
        </p:txBody>
      </p:sp>
      <p:sp>
        <p:nvSpPr>
          <p:cNvPr id="4" name="Symbol zastępczy numeru slajdu 3">
            <a:extLst>
              <a:ext uri="{FF2B5EF4-FFF2-40B4-BE49-F238E27FC236}">
                <a16:creationId xmlns:a16="http://schemas.microsoft.com/office/drawing/2014/main" id="{E5585D3D-5E25-438E-933E-1C322A809F34}"/>
              </a:ext>
            </a:extLst>
          </p:cNvPr>
          <p:cNvSpPr>
            <a:spLocks noGrp="1"/>
          </p:cNvSpPr>
          <p:nvPr>
            <p:ph type="sldNum" sz="quarter" idx="12"/>
          </p:nvPr>
        </p:nvSpPr>
        <p:spPr/>
        <p:txBody>
          <a:bodyPr/>
          <a:lstStyle/>
          <a:p>
            <a:fld id="{A7544F9A-EF6A-47CB-A458-C95835DAEA60}" type="slidenum">
              <a:rPr lang="pl-PL" smtClean="0"/>
              <a:t>24</a:t>
            </a:fld>
            <a:endParaRPr lang="pl-PL"/>
          </a:p>
        </p:txBody>
      </p:sp>
      <p:graphicFrame>
        <p:nvGraphicFramePr>
          <p:cNvPr id="8" name="Obiekt 7">
            <a:extLst>
              <a:ext uri="{FF2B5EF4-FFF2-40B4-BE49-F238E27FC236}">
                <a16:creationId xmlns:a16="http://schemas.microsoft.com/office/drawing/2014/main" id="{7C5D54CA-29F9-4CC7-9D66-828AC015962B}"/>
              </a:ext>
            </a:extLst>
          </p:cNvPr>
          <p:cNvGraphicFramePr>
            <a:graphicFrameLocks noChangeAspect="1"/>
          </p:cNvGraphicFramePr>
          <p:nvPr>
            <p:extLst>
              <p:ext uri="{D42A27DB-BD31-4B8C-83A1-F6EECF244321}">
                <p14:modId xmlns:p14="http://schemas.microsoft.com/office/powerpoint/2010/main" val="152297455"/>
              </p:ext>
            </p:extLst>
          </p:nvPr>
        </p:nvGraphicFramePr>
        <p:xfrm>
          <a:off x="838199" y="853474"/>
          <a:ext cx="9619695" cy="5341937"/>
        </p:xfrm>
        <a:graphic>
          <a:graphicData uri="http://schemas.openxmlformats.org/presentationml/2006/ole">
            <mc:AlternateContent xmlns:mc="http://schemas.openxmlformats.org/markup-compatibility/2006">
              <mc:Choice xmlns:v="urn:schemas-microsoft-com:vml" Requires="v">
                <p:oleObj name="Worksheet" r:id="rId2" imgW="8572394" imgH="5341604" progId="Excel.Sheet.12">
                  <p:embed/>
                </p:oleObj>
              </mc:Choice>
              <mc:Fallback>
                <p:oleObj name="Worksheet" r:id="rId2" imgW="8572394" imgH="5341604" progId="Excel.Sheet.12">
                  <p:embed/>
                  <p:pic>
                    <p:nvPicPr>
                      <p:cNvPr id="0" name=""/>
                      <p:cNvPicPr/>
                      <p:nvPr/>
                    </p:nvPicPr>
                    <p:blipFill>
                      <a:blip r:embed="rId3"/>
                      <a:stretch>
                        <a:fillRect/>
                      </a:stretch>
                    </p:blipFill>
                    <p:spPr>
                      <a:xfrm>
                        <a:off x="838199" y="853474"/>
                        <a:ext cx="9619695" cy="5341937"/>
                      </a:xfrm>
                      <a:prstGeom prst="rect">
                        <a:avLst/>
                      </a:prstGeom>
                    </p:spPr>
                  </p:pic>
                </p:oleObj>
              </mc:Fallback>
            </mc:AlternateContent>
          </a:graphicData>
        </a:graphic>
      </p:graphicFrame>
    </p:spTree>
    <p:extLst>
      <p:ext uri="{BB962C8B-B14F-4D97-AF65-F5344CB8AC3E}">
        <p14:creationId xmlns:p14="http://schemas.microsoft.com/office/powerpoint/2010/main" val="3095510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C752391-457C-421E-ABDC-DE5D35F6A2F8}"/>
              </a:ext>
            </a:extLst>
          </p:cNvPr>
          <p:cNvSpPr>
            <a:spLocks noGrp="1"/>
          </p:cNvSpPr>
          <p:nvPr>
            <p:ph type="title"/>
          </p:nvPr>
        </p:nvSpPr>
        <p:spPr>
          <a:xfrm>
            <a:off x="838200" y="0"/>
            <a:ext cx="10515600" cy="780094"/>
          </a:xfrm>
        </p:spPr>
        <p:txBody>
          <a:bodyPr/>
          <a:lstStyle/>
          <a:p>
            <a:r>
              <a:rPr lang="pl-PL" dirty="0" err="1"/>
              <a:t>Discriminant</a:t>
            </a:r>
            <a:r>
              <a:rPr lang="pl-PL" dirty="0"/>
              <a:t> </a:t>
            </a:r>
            <a:r>
              <a:rPr lang="pl-PL" dirty="0" err="1"/>
              <a:t>function</a:t>
            </a:r>
            <a:r>
              <a:rPr lang="pl-PL" dirty="0"/>
              <a:t> 2 </a:t>
            </a:r>
            <a:r>
              <a:rPr lang="pl-PL" dirty="0" err="1"/>
              <a:t>calculation</a:t>
            </a:r>
            <a:endParaRPr lang="pl-PL" dirty="0"/>
          </a:p>
        </p:txBody>
      </p:sp>
      <p:sp>
        <p:nvSpPr>
          <p:cNvPr id="4" name="Symbol zastępczy numeru slajdu 3">
            <a:extLst>
              <a:ext uri="{FF2B5EF4-FFF2-40B4-BE49-F238E27FC236}">
                <a16:creationId xmlns:a16="http://schemas.microsoft.com/office/drawing/2014/main" id="{E4640A72-C30F-4811-A9D2-F73703E6915F}"/>
              </a:ext>
            </a:extLst>
          </p:cNvPr>
          <p:cNvSpPr>
            <a:spLocks noGrp="1"/>
          </p:cNvSpPr>
          <p:nvPr>
            <p:ph type="sldNum" sz="quarter" idx="12"/>
          </p:nvPr>
        </p:nvSpPr>
        <p:spPr/>
        <p:txBody>
          <a:bodyPr/>
          <a:lstStyle/>
          <a:p>
            <a:fld id="{A7544F9A-EF6A-47CB-A458-C95835DAEA60}" type="slidenum">
              <a:rPr lang="pl-PL" smtClean="0"/>
              <a:t>25</a:t>
            </a:fld>
            <a:endParaRPr lang="pl-PL"/>
          </a:p>
        </p:txBody>
      </p:sp>
      <p:graphicFrame>
        <p:nvGraphicFramePr>
          <p:cNvPr id="6" name="Obiekt 5">
            <a:extLst>
              <a:ext uri="{FF2B5EF4-FFF2-40B4-BE49-F238E27FC236}">
                <a16:creationId xmlns:a16="http://schemas.microsoft.com/office/drawing/2014/main" id="{8C60BDC1-F6E3-4273-BE2C-62F599550FEB}"/>
              </a:ext>
            </a:extLst>
          </p:cNvPr>
          <p:cNvGraphicFramePr>
            <a:graphicFrameLocks noChangeAspect="1"/>
          </p:cNvGraphicFramePr>
          <p:nvPr>
            <p:extLst>
              <p:ext uri="{D42A27DB-BD31-4B8C-83A1-F6EECF244321}">
                <p14:modId xmlns:p14="http://schemas.microsoft.com/office/powerpoint/2010/main" val="51442856"/>
              </p:ext>
            </p:extLst>
          </p:nvPr>
        </p:nvGraphicFramePr>
        <p:xfrm>
          <a:off x="537284" y="780094"/>
          <a:ext cx="10888277" cy="5511908"/>
        </p:xfrm>
        <a:graphic>
          <a:graphicData uri="http://schemas.openxmlformats.org/presentationml/2006/ole">
            <mc:AlternateContent xmlns:mc="http://schemas.openxmlformats.org/markup-compatibility/2006">
              <mc:Choice xmlns:v="urn:schemas-microsoft-com:vml" Requires="v">
                <p:oleObj name="Worksheet" r:id="rId2" imgW="9182277" imgH="4648027" progId="Excel.Sheet.12">
                  <p:embed/>
                </p:oleObj>
              </mc:Choice>
              <mc:Fallback>
                <p:oleObj name="Worksheet" r:id="rId2" imgW="9182277" imgH="4648027" progId="Excel.Sheet.12">
                  <p:embed/>
                  <p:pic>
                    <p:nvPicPr>
                      <p:cNvPr id="0" name=""/>
                      <p:cNvPicPr/>
                      <p:nvPr/>
                    </p:nvPicPr>
                    <p:blipFill>
                      <a:blip r:embed="rId3"/>
                      <a:stretch>
                        <a:fillRect/>
                      </a:stretch>
                    </p:blipFill>
                    <p:spPr>
                      <a:xfrm>
                        <a:off x="537284" y="780094"/>
                        <a:ext cx="10888277" cy="5511908"/>
                      </a:xfrm>
                      <a:prstGeom prst="rect">
                        <a:avLst/>
                      </a:prstGeom>
                    </p:spPr>
                  </p:pic>
                </p:oleObj>
              </mc:Fallback>
            </mc:AlternateContent>
          </a:graphicData>
        </a:graphic>
      </p:graphicFrame>
    </p:spTree>
    <p:extLst>
      <p:ext uri="{BB962C8B-B14F-4D97-AF65-F5344CB8AC3E}">
        <p14:creationId xmlns:p14="http://schemas.microsoft.com/office/powerpoint/2010/main" val="147927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ACB3B1-E7B6-4920-80AC-66C97ECB4DE6}"/>
              </a:ext>
            </a:extLst>
          </p:cNvPr>
          <p:cNvSpPr>
            <a:spLocks noGrp="1"/>
          </p:cNvSpPr>
          <p:nvPr>
            <p:ph type="title"/>
          </p:nvPr>
        </p:nvSpPr>
        <p:spPr>
          <a:xfrm>
            <a:off x="838200" y="227087"/>
            <a:ext cx="10515600" cy="511682"/>
          </a:xfrm>
        </p:spPr>
        <p:txBody>
          <a:bodyPr>
            <a:normAutofit fontScale="90000"/>
          </a:bodyPr>
          <a:lstStyle/>
          <a:p>
            <a:pPr algn="ctr"/>
            <a:r>
              <a:rPr lang="pl-PL" b="1" dirty="0"/>
              <a:t>LDA </a:t>
            </a:r>
            <a:r>
              <a:rPr lang="pl-PL" b="1" dirty="0" err="1"/>
              <a:t>example</a:t>
            </a:r>
            <a:r>
              <a:rPr lang="pl-PL" b="1" dirty="0"/>
              <a:t> 2</a:t>
            </a:r>
          </a:p>
        </p:txBody>
      </p:sp>
      <p:graphicFrame>
        <p:nvGraphicFramePr>
          <p:cNvPr id="5" name="Symbol zastępczy zawartości 4">
            <a:extLst>
              <a:ext uri="{FF2B5EF4-FFF2-40B4-BE49-F238E27FC236}">
                <a16:creationId xmlns:a16="http://schemas.microsoft.com/office/drawing/2014/main" id="{570FC7CA-20E6-406E-B450-36F7D46271D7}"/>
              </a:ext>
            </a:extLst>
          </p:cNvPr>
          <p:cNvGraphicFramePr>
            <a:graphicFrameLocks noGrp="1"/>
          </p:cNvGraphicFramePr>
          <p:nvPr>
            <p:ph idx="1"/>
            <p:extLst>
              <p:ext uri="{D42A27DB-BD31-4B8C-83A1-F6EECF244321}">
                <p14:modId xmlns:p14="http://schemas.microsoft.com/office/powerpoint/2010/main" val="3266155467"/>
              </p:ext>
            </p:extLst>
          </p:nvPr>
        </p:nvGraphicFramePr>
        <p:xfrm>
          <a:off x="139082" y="922020"/>
          <a:ext cx="4299753" cy="2506980"/>
        </p:xfrm>
        <a:graphic>
          <a:graphicData uri="http://schemas.openxmlformats.org/drawingml/2006/table">
            <a:tbl>
              <a:tblPr>
                <a:tableStyleId>{5C22544A-7EE6-4342-B048-85BDC9FD1C3A}</a:tableStyleId>
              </a:tblPr>
              <a:tblGrid>
                <a:gridCol w="1433251">
                  <a:extLst>
                    <a:ext uri="{9D8B030D-6E8A-4147-A177-3AD203B41FA5}">
                      <a16:colId xmlns:a16="http://schemas.microsoft.com/office/drawing/2014/main" val="2485877518"/>
                    </a:ext>
                  </a:extLst>
                </a:gridCol>
                <a:gridCol w="1433251">
                  <a:extLst>
                    <a:ext uri="{9D8B030D-6E8A-4147-A177-3AD203B41FA5}">
                      <a16:colId xmlns:a16="http://schemas.microsoft.com/office/drawing/2014/main" val="4150967667"/>
                    </a:ext>
                  </a:extLst>
                </a:gridCol>
                <a:gridCol w="1433251">
                  <a:extLst>
                    <a:ext uri="{9D8B030D-6E8A-4147-A177-3AD203B41FA5}">
                      <a16:colId xmlns:a16="http://schemas.microsoft.com/office/drawing/2014/main" val="989242194"/>
                    </a:ext>
                  </a:extLst>
                </a:gridCol>
              </a:tblGrid>
              <a:tr h="182880">
                <a:tc>
                  <a:txBody>
                    <a:bodyPr/>
                    <a:lstStyle/>
                    <a:p>
                      <a:pPr algn="ctr" fontAlgn="b"/>
                      <a:r>
                        <a:rPr lang="pl-PL" sz="1600" u="none" strike="noStrike" dirty="0" err="1">
                          <a:effectLst/>
                        </a:rPr>
                        <a:t>Curvature</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Diameter</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Quality Control Result</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79612602"/>
                  </a:ext>
                </a:extLst>
              </a:tr>
              <a:tr h="182880">
                <a:tc>
                  <a:txBody>
                    <a:bodyPr/>
                    <a:lstStyle/>
                    <a:p>
                      <a:pPr algn="ctr" fontAlgn="b"/>
                      <a:r>
                        <a:rPr lang="pl-PL" sz="1600" u="none" strike="noStrike" dirty="0">
                          <a:effectLst/>
                        </a:rPr>
                        <a:t>2.95</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6.63</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06121032"/>
                  </a:ext>
                </a:extLst>
              </a:tr>
              <a:tr h="182880">
                <a:tc>
                  <a:txBody>
                    <a:bodyPr/>
                    <a:lstStyle/>
                    <a:p>
                      <a:pPr algn="ctr" fontAlgn="b"/>
                      <a:r>
                        <a:rPr lang="pl-PL" sz="1600" u="none" strike="noStrike">
                          <a:effectLst/>
                        </a:rPr>
                        <a:t>2.53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7.79</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21179980"/>
                  </a:ext>
                </a:extLst>
              </a:tr>
              <a:tr h="182880">
                <a:tc>
                  <a:txBody>
                    <a:bodyPr/>
                    <a:lstStyle/>
                    <a:p>
                      <a:pPr algn="ctr" fontAlgn="b"/>
                      <a:r>
                        <a:rPr lang="pl-PL" sz="1600" u="none" strike="noStrike">
                          <a:effectLst/>
                        </a:rPr>
                        <a:t>3.57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5.65</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55664391"/>
                  </a:ext>
                </a:extLst>
              </a:tr>
              <a:tr h="182880">
                <a:tc>
                  <a:txBody>
                    <a:bodyPr/>
                    <a:lstStyle/>
                    <a:p>
                      <a:pPr algn="ctr" fontAlgn="b"/>
                      <a:r>
                        <a:rPr lang="pl-PL" sz="1600" u="none" strike="noStrike">
                          <a:effectLst/>
                        </a:rPr>
                        <a:t>3.16</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5.47</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47365428"/>
                  </a:ext>
                </a:extLst>
              </a:tr>
              <a:tr h="182880">
                <a:tc>
                  <a:txBody>
                    <a:bodyPr/>
                    <a:lstStyle/>
                    <a:p>
                      <a:pPr algn="ctr" fontAlgn="b"/>
                      <a:r>
                        <a:rPr lang="pl-PL" sz="1600" u="none" strike="noStrike">
                          <a:effectLst/>
                        </a:rPr>
                        <a:t>2.58</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4.46</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0</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95185374"/>
                  </a:ext>
                </a:extLst>
              </a:tr>
              <a:tr h="182880">
                <a:tc>
                  <a:txBody>
                    <a:bodyPr/>
                    <a:lstStyle/>
                    <a:p>
                      <a:pPr algn="ctr" fontAlgn="b"/>
                      <a:r>
                        <a:rPr lang="pl-PL" sz="1600" u="none" strike="noStrike">
                          <a:effectLst/>
                        </a:rPr>
                        <a:t>2.16</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6.22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0</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07555248"/>
                  </a:ext>
                </a:extLst>
              </a:tr>
              <a:tr h="182880">
                <a:tc>
                  <a:txBody>
                    <a:bodyPr/>
                    <a:lstStyle/>
                    <a:p>
                      <a:pPr algn="ctr" fontAlgn="b"/>
                      <a:r>
                        <a:rPr lang="pl-PL" sz="1600" u="none" strike="noStrike">
                          <a:effectLst/>
                        </a:rPr>
                        <a:t>3.27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a:effectLst/>
                        </a:rPr>
                        <a:t>3.52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0</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60848078"/>
                  </a:ext>
                </a:extLst>
              </a:tr>
              <a:tr h="182880">
                <a:tc>
                  <a:txBody>
                    <a:bodyPr/>
                    <a:lstStyle/>
                    <a:p>
                      <a:pPr algn="ctr" fontAlgn="b"/>
                      <a:r>
                        <a:rPr lang="pl-PL" sz="1600" u="none" strike="noStrike">
                          <a:effectLst/>
                        </a:rPr>
                        <a:t>2.888571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pl-PL" sz="1600" u="none" strike="noStrike" dirty="0">
                          <a:effectLst/>
                        </a:rPr>
                        <a:t>5.677143</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89437116"/>
                  </a:ext>
                </a:extLst>
              </a:tr>
            </a:tbl>
          </a:graphicData>
        </a:graphic>
      </p:graphicFrame>
      <p:sp>
        <p:nvSpPr>
          <p:cNvPr id="4" name="Symbol zastępczy numeru slajdu 3">
            <a:extLst>
              <a:ext uri="{FF2B5EF4-FFF2-40B4-BE49-F238E27FC236}">
                <a16:creationId xmlns:a16="http://schemas.microsoft.com/office/drawing/2014/main" id="{ADC330E4-8204-4DF5-AD00-F7C4FCA13AEE}"/>
              </a:ext>
            </a:extLst>
          </p:cNvPr>
          <p:cNvSpPr>
            <a:spLocks noGrp="1"/>
          </p:cNvSpPr>
          <p:nvPr>
            <p:ph type="sldNum" sz="quarter" idx="12"/>
          </p:nvPr>
        </p:nvSpPr>
        <p:spPr/>
        <p:txBody>
          <a:bodyPr/>
          <a:lstStyle/>
          <a:p>
            <a:fld id="{A7544F9A-EF6A-47CB-A458-C95835DAEA60}" type="slidenum">
              <a:rPr lang="pl-PL" smtClean="0"/>
              <a:t>26</a:t>
            </a:fld>
            <a:endParaRPr lang="pl-PL"/>
          </a:p>
        </p:txBody>
      </p:sp>
      <p:graphicFrame>
        <p:nvGraphicFramePr>
          <p:cNvPr id="6" name="Wykres 5">
            <a:extLst>
              <a:ext uri="{FF2B5EF4-FFF2-40B4-BE49-F238E27FC236}">
                <a16:creationId xmlns:a16="http://schemas.microsoft.com/office/drawing/2014/main" id="{00000000-0008-0000-0000-000004000000}"/>
              </a:ext>
            </a:extLst>
          </p:cNvPr>
          <p:cNvGraphicFramePr>
            <a:graphicFrameLocks/>
          </p:cNvGraphicFramePr>
          <p:nvPr>
            <p:extLst>
              <p:ext uri="{D42A27DB-BD31-4B8C-83A1-F6EECF244321}">
                <p14:modId xmlns:p14="http://schemas.microsoft.com/office/powerpoint/2010/main" val="1816012377"/>
              </p:ext>
            </p:extLst>
          </p:nvPr>
        </p:nvGraphicFramePr>
        <p:xfrm>
          <a:off x="5060271" y="922020"/>
          <a:ext cx="6143347" cy="2984155"/>
        </p:xfrm>
        <a:graphic>
          <a:graphicData uri="http://schemas.openxmlformats.org/drawingml/2006/chart">
            <c:chart xmlns:c="http://schemas.openxmlformats.org/drawingml/2006/chart" xmlns:r="http://schemas.openxmlformats.org/officeDocument/2006/relationships" r:id="rId2"/>
          </a:graphicData>
        </a:graphic>
      </p:graphicFrame>
      <p:sp>
        <p:nvSpPr>
          <p:cNvPr id="9" name="pole tekstowe 8">
            <a:extLst>
              <a:ext uri="{FF2B5EF4-FFF2-40B4-BE49-F238E27FC236}">
                <a16:creationId xmlns:a16="http://schemas.microsoft.com/office/drawing/2014/main" id="{FFE52C8F-03B9-4B3A-84D9-9611945B311B}"/>
              </a:ext>
            </a:extLst>
          </p:cNvPr>
          <p:cNvSpPr txBox="1"/>
          <p:nvPr/>
        </p:nvSpPr>
        <p:spPr>
          <a:xfrm>
            <a:off x="0" y="4272677"/>
            <a:ext cx="12192000" cy="2308324"/>
          </a:xfrm>
          <a:prstGeom prst="rect">
            <a:avLst/>
          </a:prstGeom>
          <a:noFill/>
        </p:spPr>
        <p:txBody>
          <a:bodyPr wrap="square">
            <a:spAutoFit/>
          </a:bodyPr>
          <a:lstStyle/>
          <a:p>
            <a:r>
              <a:rPr lang="en-US" dirty="0"/>
              <a:t>Factory "ABC" produces very expensive and high quality chip rings that their qualities are measured in term of curvature and diameter. Result of quality control by experts is given in the table </a:t>
            </a:r>
            <a:r>
              <a:rPr lang="pl-PL" dirty="0" err="1"/>
              <a:t>above</a:t>
            </a:r>
            <a:r>
              <a:rPr lang="en-US" dirty="0"/>
              <a:t>.</a:t>
            </a:r>
          </a:p>
          <a:p>
            <a:endParaRPr lang="en-US" dirty="0"/>
          </a:p>
          <a:p>
            <a:r>
              <a:rPr lang="en-US" dirty="0"/>
              <a:t>As a consultant to the factory, you get a task to set up the criteria for automatic quality control.</a:t>
            </a:r>
          </a:p>
          <a:p>
            <a:r>
              <a:rPr lang="en-US" dirty="0"/>
              <a:t>Then, the manager of the factory also wants to test your criteria upon new type of chip rings that even the human experts are argued to each other.</a:t>
            </a:r>
          </a:p>
          <a:p>
            <a:r>
              <a:rPr lang="en-US" dirty="0"/>
              <a:t> The new chip rings have curvature 2.81 and diameter 5.46.</a:t>
            </a:r>
          </a:p>
          <a:p>
            <a:r>
              <a:rPr lang="en-US" dirty="0"/>
              <a:t>Can you solve this problem by employing Discriminant Analysis?</a:t>
            </a:r>
          </a:p>
        </p:txBody>
      </p:sp>
    </p:spTree>
    <p:extLst>
      <p:ext uri="{BB962C8B-B14F-4D97-AF65-F5344CB8AC3E}">
        <p14:creationId xmlns:p14="http://schemas.microsoft.com/office/powerpoint/2010/main" val="1587687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600383-049F-4005-A1CF-DB49253A9EDA}"/>
              </a:ext>
            </a:extLst>
          </p:cNvPr>
          <p:cNvSpPr>
            <a:spLocks noGrp="1"/>
          </p:cNvSpPr>
          <p:nvPr>
            <p:ph type="title"/>
          </p:nvPr>
        </p:nvSpPr>
        <p:spPr>
          <a:xfrm>
            <a:off x="838200" y="142859"/>
            <a:ext cx="10515600" cy="315912"/>
          </a:xfrm>
        </p:spPr>
        <p:txBody>
          <a:bodyPr>
            <a:normAutofit fontScale="90000"/>
          </a:bodyPr>
          <a:lstStyle/>
          <a:p>
            <a:pPr algn="ctr"/>
            <a:r>
              <a:rPr lang="pl-PL" b="1" dirty="0"/>
              <a:t>LDA </a:t>
            </a:r>
            <a:r>
              <a:rPr lang="pl-PL" b="1" dirty="0" err="1"/>
              <a:t>example</a:t>
            </a:r>
            <a:r>
              <a:rPr lang="pl-PL" b="1" dirty="0"/>
              <a:t> 2</a:t>
            </a:r>
          </a:p>
        </p:txBody>
      </p:sp>
      <p:sp>
        <p:nvSpPr>
          <p:cNvPr id="3" name="Symbol zastępczy zawartości 2">
            <a:extLst>
              <a:ext uri="{FF2B5EF4-FFF2-40B4-BE49-F238E27FC236}">
                <a16:creationId xmlns:a16="http://schemas.microsoft.com/office/drawing/2014/main" id="{1D7A9908-EDAF-4983-A0E5-10849E40A5D8}"/>
              </a:ext>
            </a:extLst>
          </p:cNvPr>
          <p:cNvSpPr>
            <a:spLocks noGrp="1"/>
          </p:cNvSpPr>
          <p:nvPr>
            <p:ph idx="1"/>
          </p:nvPr>
        </p:nvSpPr>
        <p:spPr>
          <a:xfrm>
            <a:off x="292963" y="798990"/>
            <a:ext cx="11514338" cy="6059010"/>
          </a:xfrm>
        </p:spPr>
        <p:txBody>
          <a:bodyPr>
            <a:normAutofit fontScale="92500" lnSpcReduction="10000"/>
          </a:bodyPr>
          <a:lstStyle/>
          <a:p>
            <a:r>
              <a:rPr lang="en-US" dirty="0"/>
              <a:t>When we plot the features, we can see that the data is linearly separable. </a:t>
            </a:r>
          </a:p>
          <a:p>
            <a:r>
              <a:rPr lang="en-US" dirty="0"/>
              <a:t>We can draw a line to separate the two groups. </a:t>
            </a:r>
          </a:p>
          <a:p>
            <a:r>
              <a:rPr lang="en-US" dirty="0"/>
              <a:t>The problem is to find the line and to rotate the features in such a way to maximize the distance between groups and to minimize distance within group.</a:t>
            </a:r>
            <a:endParaRPr lang="pl-PL" dirty="0"/>
          </a:p>
          <a:p>
            <a:endParaRPr lang="pl-PL" dirty="0"/>
          </a:p>
          <a:p>
            <a:endParaRPr lang="pl-PL" dirty="0"/>
          </a:p>
          <a:p>
            <a:endParaRPr lang="pl-PL" dirty="0"/>
          </a:p>
          <a:p>
            <a:endParaRPr lang="pl-PL" dirty="0"/>
          </a:p>
          <a:p>
            <a:endParaRPr lang="en-US" dirty="0"/>
          </a:p>
          <a:p>
            <a:endParaRPr lang="en-US" dirty="0"/>
          </a:p>
          <a:p>
            <a:r>
              <a:rPr lang="en-US" dirty="0"/>
              <a:t>x = features (or independent variables) of all data. Each row (denoted by * ) represents one object; each column stands for one feature.</a:t>
            </a:r>
          </a:p>
          <a:p>
            <a:r>
              <a:rPr lang="en-US" dirty="0"/>
              <a:t>y = group of the object (or dependent variable) of all data. Each row represents one object and it has only one column.</a:t>
            </a:r>
          </a:p>
          <a:p>
            <a:endParaRPr lang="pl-PL" dirty="0"/>
          </a:p>
        </p:txBody>
      </p:sp>
      <p:sp>
        <p:nvSpPr>
          <p:cNvPr id="4" name="Symbol zastępczy numeru slajdu 3">
            <a:extLst>
              <a:ext uri="{FF2B5EF4-FFF2-40B4-BE49-F238E27FC236}">
                <a16:creationId xmlns:a16="http://schemas.microsoft.com/office/drawing/2014/main" id="{717C4CC6-2D54-416E-94AD-C225A459469F}"/>
              </a:ext>
            </a:extLst>
          </p:cNvPr>
          <p:cNvSpPr>
            <a:spLocks noGrp="1"/>
          </p:cNvSpPr>
          <p:nvPr>
            <p:ph type="sldNum" sz="quarter" idx="12"/>
          </p:nvPr>
        </p:nvSpPr>
        <p:spPr/>
        <p:txBody>
          <a:bodyPr/>
          <a:lstStyle/>
          <a:p>
            <a:fld id="{A7544F9A-EF6A-47CB-A458-C95835DAEA60}" type="slidenum">
              <a:rPr lang="pl-PL" smtClean="0"/>
              <a:t>27</a:t>
            </a:fld>
            <a:endParaRPr lang="pl-PL"/>
          </a:p>
        </p:txBody>
      </p:sp>
      <p:graphicFrame>
        <p:nvGraphicFramePr>
          <p:cNvPr id="6" name="Wykres 5">
            <a:extLst>
              <a:ext uri="{FF2B5EF4-FFF2-40B4-BE49-F238E27FC236}">
                <a16:creationId xmlns:a16="http://schemas.microsoft.com/office/drawing/2014/main" id="{E128DDE7-4826-4B4C-A3C4-5935BB3F69BC}"/>
              </a:ext>
            </a:extLst>
          </p:cNvPr>
          <p:cNvGraphicFramePr>
            <a:graphicFrameLocks/>
          </p:cNvGraphicFramePr>
          <p:nvPr>
            <p:extLst>
              <p:ext uri="{D42A27DB-BD31-4B8C-83A1-F6EECF244321}">
                <p14:modId xmlns:p14="http://schemas.microsoft.com/office/powerpoint/2010/main" val="3985854773"/>
              </p:ext>
            </p:extLst>
          </p:nvPr>
        </p:nvGraphicFramePr>
        <p:xfrm>
          <a:off x="2467253" y="2289091"/>
          <a:ext cx="6143347" cy="29841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2291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B78CE39-7174-4BEA-A73F-52229FF456ED}"/>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5" name="Symbol zastępczy zawartości 4">
            <a:extLst>
              <a:ext uri="{FF2B5EF4-FFF2-40B4-BE49-F238E27FC236}">
                <a16:creationId xmlns:a16="http://schemas.microsoft.com/office/drawing/2014/main" id="{6728E39E-FDCA-470A-BFB5-573FA38E2CCB}"/>
              </a:ext>
            </a:extLst>
          </p:cNvPr>
          <p:cNvGraphicFramePr>
            <a:graphicFrameLocks noGrp="1"/>
          </p:cNvGraphicFramePr>
          <p:nvPr>
            <p:ph idx="1"/>
            <p:extLst>
              <p:ext uri="{D42A27DB-BD31-4B8C-83A1-F6EECF244321}">
                <p14:modId xmlns:p14="http://schemas.microsoft.com/office/powerpoint/2010/main" val="2987535652"/>
              </p:ext>
            </p:extLst>
          </p:nvPr>
        </p:nvGraphicFramePr>
        <p:xfrm>
          <a:off x="2902998" y="1836579"/>
          <a:ext cx="5282214" cy="2186940"/>
        </p:xfrm>
        <a:graphic>
          <a:graphicData uri="http://schemas.openxmlformats.org/drawingml/2006/table">
            <a:tbl>
              <a:tblPr>
                <a:tableStyleId>{5C22544A-7EE6-4342-B048-85BDC9FD1C3A}</a:tableStyleId>
              </a:tblPr>
              <a:tblGrid>
                <a:gridCol w="880369">
                  <a:extLst>
                    <a:ext uri="{9D8B030D-6E8A-4147-A177-3AD203B41FA5}">
                      <a16:colId xmlns:a16="http://schemas.microsoft.com/office/drawing/2014/main" val="3127968243"/>
                    </a:ext>
                  </a:extLst>
                </a:gridCol>
                <a:gridCol w="880369">
                  <a:extLst>
                    <a:ext uri="{9D8B030D-6E8A-4147-A177-3AD203B41FA5}">
                      <a16:colId xmlns:a16="http://schemas.microsoft.com/office/drawing/2014/main" val="1044802448"/>
                    </a:ext>
                  </a:extLst>
                </a:gridCol>
                <a:gridCol w="880369">
                  <a:extLst>
                    <a:ext uri="{9D8B030D-6E8A-4147-A177-3AD203B41FA5}">
                      <a16:colId xmlns:a16="http://schemas.microsoft.com/office/drawing/2014/main" val="1594763287"/>
                    </a:ext>
                  </a:extLst>
                </a:gridCol>
                <a:gridCol w="880369">
                  <a:extLst>
                    <a:ext uri="{9D8B030D-6E8A-4147-A177-3AD203B41FA5}">
                      <a16:colId xmlns:a16="http://schemas.microsoft.com/office/drawing/2014/main" val="3124871050"/>
                    </a:ext>
                  </a:extLst>
                </a:gridCol>
                <a:gridCol w="880369">
                  <a:extLst>
                    <a:ext uri="{9D8B030D-6E8A-4147-A177-3AD203B41FA5}">
                      <a16:colId xmlns:a16="http://schemas.microsoft.com/office/drawing/2014/main" val="284453607"/>
                    </a:ext>
                  </a:extLst>
                </a:gridCol>
                <a:gridCol w="880369">
                  <a:extLst>
                    <a:ext uri="{9D8B030D-6E8A-4147-A177-3AD203B41FA5}">
                      <a16:colId xmlns:a16="http://schemas.microsoft.com/office/drawing/2014/main" val="218685645"/>
                    </a:ext>
                  </a:extLst>
                </a:gridCol>
              </a:tblGrid>
              <a:tr h="18288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dirty="0">
                          <a:effectLst/>
                        </a:rPr>
                        <a:t>2.95</a:t>
                      </a:r>
                      <a:endParaRPr lang="pl-PL" sz="2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6.63</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1</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9326078"/>
                  </a:ext>
                </a:extLst>
              </a:tr>
              <a:tr h="18288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2.53</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7.79</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1</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1761499"/>
                  </a:ext>
                </a:extLst>
              </a:tr>
              <a:tr h="182880">
                <a:tc>
                  <a:txBody>
                    <a:bodyPr/>
                    <a:lstStyle/>
                    <a:p>
                      <a:pPr algn="l" fontAlgn="b"/>
                      <a:r>
                        <a:rPr lang="pl-PL" sz="2000" u="none" strike="noStrike">
                          <a:effectLst/>
                        </a:rPr>
                        <a:t>X = </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3.57</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5.65</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1</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26221821"/>
                  </a:ext>
                </a:extLst>
              </a:tr>
              <a:tr h="19050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3.16</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5.47</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2000" u="none" strike="noStrike">
                          <a:effectLst/>
                        </a:rPr>
                        <a:t>y =</a:t>
                      </a:r>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1</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72345547"/>
                  </a:ext>
                </a:extLst>
              </a:tr>
              <a:tr h="18288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0</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74174409"/>
                  </a:ext>
                </a:extLst>
              </a:tr>
              <a:tr h="18288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a:effectLst/>
                        </a:rPr>
                        <a:t>0</a:t>
                      </a:r>
                      <a:endParaRPr lang="pl-PL"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9040225"/>
                  </a:ext>
                </a:extLst>
              </a:tr>
              <a:tr h="190500">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20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2000" u="none" strike="noStrike" dirty="0">
                          <a:effectLst/>
                        </a:rPr>
                        <a:t>0</a:t>
                      </a:r>
                      <a:endParaRPr lang="pl-PL"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60550370"/>
                  </a:ext>
                </a:extLst>
              </a:tr>
            </a:tbl>
          </a:graphicData>
        </a:graphic>
      </p:graphicFrame>
      <p:sp>
        <p:nvSpPr>
          <p:cNvPr id="4" name="Symbol zastępczy numeru slajdu 3">
            <a:extLst>
              <a:ext uri="{FF2B5EF4-FFF2-40B4-BE49-F238E27FC236}">
                <a16:creationId xmlns:a16="http://schemas.microsoft.com/office/drawing/2014/main" id="{342BD661-F8EE-46E2-84A1-7A6DEB7B8B30}"/>
              </a:ext>
            </a:extLst>
          </p:cNvPr>
          <p:cNvSpPr>
            <a:spLocks noGrp="1"/>
          </p:cNvSpPr>
          <p:nvPr>
            <p:ph type="sldNum" sz="quarter" idx="12"/>
          </p:nvPr>
        </p:nvSpPr>
        <p:spPr/>
        <p:txBody>
          <a:bodyPr/>
          <a:lstStyle/>
          <a:p>
            <a:fld id="{A7544F9A-EF6A-47CB-A458-C95835DAEA60}" type="slidenum">
              <a:rPr lang="pl-PL" smtClean="0"/>
              <a:t>28</a:t>
            </a:fld>
            <a:endParaRPr lang="pl-PL"/>
          </a:p>
        </p:txBody>
      </p:sp>
      <p:sp>
        <p:nvSpPr>
          <p:cNvPr id="7" name="pole tekstowe 6">
            <a:extLst>
              <a:ext uri="{FF2B5EF4-FFF2-40B4-BE49-F238E27FC236}">
                <a16:creationId xmlns:a16="http://schemas.microsoft.com/office/drawing/2014/main" id="{BB193C61-020E-4232-AA04-7124D75A8384}"/>
              </a:ext>
            </a:extLst>
          </p:cNvPr>
          <p:cNvSpPr txBox="1"/>
          <p:nvPr/>
        </p:nvSpPr>
        <p:spPr>
          <a:xfrm>
            <a:off x="0" y="5103674"/>
            <a:ext cx="12190520" cy="1754326"/>
          </a:xfrm>
          <a:prstGeom prst="rect">
            <a:avLst/>
          </a:prstGeom>
          <a:noFill/>
        </p:spPr>
        <p:txBody>
          <a:bodyPr wrap="square">
            <a:spAutoFit/>
          </a:bodyPr>
          <a:lstStyle/>
          <a:p>
            <a:r>
              <a:rPr lang="en-US" dirty="0"/>
              <a:t>g - number of groups in y	</a:t>
            </a:r>
            <a:r>
              <a:rPr lang="pl-PL" dirty="0"/>
              <a:t>, i</a:t>
            </a:r>
            <a:r>
              <a:rPr lang="en-US" dirty="0"/>
              <a:t>n our example, g = 2						</a:t>
            </a:r>
          </a:p>
          <a:p>
            <a:r>
              <a:rPr lang="en-US" dirty="0"/>
              <a:t>x(</a:t>
            </a:r>
            <a:r>
              <a:rPr lang="en-US" dirty="0" err="1"/>
              <a:t>i</a:t>
            </a:r>
            <a:r>
              <a:rPr lang="pl-PL" dirty="0"/>
              <a:t>,.</a:t>
            </a:r>
            <a:r>
              <a:rPr lang="en-US" dirty="0"/>
              <a:t>) features data for group </a:t>
            </a:r>
            <a:r>
              <a:rPr lang="en-US" dirty="0" err="1"/>
              <a:t>i</a:t>
            </a:r>
            <a:r>
              <a:rPr lang="en-US" dirty="0"/>
              <a:t>						</a:t>
            </a:r>
          </a:p>
          <a:p>
            <a:r>
              <a:rPr lang="en-US" dirty="0"/>
              <a:t>Each row represents one object, each column stands for one feature						</a:t>
            </a:r>
          </a:p>
          <a:p>
            <a:r>
              <a:rPr lang="en-US" dirty="0"/>
              <a:t>We separate x into several groups based on the number of category in y</a:t>
            </a:r>
            <a:endParaRPr lang="pl-PL" dirty="0"/>
          </a:p>
          <a:p>
            <a:r>
              <a:rPr lang="en-US" dirty="0"/>
              <a:t>x(</a:t>
            </a:r>
            <a:r>
              <a:rPr lang="pl-PL" dirty="0"/>
              <a:t>.,</a:t>
            </a:r>
            <a:r>
              <a:rPr lang="en-US" dirty="0"/>
              <a:t>k) is the data row, for example x(3) =				3.57	5.65 						</a:t>
            </a:r>
          </a:p>
        </p:txBody>
      </p:sp>
    </p:spTree>
    <p:extLst>
      <p:ext uri="{BB962C8B-B14F-4D97-AF65-F5344CB8AC3E}">
        <p14:creationId xmlns:p14="http://schemas.microsoft.com/office/powerpoint/2010/main" val="64921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7DAD7A4-0C14-4FF9-B390-382503FDE192}"/>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5" name="Symbol zastępczy zawartości 4">
            <a:extLst>
              <a:ext uri="{FF2B5EF4-FFF2-40B4-BE49-F238E27FC236}">
                <a16:creationId xmlns:a16="http://schemas.microsoft.com/office/drawing/2014/main" id="{44FA49AB-4C90-4D9C-85B8-E1E7499C9C9B}"/>
              </a:ext>
            </a:extLst>
          </p:cNvPr>
          <p:cNvGraphicFramePr>
            <a:graphicFrameLocks noGrp="1"/>
          </p:cNvGraphicFramePr>
          <p:nvPr>
            <p:ph idx="1"/>
            <p:extLst>
              <p:ext uri="{D42A27DB-BD31-4B8C-83A1-F6EECF244321}">
                <p14:modId xmlns:p14="http://schemas.microsoft.com/office/powerpoint/2010/main" val="1518586572"/>
              </p:ext>
            </p:extLst>
          </p:nvPr>
        </p:nvGraphicFramePr>
        <p:xfrm>
          <a:off x="3216677" y="3017679"/>
          <a:ext cx="4267200" cy="100584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273131642"/>
                    </a:ext>
                  </a:extLst>
                </a:gridCol>
                <a:gridCol w="609600">
                  <a:extLst>
                    <a:ext uri="{9D8B030D-6E8A-4147-A177-3AD203B41FA5}">
                      <a16:colId xmlns:a16="http://schemas.microsoft.com/office/drawing/2014/main" val="615519943"/>
                    </a:ext>
                  </a:extLst>
                </a:gridCol>
                <a:gridCol w="609600">
                  <a:extLst>
                    <a:ext uri="{9D8B030D-6E8A-4147-A177-3AD203B41FA5}">
                      <a16:colId xmlns:a16="http://schemas.microsoft.com/office/drawing/2014/main" val="659432455"/>
                    </a:ext>
                  </a:extLst>
                </a:gridCol>
                <a:gridCol w="609600">
                  <a:extLst>
                    <a:ext uri="{9D8B030D-6E8A-4147-A177-3AD203B41FA5}">
                      <a16:colId xmlns:a16="http://schemas.microsoft.com/office/drawing/2014/main" val="4219478927"/>
                    </a:ext>
                  </a:extLst>
                </a:gridCol>
                <a:gridCol w="609600">
                  <a:extLst>
                    <a:ext uri="{9D8B030D-6E8A-4147-A177-3AD203B41FA5}">
                      <a16:colId xmlns:a16="http://schemas.microsoft.com/office/drawing/2014/main" val="2019668414"/>
                    </a:ext>
                  </a:extLst>
                </a:gridCol>
                <a:gridCol w="609600">
                  <a:extLst>
                    <a:ext uri="{9D8B030D-6E8A-4147-A177-3AD203B41FA5}">
                      <a16:colId xmlns:a16="http://schemas.microsoft.com/office/drawing/2014/main" val="937230188"/>
                    </a:ext>
                  </a:extLst>
                </a:gridCol>
                <a:gridCol w="609600">
                  <a:extLst>
                    <a:ext uri="{9D8B030D-6E8A-4147-A177-3AD203B41FA5}">
                      <a16:colId xmlns:a16="http://schemas.microsoft.com/office/drawing/2014/main" val="107923839"/>
                    </a:ext>
                  </a:extLst>
                </a:gridCol>
              </a:tblGrid>
              <a:tr h="190500">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2.95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6.63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24686258"/>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2.53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7.79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2.58</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4.46</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19439294"/>
                  </a:ext>
                </a:extLst>
              </a:tr>
              <a:tr h="190500">
                <a:tc>
                  <a:txBody>
                    <a:bodyPr/>
                    <a:lstStyle/>
                    <a:p>
                      <a:pPr algn="l" fontAlgn="b"/>
                      <a:r>
                        <a:rPr lang="pl-PL" sz="1600" u="none" strike="noStrike">
                          <a:effectLst/>
                        </a:rPr>
                        <a:t>x(1)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5.65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x(2)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2.16</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6.22</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76086229"/>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3.16</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5.47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3.27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3.52</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86857641"/>
                  </a:ext>
                </a:extLst>
              </a:tr>
            </a:tbl>
          </a:graphicData>
        </a:graphic>
      </p:graphicFrame>
      <p:sp>
        <p:nvSpPr>
          <p:cNvPr id="4" name="Symbol zastępczy numeru slajdu 3">
            <a:extLst>
              <a:ext uri="{FF2B5EF4-FFF2-40B4-BE49-F238E27FC236}">
                <a16:creationId xmlns:a16="http://schemas.microsoft.com/office/drawing/2014/main" id="{B1C5AC73-8DDA-41BC-8E8D-D4F1A290EBE7}"/>
              </a:ext>
            </a:extLst>
          </p:cNvPr>
          <p:cNvSpPr>
            <a:spLocks noGrp="1"/>
          </p:cNvSpPr>
          <p:nvPr>
            <p:ph type="sldNum" sz="quarter" idx="12"/>
          </p:nvPr>
        </p:nvSpPr>
        <p:spPr/>
        <p:txBody>
          <a:bodyPr/>
          <a:lstStyle/>
          <a:p>
            <a:fld id="{A7544F9A-EF6A-47CB-A458-C95835DAEA60}" type="slidenum">
              <a:rPr lang="pl-PL" smtClean="0"/>
              <a:t>29</a:t>
            </a:fld>
            <a:endParaRPr lang="pl-PL"/>
          </a:p>
        </p:txBody>
      </p:sp>
      <p:graphicFrame>
        <p:nvGraphicFramePr>
          <p:cNvPr id="6" name="Tabela 5">
            <a:extLst>
              <a:ext uri="{FF2B5EF4-FFF2-40B4-BE49-F238E27FC236}">
                <a16:creationId xmlns:a16="http://schemas.microsoft.com/office/drawing/2014/main" id="{0B3E1DBB-A912-4CA3-940D-60E7BECAD880}"/>
              </a:ext>
            </a:extLst>
          </p:cNvPr>
          <p:cNvGraphicFramePr>
            <a:graphicFrameLocks noGrp="1"/>
          </p:cNvGraphicFramePr>
          <p:nvPr>
            <p:extLst>
              <p:ext uri="{D42A27DB-BD31-4B8C-83A1-F6EECF244321}">
                <p14:modId xmlns:p14="http://schemas.microsoft.com/office/powerpoint/2010/main" val="3676419261"/>
              </p:ext>
            </p:extLst>
          </p:nvPr>
        </p:nvGraphicFramePr>
        <p:xfrm>
          <a:off x="2618050" y="4915852"/>
          <a:ext cx="6121400" cy="50292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1669192096"/>
                    </a:ext>
                  </a:extLst>
                </a:gridCol>
                <a:gridCol w="609600">
                  <a:extLst>
                    <a:ext uri="{9D8B030D-6E8A-4147-A177-3AD203B41FA5}">
                      <a16:colId xmlns:a16="http://schemas.microsoft.com/office/drawing/2014/main" val="3969023692"/>
                    </a:ext>
                  </a:extLst>
                </a:gridCol>
                <a:gridCol w="609600">
                  <a:extLst>
                    <a:ext uri="{9D8B030D-6E8A-4147-A177-3AD203B41FA5}">
                      <a16:colId xmlns:a16="http://schemas.microsoft.com/office/drawing/2014/main" val="185501225"/>
                    </a:ext>
                  </a:extLst>
                </a:gridCol>
                <a:gridCol w="609600">
                  <a:extLst>
                    <a:ext uri="{9D8B030D-6E8A-4147-A177-3AD203B41FA5}">
                      <a16:colId xmlns:a16="http://schemas.microsoft.com/office/drawing/2014/main" val="4076436500"/>
                    </a:ext>
                  </a:extLst>
                </a:gridCol>
                <a:gridCol w="609600">
                  <a:extLst>
                    <a:ext uri="{9D8B030D-6E8A-4147-A177-3AD203B41FA5}">
                      <a16:colId xmlns:a16="http://schemas.microsoft.com/office/drawing/2014/main" val="1692995376"/>
                    </a:ext>
                  </a:extLst>
                </a:gridCol>
                <a:gridCol w="609600">
                  <a:extLst>
                    <a:ext uri="{9D8B030D-6E8A-4147-A177-3AD203B41FA5}">
                      <a16:colId xmlns:a16="http://schemas.microsoft.com/office/drawing/2014/main" val="4004112110"/>
                    </a:ext>
                  </a:extLst>
                </a:gridCol>
                <a:gridCol w="609600">
                  <a:extLst>
                    <a:ext uri="{9D8B030D-6E8A-4147-A177-3AD203B41FA5}">
                      <a16:colId xmlns:a16="http://schemas.microsoft.com/office/drawing/2014/main" val="100861335"/>
                    </a:ext>
                  </a:extLst>
                </a:gridCol>
                <a:gridCol w="609600">
                  <a:extLst>
                    <a:ext uri="{9D8B030D-6E8A-4147-A177-3AD203B41FA5}">
                      <a16:colId xmlns:a16="http://schemas.microsoft.com/office/drawing/2014/main" val="3494439944"/>
                    </a:ext>
                  </a:extLst>
                </a:gridCol>
                <a:gridCol w="635000">
                  <a:extLst>
                    <a:ext uri="{9D8B030D-6E8A-4147-A177-3AD203B41FA5}">
                      <a16:colId xmlns:a16="http://schemas.microsoft.com/office/drawing/2014/main" val="4163491708"/>
                    </a:ext>
                  </a:extLst>
                </a:gridCol>
                <a:gridCol w="609600">
                  <a:extLst>
                    <a:ext uri="{9D8B030D-6E8A-4147-A177-3AD203B41FA5}">
                      <a16:colId xmlns:a16="http://schemas.microsoft.com/office/drawing/2014/main" val="3336165951"/>
                    </a:ext>
                  </a:extLst>
                </a:gridCol>
              </a:tblGrid>
              <a:tr h="182880">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2.95</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2.53</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3.57</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3.16</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2.58</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2.16</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3.27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8299170"/>
                  </a:ext>
                </a:extLst>
              </a:tr>
              <a:tr h="190500">
                <a:tc>
                  <a:txBody>
                    <a:bodyPr/>
                    <a:lstStyle/>
                    <a:p>
                      <a:pPr algn="l" fontAlgn="b"/>
                      <a:r>
                        <a:rPr lang="pl-PL" sz="1600" u="none" strike="noStrike">
                          <a:effectLst/>
                        </a:rPr>
                        <a:t>x(1)T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6.63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7.79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5.65</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5.47</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dirty="0">
                          <a:effectLst/>
                        </a:rPr>
                        <a:t>x(2)T=</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4.46</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6.22</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3.52</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8441452"/>
                  </a:ext>
                </a:extLst>
              </a:tr>
            </a:tbl>
          </a:graphicData>
        </a:graphic>
      </p:graphicFrame>
    </p:spTree>
    <p:extLst>
      <p:ext uri="{BB962C8B-B14F-4D97-AF65-F5344CB8AC3E}">
        <p14:creationId xmlns:p14="http://schemas.microsoft.com/office/powerpoint/2010/main" val="614250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87D040-1664-48A1-B5E2-12340878F143}"/>
              </a:ext>
            </a:extLst>
          </p:cNvPr>
          <p:cNvSpPr>
            <a:spLocks noGrp="1"/>
          </p:cNvSpPr>
          <p:nvPr>
            <p:ph type="title"/>
          </p:nvPr>
        </p:nvSpPr>
        <p:spPr/>
        <p:txBody>
          <a:bodyPr/>
          <a:lstStyle/>
          <a:p>
            <a:pPr algn="ctr"/>
            <a:r>
              <a:rPr lang="pl-PL" b="1" dirty="0"/>
              <a:t>LDA </a:t>
            </a:r>
            <a:r>
              <a:rPr lang="pl-PL" b="1" dirty="0" err="1"/>
              <a:t>example</a:t>
            </a:r>
            <a:endParaRPr lang="pl-PL" dirty="0"/>
          </a:p>
        </p:txBody>
      </p:sp>
      <p:graphicFrame>
        <p:nvGraphicFramePr>
          <p:cNvPr id="5" name="Symbol zastępczy zawartości 4">
            <a:extLst>
              <a:ext uri="{FF2B5EF4-FFF2-40B4-BE49-F238E27FC236}">
                <a16:creationId xmlns:a16="http://schemas.microsoft.com/office/drawing/2014/main" id="{9F726B80-A03C-4D54-80E8-AE14C6589AF6}"/>
              </a:ext>
            </a:extLst>
          </p:cNvPr>
          <p:cNvGraphicFramePr>
            <a:graphicFrameLocks noGrp="1"/>
          </p:cNvGraphicFramePr>
          <p:nvPr>
            <p:ph idx="1"/>
            <p:extLst>
              <p:ext uri="{D42A27DB-BD31-4B8C-83A1-F6EECF244321}">
                <p14:modId xmlns:p14="http://schemas.microsoft.com/office/powerpoint/2010/main" val="1239094942"/>
              </p:ext>
            </p:extLst>
          </p:nvPr>
        </p:nvGraphicFramePr>
        <p:xfrm>
          <a:off x="2278602" y="2301240"/>
          <a:ext cx="6661212" cy="2255520"/>
        </p:xfrm>
        <a:graphic>
          <a:graphicData uri="http://schemas.openxmlformats.org/drawingml/2006/table">
            <a:tbl>
              <a:tblPr>
                <a:tableStyleId>{5C22544A-7EE6-4342-B048-85BDC9FD1C3A}</a:tableStyleId>
              </a:tblPr>
              <a:tblGrid>
                <a:gridCol w="2220404">
                  <a:extLst>
                    <a:ext uri="{9D8B030D-6E8A-4147-A177-3AD203B41FA5}">
                      <a16:colId xmlns:a16="http://schemas.microsoft.com/office/drawing/2014/main" val="412269095"/>
                    </a:ext>
                  </a:extLst>
                </a:gridCol>
                <a:gridCol w="2220404">
                  <a:extLst>
                    <a:ext uri="{9D8B030D-6E8A-4147-A177-3AD203B41FA5}">
                      <a16:colId xmlns:a16="http://schemas.microsoft.com/office/drawing/2014/main" val="3284837247"/>
                    </a:ext>
                  </a:extLst>
                </a:gridCol>
                <a:gridCol w="2220404">
                  <a:extLst>
                    <a:ext uri="{9D8B030D-6E8A-4147-A177-3AD203B41FA5}">
                      <a16:colId xmlns:a16="http://schemas.microsoft.com/office/drawing/2014/main" val="4029124889"/>
                    </a:ext>
                  </a:extLst>
                </a:gridCol>
              </a:tblGrid>
              <a:tr h="190500">
                <a:tc gridSpan="3">
                  <a:txBody>
                    <a:bodyPr/>
                    <a:lstStyle/>
                    <a:p>
                      <a:pPr algn="l" fontAlgn="b"/>
                      <a:r>
                        <a:rPr lang="en-US" sz="1800" u="none" strike="noStrike">
                          <a:effectLst/>
                        </a:rPr>
                        <a:t>m(i) - mean of features in group i which is average of x(i)</a:t>
                      </a:r>
                      <a:endParaRPr lang="en-US" sz="18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extLst>
                  <a:ext uri="{0D108BD9-81ED-4DB2-BD59-A6C34878D82A}">
                    <a16:rowId xmlns:a16="http://schemas.microsoft.com/office/drawing/2014/main" val="3462973225"/>
                  </a:ext>
                </a:extLst>
              </a:tr>
              <a:tr h="190500">
                <a:tc>
                  <a:txBody>
                    <a:bodyPr/>
                    <a:lstStyle/>
                    <a:p>
                      <a:pPr algn="l" fontAlgn="b"/>
                      <a:r>
                        <a:rPr lang="pl-PL" sz="1800" u="none" strike="noStrike">
                          <a:effectLst/>
                        </a:rPr>
                        <a:t>m(1) = </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3.0525</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6.385</a:t>
                      </a:r>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0074502"/>
                  </a:ext>
                </a:extLst>
              </a:tr>
              <a:tr h="190500">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8555415"/>
                  </a:ext>
                </a:extLst>
              </a:tr>
              <a:tr h="190500">
                <a:tc>
                  <a:txBody>
                    <a:bodyPr/>
                    <a:lstStyle/>
                    <a:p>
                      <a:pPr algn="l" fontAlgn="b"/>
                      <a:r>
                        <a:rPr lang="pl-PL" sz="1800" u="none" strike="noStrike">
                          <a:effectLst/>
                        </a:rPr>
                        <a:t>m(2) = </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2.67</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4.733333</a:t>
                      </a:r>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72853585"/>
                  </a:ext>
                </a:extLst>
              </a:tr>
              <a:tr h="190500">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22151521"/>
                  </a:ext>
                </a:extLst>
              </a:tr>
              <a:tr h="190500">
                <a:tc>
                  <a:txBody>
                    <a:bodyPr/>
                    <a:lstStyle/>
                    <a:p>
                      <a:pPr algn="l" fontAlgn="b"/>
                      <a:r>
                        <a:rPr lang="pl-PL" sz="1800" u="none" strike="noStrike">
                          <a:effectLst/>
                        </a:rPr>
                        <a:t>m(1)+m(2)=</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5.7225</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11.11833</a:t>
                      </a:r>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05590329"/>
                  </a:ext>
                </a:extLst>
              </a:tr>
              <a:tr h="190500">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2798399"/>
                  </a:ext>
                </a:extLst>
              </a:tr>
              <a:tr h="190500">
                <a:tc>
                  <a:txBody>
                    <a:bodyPr/>
                    <a:lstStyle/>
                    <a:p>
                      <a:pPr algn="l" fontAlgn="b"/>
                      <a:r>
                        <a:rPr lang="pl-PL" sz="1800" u="none" strike="noStrike">
                          <a:effectLst/>
                        </a:rPr>
                        <a:t>m(1)-m(2)</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a:effectLst/>
                        </a:rPr>
                        <a:t>0.3825</a:t>
                      </a:r>
                      <a:endParaRPr lang="pl-PL"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800" u="none" strike="noStrike" dirty="0">
                          <a:effectLst/>
                        </a:rPr>
                        <a:t>1.651667</a:t>
                      </a:r>
                      <a:endParaRPr lang="pl-PL"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8621297"/>
                  </a:ext>
                </a:extLst>
              </a:tr>
            </a:tbl>
          </a:graphicData>
        </a:graphic>
      </p:graphicFrame>
      <p:sp>
        <p:nvSpPr>
          <p:cNvPr id="4" name="Symbol zastępczy numeru slajdu 3">
            <a:extLst>
              <a:ext uri="{FF2B5EF4-FFF2-40B4-BE49-F238E27FC236}">
                <a16:creationId xmlns:a16="http://schemas.microsoft.com/office/drawing/2014/main" id="{9EF602FF-B50A-4335-A319-4259C55E3243}"/>
              </a:ext>
            </a:extLst>
          </p:cNvPr>
          <p:cNvSpPr>
            <a:spLocks noGrp="1"/>
          </p:cNvSpPr>
          <p:nvPr>
            <p:ph type="sldNum" sz="quarter" idx="12"/>
          </p:nvPr>
        </p:nvSpPr>
        <p:spPr/>
        <p:txBody>
          <a:bodyPr/>
          <a:lstStyle/>
          <a:p>
            <a:fld id="{A7544F9A-EF6A-47CB-A458-C95835DAEA60}" type="slidenum">
              <a:rPr lang="pl-PL" smtClean="0"/>
              <a:t>30</a:t>
            </a:fld>
            <a:endParaRPr lang="pl-PL"/>
          </a:p>
        </p:txBody>
      </p:sp>
      <p:graphicFrame>
        <p:nvGraphicFramePr>
          <p:cNvPr id="6" name="Tabela 5">
            <a:extLst>
              <a:ext uri="{FF2B5EF4-FFF2-40B4-BE49-F238E27FC236}">
                <a16:creationId xmlns:a16="http://schemas.microsoft.com/office/drawing/2014/main" id="{F8F709EC-932B-461E-963C-37AAA2E67EE5}"/>
              </a:ext>
            </a:extLst>
          </p:cNvPr>
          <p:cNvGraphicFramePr>
            <a:graphicFrameLocks noGrp="1"/>
          </p:cNvGraphicFramePr>
          <p:nvPr>
            <p:extLst>
              <p:ext uri="{D42A27DB-BD31-4B8C-83A1-F6EECF244321}">
                <p14:modId xmlns:p14="http://schemas.microsoft.com/office/powerpoint/2010/main" val="354970628"/>
              </p:ext>
            </p:extLst>
          </p:nvPr>
        </p:nvGraphicFramePr>
        <p:xfrm>
          <a:off x="1458898" y="5487416"/>
          <a:ext cx="7907046" cy="502920"/>
        </p:xfrm>
        <a:graphic>
          <a:graphicData uri="http://schemas.openxmlformats.org/drawingml/2006/table">
            <a:tbl>
              <a:tblPr>
                <a:tableStyleId>{5C22544A-7EE6-4342-B048-85BDC9FD1C3A}</a:tableStyleId>
              </a:tblPr>
              <a:tblGrid>
                <a:gridCol w="1090627">
                  <a:extLst>
                    <a:ext uri="{9D8B030D-6E8A-4147-A177-3AD203B41FA5}">
                      <a16:colId xmlns:a16="http://schemas.microsoft.com/office/drawing/2014/main" val="3619444325"/>
                    </a:ext>
                  </a:extLst>
                </a:gridCol>
                <a:gridCol w="1090627">
                  <a:extLst>
                    <a:ext uri="{9D8B030D-6E8A-4147-A177-3AD203B41FA5}">
                      <a16:colId xmlns:a16="http://schemas.microsoft.com/office/drawing/2014/main" val="646373158"/>
                    </a:ext>
                  </a:extLst>
                </a:gridCol>
                <a:gridCol w="1090627">
                  <a:extLst>
                    <a:ext uri="{9D8B030D-6E8A-4147-A177-3AD203B41FA5}">
                      <a16:colId xmlns:a16="http://schemas.microsoft.com/office/drawing/2014/main" val="2143917593"/>
                    </a:ext>
                  </a:extLst>
                </a:gridCol>
                <a:gridCol w="1090627">
                  <a:extLst>
                    <a:ext uri="{9D8B030D-6E8A-4147-A177-3AD203B41FA5}">
                      <a16:colId xmlns:a16="http://schemas.microsoft.com/office/drawing/2014/main" val="4105688512"/>
                    </a:ext>
                  </a:extLst>
                </a:gridCol>
                <a:gridCol w="1090627">
                  <a:extLst>
                    <a:ext uri="{9D8B030D-6E8A-4147-A177-3AD203B41FA5}">
                      <a16:colId xmlns:a16="http://schemas.microsoft.com/office/drawing/2014/main" val="3217593941"/>
                    </a:ext>
                  </a:extLst>
                </a:gridCol>
                <a:gridCol w="1090627">
                  <a:extLst>
                    <a:ext uri="{9D8B030D-6E8A-4147-A177-3AD203B41FA5}">
                      <a16:colId xmlns:a16="http://schemas.microsoft.com/office/drawing/2014/main" val="4074855510"/>
                    </a:ext>
                  </a:extLst>
                </a:gridCol>
                <a:gridCol w="1363284">
                  <a:extLst>
                    <a:ext uri="{9D8B030D-6E8A-4147-A177-3AD203B41FA5}">
                      <a16:colId xmlns:a16="http://schemas.microsoft.com/office/drawing/2014/main" val="109300579"/>
                    </a:ext>
                  </a:extLst>
                </a:gridCol>
              </a:tblGrid>
              <a:tr h="182880">
                <a:tc gridSpan="6">
                  <a:txBody>
                    <a:bodyPr/>
                    <a:lstStyle/>
                    <a:p>
                      <a:pPr algn="l" fontAlgn="b"/>
                      <a:r>
                        <a:rPr lang="en-US" sz="1600" u="none" strike="noStrike">
                          <a:effectLst/>
                        </a:rPr>
                        <a:t>m - global mean vector that is the mean of the whole data set</a:t>
                      </a:r>
                      <a:endParaRPr lang="en-US"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18647302"/>
                  </a:ext>
                </a:extLst>
              </a:tr>
              <a:tr h="182880">
                <a:tc>
                  <a:txBody>
                    <a:bodyPr/>
                    <a:lstStyle/>
                    <a:p>
                      <a:pPr algn="l" fontAlgn="b"/>
                      <a:r>
                        <a:rPr lang="pl-PL" sz="1600" u="none" strike="noStrike">
                          <a:effectLst/>
                        </a:rPr>
                        <a:t>m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2.888571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5.677143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91472894"/>
                  </a:ext>
                </a:extLst>
              </a:tr>
            </a:tbl>
          </a:graphicData>
        </a:graphic>
      </p:graphicFrame>
    </p:spTree>
    <p:extLst>
      <p:ext uri="{BB962C8B-B14F-4D97-AF65-F5344CB8AC3E}">
        <p14:creationId xmlns:p14="http://schemas.microsoft.com/office/powerpoint/2010/main" val="2345910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B932827-C635-45B4-A97C-620D1F0573FE}"/>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5" name="Symbol zastępczy zawartości 4">
            <a:extLst>
              <a:ext uri="{FF2B5EF4-FFF2-40B4-BE49-F238E27FC236}">
                <a16:creationId xmlns:a16="http://schemas.microsoft.com/office/drawing/2014/main" id="{0C2F6FE1-47D7-4615-BE72-E76DE51A02B6}"/>
              </a:ext>
            </a:extLst>
          </p:cNvPr>
          <p:cNvGraphicFramePr>
            <a:graphicFrameLocks noGrp="1"/>
          </p:cNvGraphicFramePr>
          <p:nvPr>
            <p:ph idx="1"/>
            <p:extLst>
              <p:ext uri="{D42A27DB-BD31-4B8C-83A1-F6EECF244321}">
                <p14:modId xmlns:p14="http://schemas.microsoft.com/office/powerpoint/2010/main" val="2561145902"/>
              </p:ext>
            </p:extLst>
          </p:nvPr>
        </p:nvGraphicFramePr>
        <p:xfrm>
          <a:off x="1352365" y="2002931"/>
          <a:ext cx="7924798" cy="1752600"/>
        </p:xfrm>
        <a:graphic>
          <a:graphicData uri="http://schemas.openxmlformats.org/drawingml/2006/table">
            <a:tbl>
              <a:tblPr>
                <a:tableStyleId>{5C22544A-7EE6-4342-B048-85BDC9FD1C3A}</a:tableStyleId>
              </a:tblPr>
              <a:tblGrid>
                <a:gridCol w="1132114">
                  <a:extLst>
                    <a:ext uri="{9D8B030D-6E8A-4147-A177-3AD203B41FA5}">
                      <a16:colId xmlns:a16="http://schemas.microsoft.com/office/drawing/2014/main" val="442858666"/>
                    </a:ext>
                  </a:extLst>
                </a:gridCol>
                <a:gridCol w="1132114">
                  <a:extLst>
                    <a:ext uri="{9D8B030D-6E8A-4147-A177-3AD203B41FA5}">
                      <a16:colId xmlns:a16="http://schemas.microsoft.com/office/drawing/2014/main" val="2738362094"/>
                    </a:ext>
                  </a:extLst>
                </a:gridCol>
                <a:gridCol w="1132114">
                  <a:extLst>
                    <a:ext uri="{9D8B030D-6E8A-4147-A177-3AD203B41FA5}">
                      <a16:colId xmlns:a16="http://schemas.microsoft.com/office/drawing/2014/main" val="612109916"/>
                    </a:ext>
                  </a:extLst>
                </a:gridCol>
                <a:gridCol w="1132114">
                  <a:extLst>
                    <a:ext uri="{9D8B030D-6E8A-4147-A177-3AD203B41FA5}">
                      <a16:colId xmlns:a16="http://schemas.microsoft.com/office/drawing/2014/main" val="1975986549"/>
                    </a:ext>
                  </a:extLst>
                </a:gridCol>
                <a:gridCol w="1132114">
                  <a:extLst>
                    <a:ext uri="{9D8B030D-6E8A-4147-A177-3AD203B41FA5}">
                      <a16:colId xmlns:a16="http://schemas.microsoft.com/office/drawing/2014/main" val="3069324755"/>
                    </a:ext>
                  </a:extLst>
                </a:gridCol>
                <a:gridCol w="1132114">
                  <a:extLst>
                    <a:ext uri="{9D8B030D-6E8A-4147-A177-3AD203B41FA5}">
                      <a16:colId xmlns:a16="http://schemas.microsoft.com/office/drawing/2014/main" val="3600367409"/>
                    </a:ext>
                  </a:extLst>
                </a:gridCol>
                <a:gridCol w="1132114">
                  <a:extLst>
                    <a:ext uri="{9D8B030D-6E8A-4147-A177-3AD203B41FA5}">
                      <a16:colId xmlns:a16="http://schemas.microsoft.com/office/drawing/2014/main" val="3209371912"/>
                    </a:ext>
                  </a:extLst>
                </a:gridCol>
              </a:tblGrid>
              <a:tr h="182880">
                <a:tc gridSpan="7">
                  <a:txBody>
                    <a:bodyPr/>
                    <a:lstStyle/>
                    <a:p>
                      <a:pPr algn="l" fontAlgn="b"/>
                      <a:r>
                        <a:rPr lang="en-US" sz="1600" u="none" strike="noStrike">
                          <a:effectLst/>
                        </a:rPr>
                        <a:t>x(i, fi) - mean corrected data that is the features data for group i, x(i) minus the global mean vector m</a:t>
                      </a:r>
                      <a:endParaRPr lang="en-US"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extLst>
                  <a:ext uri="{0D108BD9-81ED-4DB2-BD59-A6C34878D82A}">
                    <a16:rowId xmlns:a16="http://schemas.microsoft.com/office/drawing/2014/main" val="130005752"/>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8941164"/>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0.061429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0.952857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70159217"/>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-0.35857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2.112857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-0.30857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-1.21714</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1235252"/>
                  </a:ext>
                </a:extLst>
              </a:tr>
              <a:tr h="182880">
                <a:tc>
                  <a:txBody>
                    <a:bodyPr/>
                    <a:lstStyle/>
                    <a:p>
                      <a:pPr algn="l" fontAlgn="b"/>
                      <a:r>
                        <a:rPr lang="pl-PL" sz="1600" u="none" strike="noStrike">
                          <a:effectLst/>
                        </a:rPr>
                        <a:t>x(1, fi)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0.681429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-0.02714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x(2,fi)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-0.72857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0.542857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35376962"/>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0.271429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-0.20714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0.381429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-2.15714</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38487013"/>
                  </a:ext>
                </a:extLst>
              </a:tr>
            </a:tbl>
          </a:graphicData>
        </a:graphic>
      </p:graphicFrame>
      <p:sp>
        <p:nvSpPr>
          <p:cNvPr id="4" name="Symbol zastępczy numeru slajdu 3">
            <a:extLst>
              <a:ext uri="{FF2B5EF4-FFF2-40B4-BE49-F238E27FC236}">
                <a16:creationId xmlns:a16="http://schemas.microsoft.com/office/drawing/2014/main" id="{202AF25B-DCF2-4F22-9811-AF0BF0F960D2}"/>
              </a:ext>
            </a:extLst>
          </p:cNvPr>
          <p:cNvSpPr>
            <a:spLocks noGrp="1"/>
          </p:cNvSpPr>
          <p:nvPr>
            <p:ph type="sldNum" sz="quarter" idx="12"/>
          </p:nvPr>
        </p:nvSpPr>
        <p:spPr/>
        <p:txBody>
          <a:bodyPr/>
          <a:lstStyle/>
          <a:p>
            <a:fld id="{A7544F9A-EF6A-47CB-A458-C95835DAEA60}" type="slidenum">
              <a:rPr lang="pl-PL" smtClean="0"/>
              <a:t>31</a:t>
            </a:fld>
            <a:endParaRPr lang="pl-PL"/>
          </a:p>
        </p:txBody>
      </p:sp>
      <p:graphicFrame>
        <p:nvGraphicFramePr>
          <p:cNvPr id="6" name="Tabela 5">
            <a:extLst>
              <a:ext uri="{FF2B5EF4-FFF2-40B4-BE49-F238E27FC236}">
                <a16:creationId xmlns:a16="http://schemas.microsoft.com/office/drawing/2014/main" id="{88576971-1DEF-4713-BCB4-5C8374714BCC}"/>
              </a:ext>
            </a:extLst>
          </p:cNvPr>
          <p:cNvGraphicFramePr>
            <a:graphicFrameLocks noGrp="1"/>
          </p:cNvGraphicFramePr>
          <p:nvPr>
            <p:extLst>
              <p:ext uri="{D42A27DB-BD31-4B8C-83A1-F6EECF244321}">
                <p14:modId xmlns:p14="http://schemas.microsoft.com/office/powerpoint/2010/main" val="2141487765"/>
              </p:ext>
            </p:extLst>
          </p:nvPr>
        </p:nvGraphicFramePr>
        <p:xfrm>
          <a:off x="1352365" y="4171855"/>
          <a:ext cx="7643671" cy="1257300"/>
        </p:xfrm>
        <a:graphic>
          <a:graphicData uri="http://schemas.openxmlformats.org/drawingml/2006/table">
            <a:tbl>
              <a:tblPr>
                <a:tableStyleId>{5C22544A-7EE6-4342-B048-85BDC9FD1C3A}</a:tableStyleId>
              </a:tblPr>
              <a:tblGrid>
                <a:gridCol w="1091953">
                  <a:extLst>
                    <a:ext uri="{9D8B030D-6E8A-4147-A177-3AD203B41FA5}">
                      <a16:colId xmlns:a16="http://schemas.microsoft.com/office/drawing/2014/main" val="2159469379"/>
                    </a:ext>
                  </a:extLst>
                </a:gridCol>
                <a:gridCol w="1091953">
                  <a:extLst>
                    <a:ext uri="{9D8B030D-6E8A-4147-A177-3AD203B41FA5}">
                      <a16:colId xmlns:a16="http://schemas.microsoft.com/office/drawing/2014/main" val="469994171"/>
                    </a:ext>
                  </a:extLst>
                </a:gridCol>
                <a:gridCol w="1091953">
                  <a:extLst>
                    <a:ext uri="{9D8B030D-6E8A-4147-A177-3AD203B41FA5}">
                      <a16:colId xmlns:a16="http://schemas.microsoft.com/office/drawing/2014/main" val="2731823326"/>
                    </a:ext>
                  </a:extLst>
                </a:gridCol>
                <a:gridCol w="1091953">
                  <a:extLst>
                    <a:ext uri="{9D8B030D-6E8A-4147-A177-3AD203B41FA5}">
                      <a16:colId xmlns:a16="http://schemas.microsoft.com/office/drawing/2014/main" val="956368038"/>
                    </a:ext>
                  </a:extLst>
                </a:gridCol>
                <a:gridCol w="1091953">
                  <a:extLst>
                    <a:ext uri="{9D8B030D-6E8A-4147-A177-3AD203B41FA5}">
                      <a16:colId xmlns:a16="http://schemas.microsoft.com/office/drawing/2014/main" val="2673775913"/>
                    </a:ext>
                  </a:extLst>
                </a:gridCol>
                <a:gridCol w="1091953">
                  <a:extLst>
                    <a:ext uri="{9D8B030D-6E8A-4147-A177-3AD203B41FA5}">
                      <a16:colId xmlns:a16="http://schemas.microsoft.com/office/drawing/2014/main" val="2027005384"/>
                    </a:ext>
                  </a:extLst>
                </a:gridCol>
                <a:gridCol w="1091953">
                  <a:extLst>
                    <a:ext uri="{9D8B030D-6E8A-4147-A177-3AD203B41FA5}">
                      <a16:colId xmlns:a16="http://schemas.microsoft.com/office/drawing/2014/main" val="1881926586"/>
                    </a:ext>
                  </a:extLst>
                </a:gridCol>
              </a:tblGrid>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0.061429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-0.35857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0.681429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0.271429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4</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82829395"/>
                  </a:ext>
                </a:extLst>
              </a:tr>
              <a:tr h="190500">
                <a:tc>
                  <a:txBody>
                    <a:bodyPr/>
                    <a:lstStyle/>
                    <a:p>
                      <a:pPr algn="l" fontAlgn="b"/>
                      <a:r>
                        <a:rPr lang="pl-PL" sz="1600" u="none" strike="noStrike">
                          <a:effectLst/>
                        </a:rPr>
                        <a:t>x(1,fi)T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0.952857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2.112857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-0.02714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-0.20714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02021464"/>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56330933"/>
                  </a:ext>
                </a:extLst>
              </a:tr>
              <a:tr h="182880">
                <a:tc>
                  <a:txBody>
                    <a:bodyPr/>
                    <a:lstStyle/>
                    <a:p>
                      <a:pPr algn="l" fontAlgn="b"/>
                      <a:r>
                        <a:rPr lang="pl-PL" sz="1600" u="none" strike="noStrike">
                          <a:effectLst/>
                        </a:rPr>
                        <a:t>x(2,fi)T=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-0.30857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-0.72857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0.381429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36034523"/>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-1.21714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0.542857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-2.15714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38463023"/>
                  </a:ext>
                </a:extLst>
              </a:tr>
            </a:tbl>
          </a:graphicData>
        </a:graphic>
      </p:graphicFrame>
    </p:spTree>
    <p:extLst>
      <p:ext uri="{BB962C8B-B14F-4D97-AF65-F5344CB8AC3E}">
        <p14:creationId xmlns:p14="http://schemas.microsoft.com/office/powerpoint/2010/main" val="353990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3FB8B1-932C-4899-AA5D-1B0E2C7BC0B1}"/>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5" name="Symbol zastępczy zawartości 4">
            <a:extLst>
              <a:ext uri="{FF2B5EF4-FFF2-40B4-BE49-F238E27FC236}">
                <a16:creationId xmlns:a16="http://schemas.microsoft.com/office/drawing/2014/main" id="{33FF5886-BEC3-4163-A6A7-68D50B5DC19A}"/>
              </a:ext>
            </a:extLst>
          </p:cNvPr>
          <p:cNvGraphicFramePr>
            <a:graphicFrameLocks noGrp="1"/>
          </p:cNvGraphicFramePr>
          <p:nvPr>
            <p:ph idx="1"/>
            <p:extLst>
              <p:ext uri="{D42A27DB-BD31-4B8C-83A1-F6EECF244321}">
                <p14:modId xmlns:p14="http://schemas.microsoft.com/office/powerpoint/2010/main" val="4077243347"/>
              </p:ext>
            </p:extLst>
          </p:nvPr>
        </p:nvGraphicFramePr>
        <p:xfrm>
          <a:off x="1162975" y="1852343"/>
          <a:ext cx="9286041" cy="2506980"/>
        </p:xfrm>
        <a:graphic>
          <a:graphicData uri="http://schemas.openxmlformats.org/drawingml/2006/table">
            <a:tbl>
              <a:tblPr>
                <a:tableStyleId>{5C22544A-7EE6-4342-B048-85BDC9FD1C3A}</a:tableStyleId>
              </a:tblPr>
              <a:tblGrid>
                <a:gridCol w="2018705">
                  <a:extLst>
                    <a:ext uri="{9D8B030D-6E8A-4147-A177-3AD203B41FA5}">
                      <a16:colId xmlns:a16="http://schemas.microsoft.com/office/drawing/2014/main" val="2830050578"/>
                    </a:ext>
                  </a:extLst>
                </a:gridCol>
                <a:gridCol w="1614963">
                  <a:extLst>
                    <a:ext uri="{9D8B030D-6E8A-4147-A177-3AD203B41FA5}">
                      <a16:colId xmlns:a16="http://schemas.microsoft.com/office/drawing/2014/main" val="558428"/>
                    </a:ext>
                  </a:extLst>
                </a:gridCol>
                <a:gridCol w="1614963">
                  <a:extLst>
                    <a:ext uri="{9D8B030D-6E8A-4147-A177-3AD203B41FA5}">
                      <a16:colId xmlns:a16="http://schemas.microsoft.com/office/drawing/2014/main" val="1469497903"/>
                    </a:ext>
                  </a:extLst>
                </a:gridCol>
                <a:gridCol w="2018705">
                  <a:extLst>
                    <a:ext uri="{9D8B030D-6E8A-4147-A177-3AD203B41FA5}">
                      <a16:colId xmlns:a16="http://schemas.microsoft.com/office/drawing/2014/main" val="2828506723"/>
                    </a:ext>
                  </a:extLst>
                </a:gridCol>
                <a:gridCol w="2018705">
                  <a:extLst>
                    <a:ext uri="{9D8B030D-6E8A-4147-A177-3AD203B41FA5}">
                      <a16:colId xmlns:a16="http://schemas.microsoft.com/office/drawing/2014/main" val="938282516"/>
                    </a:ext>
                  </a:extLst>
                </a:gridCol>
              </a:tblGrid>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nn-NO" sz="1600" u="none" strike="noStrike">
                          <a:effectLst/>
                        </a:rPr>
                        <a:t>x(i,fi)T*x(fi,i)</a:t>
                      </a:r>
                      <a:endParaRPr lang="nn-NO"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21754695"/>
                  </a:ext>
                </a:extLst>
              </a:tr>
              <a:tr h="182880">
                <a:tc>
                  <a:txBody>
                    <a:bodyPr/>
                    <a:lstStyle/>
                    <a:p>
                      <a:pPr algn="l" fontAlgn="b"/>
                      <a:r>
                        <a:rPr lang="pl-PL" sz="1600" u="none" strike="noStrike">
                          <a:effectLst/>
                        </a:rPr>
                        <a:t>c(i) = </a:t>
                      </a:r>
                      <a:endParaRPr lang="pl-PL" sz="16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a:txBody>
                    <a:bodyPr/>
                    <a:lstStyle/>
                    <a:p>
                      <a:pPr algn="l" fontAlgn="b"/>
                      <a:r>
                        <a:rPr lang="en-US" sz="1600" u="none" strike="noStrike">
                          <a:effectLst/>
                        </a:rPr>
                        <a:t>covariance matrix of group i</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53014528"/>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n(i)</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53987593"/>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3916746"/>
                  </a:ext>
                </a:extLst>
              </a:tr>
              <a:tr h="182880">
                <a:tc>
                  <a:txBody>
                    <a:bodyPr/>
                    <a:lstStyle/>
                    <a:p>
                      <a:pPr algn="l" fontAlgn="b"/>
                      <a:r>
                        <a:rPr lang="pl-PL" sz="1600" u="none" strike="noStrike">
                          <a:effectLst/>
                        </a:rPr>
                        <a:t>c(1)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0.167591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-0.19345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covariance for group 1</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13186973"/>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-0.19345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1.353937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27227760"/>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64672163"/>
                  </a:ext>
                </a:extLst>
              </a:tr>
              <a:tr h="182880">
                <a:tc>
                  <a:txBody>
                    <a:bodyPr/>
                    <a:lstStyle/>
                    <a:p>
                      <a:pPr algn="l" fontAlgn="b"/>
                      <a:r>
                        <a:rPr lang="pl-PL" sz="1600" u="none" strike="noStrike">
                          <a:effectLst/>
                        </a:rPr>
                        <a:t>c(2)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0.257173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-0.28091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covariance for group 2</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17204930"/>
                  </a:ext>
                </a:extLst>
              </a:tr>
              <a:tr h="19050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-0.28091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2.143132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42490115"/>
                  </a:ext>
                </a:extLst>
              </a:tr>
            </a:tbl>
          </a:graphicData>
        </a:graphic>
      </p:graphicFrame>
      <p:sp>
        <p:nvSpPr>
          <p:cNvPr id="4" name="Symbol zastępczy numeru slajdu 3">
            <a:extLst>
              <a:ext uri="{FF2B5EF4-FFF2-40B4-BE49-F238E27FC236}">
                <a16:creationId xmlns:a16="http://schemas.microsoft.com/office/drawing/2014/main" id="{A215008B-0131-454D-B8D5-179A836D8B8E}"/>
              </a:ext>
            </a:extLst>
          </p:cNvPr>
          <p:cNvSpPr>
            <a:spLocks noGrp="1"/>
          </p:cNvSpPr>
          <p:nvPr>
            <p:ph type="sldNum" sz="quarter" idx="12"/>
          </p:nvPr>
        </p:nvSpPr>
        <p:spPr/>
        <p:txBody>
          <a:bodyPr/>
          <a:lstStyle/>
          <a:p>
            <a:fld id="{A7544F9A-EF6A-47CB-A458-C95835DAEA60}" type="slidenum">
              <a:rPr lang="pl-PL" smtClean="0"/>
              <a:t>32</a:t>
            </a:fld>
            <a:endParaRPr lang="pl-PL"/>
          </a:p>
        </p:txBody>
      </p:sp>
    </p:spTree>
    <p:extLst>
      <p:ext uri="{BB962C8B-B14F-4D97-AF65-F5344CB8AC3E}">
        <p14:creationId xmlns:p14="http://schemas.microsoft.com/office/powerpoint/2010/main" val="1347711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3E473C8-03D9-4774-8F44-C7BE49B01A99}"/>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6" name="Symbol zastępczy zawartości 5">
            <a:extLst>
              <a:ext uri="{FF2B5EF4-FFF2-40B4-BE49-F238E27FC236}">
                <a16:creationId xmlns:a16="http://schemas.microsoft.com/office/drawing/2014/main" id="{0B23AFD0-9960-45E2-8C50-556945CDA099}"/>
              </a:ext>
            </a:extLst>
          </p:cNvPr>
          <p:cNvGraphicFramePr>
            <a:graphicFrameLocks noGrp="1"/>
          </p:cNvGraphicFramePr>
          <p:nvPr>
            <p:ph idx="1"/>
            <p:extLst>
              <p:ext uri="{D42A27DB-BD31-4B8C-83A1-F6EECF244321}">
                <p14:modId xmlns:p14="http://schemas.microsoft.com/office/powerpoint/2010/main" val="2329883340"/>
              </p:ext>
            </p:extLst>
          </p:nvPr>
        </p:nvGraphicFramePr>
        <p:xfrm>
          <a:off x="1935332" y="3218661"/>
          <a:ext cx="7981026" cy="1760220"/>
        </p:xfrm>
        <a:graphic>
          <a:graphicData uri="http://schemas.openxmlformats.org/drawingml/2006/table">
            <a:tbl>
              <a:tblPr>
                <a:tableStyleId>{5C22544A-7EE6-4342-B048-85BDC9FD1C3A}</a:tableStyleId>
              </a:tblPr>
              <a:tblGrid>
                <a:gridCol w="1029810">
                  <a:extLst>
                    <a:ext uri="{9D8B030D-6E8A-4147-A177-3AD203B41FA5}">
                      <a16:colId xmlns:a16="http://schemas.microsoft.com/office/drawing/2014/main" val="2915692561"/>
                    </a:ext>
                  </a:extLst>
                </a:gridCol>
                <a:gridCol w="1029810">
                  <a:extLst>
                    <a:ext uri="{9D8B030D-6E8A-4147-A177-3AD203B41FA5}">
                      <a16:colId xmlns:a16="http://schemas.microsoft.com/office/drawing/2014/main" val="2473234975"/>
                    </a:ext>
                  </a:extLst>
                </a:gridCol>
                <a:gridCol w="1029810">
                  <a:extLst>
                    <a:ext uri="{9D8B030D-6E8A-4147-A177-3AD203B41FA5}">
                      <a16:colId xmlns:a16="http://schemas.microsoft.com/office/drawing/2014/main" val="487121538"/>
                    </a:ext>
                  </a:extLst>
                </a:gridCol>
                <a:gridCol w="1029810">
                  <a:extLst>
                    <a:ext uri="{9D8B030D-6E8A-4147-A177-3AD203B41FA5}">
                      <a16:colId xmlns:a16="http://schemas.microsoft.com/office/drawing/2014/main" val="542868150"/>
                    </a:ext>
                  </a:extLst>
                </a:gridCol>
                <a:gridCol w="1287262">
                  <a:extLst>
                    <a:ext uri="{9D8B030D-6E8A-4147-A177-3AD203B41FA5}">
                      <a16:colId xmlns:a16="http://schemas.microsoft.com/office/drawing/2014/main" val="2944858516"/>
                    </a:ext>
                  </a:extLst>
                </a:gridCol>
                <a:gridCol w="1287262">
                  <a:extLst>
                    <a:ext uri="{9D8B030D-6E8A-4147-A177-3AD203B41FA5}">
                      <a16:colId xmlns:a16="http://schemas.microsoft.com/office/drawing/2014/main" val="3672970460"/>
                    </a:ext>
                  </a:extLst>
                </a:gridCol>
                <a:gridCol w="1287262">
                  <a:extLst>
                    <a:ext uri="{9D8B030D-6E8A-4147-A177-3AD203B41FA5}">
                      <a16:colId xmlns:a16="http://schemas.microsoft.com/office/drawing/2014/main" val="2304045150"/>
                    </a:ext>
                  </a:extLst>
                </a:gridCol>
              </a:tblGrid>
              <a:tr h="182880">
                <a:tc gridSpan="4">
                  <a:txBody>
                    <a:bodyPr/>
                    <a:lstStyle/>
                    <a:p>
                      <a:pPr algn="l" fontAlgn="b"/>
                      <a:r>
                        <a:rPr lang="en-US" sz="1600" u="none" strike="noStrike">
                          <a:effectLst/>
                        </a:rPr>
                        <a:t>pooled within group covariance matrix</a:t>
                      </a:r>
                      <a:endParaRPr lang="en-US"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48116608"/>
                  </a:ext>
                </a:extLst>
              </a:tr>
              <a:tr h="182880">
                <a:tc gridSpan="5">
                  <a:txBody>
                    <a:bodyPr/>
                    <a:lstStyle/>
                    <a:p>
                      <a:pPr algn="l" fontAlgn="b"/>
                      <a:r>
                        <a:rPr lang="en-US" sz="1600" u="none" strike="noStrike">
                          <a:effectLst/>
                        </a:rPr>
                        <a:t>It is calculated for each entry (r,s) in the matrix</a:t>
                      </a:r>
                      <a:endParaRPr lang="en-US"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36645468"/>
                  </a:ext>
                </a:extLst>
              </a:tr>
              <a:tr h="182880">
                <a:tc gridSpan="2">
                  <a:txBody>
                    <a:bodyPr/>
                    <a:lstStyle/>
                    <a:p>
                      <a:pPr algn="l" fontAlgn="b"/>
                      <a:r>
                        <a:rPr lang="pl-PL" sz="1600" u="none" strike="noStrike">
                          <a:effectLst/>
                        </a:rPr>
                        <a:t>In our example</a:t>
                      </a:r>
                      <a:endParaRPr lang="pl-PL"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70473988"/>
                  </a:ext>
                </a:extLst>
              </a:tr>
              <a:tr h="182880">
                <a:tc>
                  <a:txBody>
                    <a:bodyPr/>
                    <a:lstStyle/>
                    <a:p>
                      <a:pPr algn="l" fontAlgn="b"/>
                      <a:r>
                        <a:rPr lang="pl-PL" sz="1600" u="none" strike="noStrike">
                          <a:effectLst/>
                        </a:rPr>
                        <a:t>`4/7*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0.167591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0.257173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0.205984</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87398583"/>
                  </a:ext>
                </a:extLst>
              </a:tr>
              <a:tr h="182880">
                <a:tc>
                  <a:txBody>
                    <a:bodyPr/>
                    <a:lstStyle/>
                    <a:p>
                      <a:pPr algn="l" fontAlgn="b"/>
                      <a:r>
                        <a:rPr lang="pl-PL" sz="1600" u="none" strike="noStrike">
                          <a:effectLst/>
                        </a:rPr>
                        <a:t>`4/7*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-0.19345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-0.28091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-0.23093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4626821"/>
                  </a:ext>
                </a:extLst>
              </a:tr>
              <a:tr h="182880">
                <a:tc>
                  <a:txBody>
                    <a:bodyPr/>
                    <a:lstStyle/>
                    <a:p>
                      <a:pPr algn="l" fontAlgn="b"/>
                      <a:r>
                        <a:rPr lang="pl-PL" sz="1600" u="none" strike="noStrike">
                          <a:effectLst/>
                        </a:rPr>
                        <a:t>`4/7*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-0.19345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-0.28091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-0.23093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95055127"/>
                  </a:ext>
                </a:extLst>
              </a:tr>
              <a:tr h="182880">
                <a:tc>
                  <a:txBody>
                    <a:bodyPr/>
                    <a:lstStyle/>
                    <a:p>
                      <a:pPr algn="l" fontAlgn="b"/>
                      <a:r>
                        <a:rPr lang="pl-PL" sz="1600" u="none" strike="noStrike">
                          <a:effectLst/>
                        </a:rPr>
                        <a:t>`4/7*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1.353937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`3/7*</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2.143132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1.692163</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79123088"/>
                  </a:ext>
                </a:extLst>
              </a:tr>
            </a:tbl>
          </a:graphicData>
        </a:graphic>
      </p:graphicFrame>
      <p:sp>
        <p:nvSpPr>
          <p:cNvPr id="4" name="Symbol zastępczy numeru slajdu 3">
            <a:extLst>
              <a:ext uri="{FF2B5EF4-FFF2-40B4-BE49-F238E27FC236}">
                <a16:creationId xmlns:a16="http://schemas.microsoft.com/office/drawing/2014/main" id="{A9A7A319-FA2C-4F82-938C-FB78EAEF0E81}"/>
              </a:ext>
            </a:extLst>
          </p:cNvPr>
          <p:cNvSpPr>
            <a:spLocks noGrp="1"/>
          </p:cNvSpPr>
          <p:nvPr>
            <p:ph type="sldNum" sz="quarter" idx="12"/>
          </p:nvPr>
        </p:nvSpPr>
        <p:spPr/>
        <p:txBody>
          <a:bodyPr/>
          <a:lstStyle/>
          <a:p>
            <a:fld id="{A7544F9A-EF6A-47CB-A458-C95835DAEA60}" type="slidenum">
              <a:rPr lang="pl-PL" smtClean="0"/>
              <a:t>33</a:t>
            </a:fld>
            <a:endParaRPr lang="pl-PL"/>
          </a:p>
        </p:txBody>
      </p:sp>
      <mc:AlternateContent xmlns:mc="http://schemas.openxmlformats.org/markup-compatibility/2006" xmlns:a14="http://schemas.microsoft.com/office/drawing/2010/main">
        <mc:Choice Requires="a14">
          <p:sp>
            <p:nvSpPr>
              <p:cNvPr id="5" name="pole tekstowe 5">
                <a:extLst>
                  <a:ext uri="{FF2B5EF4-FFF2-40B4-BE49-F238E27FC236}">
                    <a16:creationId xmlns:a16="http://schemas.microsoft.com/office/drawing/2014/main" id="{00000000-0008-0000-0000-000006000000}"/>
                  </a:ext>
                </a:extLst>
              </p:cNvPr>
              <p:cNvSpPr txBox="1"/>
              <p:nvPr/>
            </p:nvSpPr>
            <p:spPr>
              <a:xfrm>
                <a:off x="3880659" y="1690688"/>
                <a:ext cx="3585461" cy="100822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pl-PL" sz="2400" b="0" i="1">
                          <a:latin typeface="Cambria Math" panose="02040503050406030204" pitchFamily="18" charset="0"/>
                        </a:rPr>
                        <m:t>𝐶</m:t>
                      </m:r>
                      <m:d>
                        <m:dPr>
                          <m:ctrlPr>
                            <a:rPr lang="pl-PL" sz="2400" b="0" i="1">
                              <a:latin typeface="Cambria Math" panose="02040503050406030204" pitchFamily="18" charset="0"/>
                            </a:rPr>
                          </m:ctrlPr>
                        </m:dPr>
                        <m:e>
                          <m:r>
                            <a:rPr lang="pl-PL" sz="2400" b="0" i="1">
                              <a:latin typeface="Cambria Math" panose="02040503050406030204" pitchFamily="18" charset="0"/>
                            </a:rPr>
                            <m:t>𝑟</m:t>
                          </m:r>
                          <m:r>
                            <a:rPr lang="pl-PL" sz="2400" b="0" i="1">
                              <a:latin typeface="Cambria Math" panose="02040503050406030204" pitchFamily="18" charset="0"/>
                            </a:rPr>
                            <m:t>,</m:t>
                          </m:r>
                          <m:r>
                            <a:rPr lang="pl-PL" sz="2400" b="0" i="1">
                              <a:latin typeface="Cambria Math" panose="02040503050406030204" pitchFamily="18" charset="0"/>
                            </a:rPr>
                            <m:t>𝑠</m:t>
                          </m:r>
                        </m:e>
                      </m:d>
                      <m:r>
                        <a:rPr lang="pl-PL" sz="2400" b="0" i="1">
                          <a:latin typeface="Cambria Math" panose="02040503050406030204" pitchFamily="18" charset="0"/>
                        </a:rPr>
                        <m:t>=</m:t>
                      </m:r>
                      <m:f>
                        <m:fPr>
                          <m:ctrlPr>
                            <a:rPr lang="pl-PL" sz="2400" b="0" i="1">
                              <a:latin typeface="Cambria Math" panose="02040503050406030204" pitchFamily="18" charset="0"/>
                            </a:rPr>
                          </m:ctrlPr>
                        </m:fPr>
                        <m:num>
                          <m:r>
                            <a:rPr lang="pl-PL" sz="2400" b="0" i="1">
                              <a:latin typeface="Cambria Math" panose="02040503050406030204" pitchFamily="18" charset="0"/>
                            </a:rPr>
                            <m:t>1</m:t>
                          </m:r>
                        </m:num>
                        <m:den>
                          <m:r>
                            <a:rPr lang="pl-PL" sz="2400" b="0" i="1">
                              <a:latin typeface="Cambria Math" panose="02040503050406030204" pitchFamily="18" charset="0"/>
                            </a:rPr>
                            <m:t>𝑛</m:t>
                          </m:r>
                        </m:den>
                      </m:f>
                      <m:nary>
                        <m:naryPr>
                          <m:chr m:val="∑"/>
                          <m:ctrlPr>
                            <a:rPr lang="pl-PL" sz="2400" b="0" i="1">
                              <a:latin typeface="Cambria Math" panose="02040503050406030204" pitchFamily="18" charset="0"/>
                            </a:rPr>
                          </m:ctrlPr>
                        </m:naryPr>
                        <m:sub>
                          <m:r>
                            <m:rPr>
                              <m:brk m:alnAt="23"/>
                            </m:rPr>
                            <a:rPr lang="pl-PL" sz="2400" b="0" i="1">
                              <a:latin typeface="Cambria Math" panose="02040503050406030204" pitchFamily="18" charset="0"/>
                            </a:rPr>
                            <m:t>𝑖</m:t>
                          </m:r>
                          <m:r>
                            <a:rPr lang="pl-PL" sz="2400" b="0" i="1">
                              <a:latin typeface="Cambria Math" panose="02040503050406030204" pitchFamily="18" charset="0"/>
                            </a:rPr>
                            <m:t>=1</m:t>
                          </m:r>
                        </m:sub>
                        <m:sup>
                          <m:r>
                            <a:rPr lang="pl-PL" sz="2400" b="0" i="1">
                              <a:latin typeface="Cambria Math" panose="02040503050406030204" pitchFamily="18" charset="0"/>
                            </a:rPr>
                            <m:t>𝑔</m:t>
                          </m:r>
                        </m:sup>
                        <m:e>
                          <m:sSub>
                            <m:sSubPr>
                              <m:ctrlPr>
                                <a:rPr lang="pl-PL" sz="2400" b="0" i="1">
                                  <a:latin typeface="Cambria Math" panose="02040503050406030204" pitchFamily="18" charset="0"/>
                                </a:rPr>
                              </m:ctrlPr>
                            </m:sSubPr>
                            <m:e>
                              <m:r>
                                <a:rPr lang="pl-PL" sz="2400" b="0" i="1">
                                  <a:latin typeface="Cambria Math" panose="02040503050406030204" pitchFamily="18" charset="0"/>
                                </a:rPr>
                                <m:t>𝑛</m:t>
                              </m:r>
                            </m:e>
                            <m:sub>
                              <m:r>
                                <a:rPr lang="pl-PL" sz="2400" b="0" i="1">
                                  <a:latin typeface="Cambria Math" panose="02040503050406030204" pitchFamily="18" charset="0"/>
                                </a:rPr>
                                <m:t>𝑖</m:t>
                              </m:r>
                            </m:sub>
                          </m:sSub>
                          <m:sSub>
                            <m:sSubPr>
                              <m:ctrlPr>
                                <a:rPr lang="pl-PL" sz="2400" b="0" i="1">
                                  <a:latin typeface="Cambria Math" panose="02040503050406030204" pitchFamily="18" charset="0"/>
                                </a:rPr>
                              </m:ctrlPr>
                            </m:sSubPr>
                            <m:e>
                              <m:r>
                                <a:rPr lang="pl-PL" sz="2400" b="0" i="1">
                                  <a:latin typeface="Cambria Math" panose="02040503050406030204" pitchFamily="18" charset="0"/>
                                </a:rPr>
                                <m:t>𝑐</m:t>
                              </m:r>
                            </m:e>
                            <m:sub>
                              <m:r>
                                <a:rPr lang="pl-PL" sz="2400" b="0" i="1">
                                  <a:latin typeface="Cambria Math" panose="02040503050406030204" pitchFamily="18" charset="0"/>
                                </a:rPr>
                                <m:t>𝑖</m:t>
                              </m:r>
                            </m:sub>
                          </m:sSub>
                          <m:d>
                            <m:dPr>
                              <m:ctrlPr>
                                <a:rPr lang="pl-PL" sz="2400" b="0" i="1">
                                  <a:latin typeface="Cambria Math" panose="02040503050406030204" pitchFamily="18" charset="0"/>
                                </a:rPr>
                              </m:ctrlPr>
                            </m:dPr>
                            <m:e>
                              <m:r>
                                <a:rPr lang="pl-PL" sz="2400" b="0" i="1">
                                  <a:latin typeface="Cambria Math" panose="02040503050406030204" pitchFamily="18" charset="0"/>
                                </a:rPr>
                                <m:t>𝑟</m:t>
                              </m:r>
                              <m:r>
                                <a:rPr lang="pl-PL" sz="2400" b="0" i="1">
                                  <a:latin typeface="Cambria Math" panose="02040503050406030204" pitchFamily="18" charset="0"/>
                                </a:rPr>
                                <m:t>,</m:t>
                              </m:r>
                              <m:r>
                                <a:rPr lang="pl-PL" sz="2400" b="0" i="1">
                                  <a:latin typeface="Cambria Math" panose="02040503050406030204" pitchFamily="18" charset="0"/>
                                </a:rPr>
                                <m:t>𝑠</m:t>
                              </m:r>
                            </m:e>
                          </m:d>
                        </m:e>
                      </m:nary>
                    </m:oMath>
                  </m:oMathPara>
                </a14:m>
                <a:endParaRPr lang="en-US" sz="2400" dirty="0"/>
              </a:p>
            </p:txBody>
          </p:sp>
        </mc:Choice>
        <mc:Fallback xmlns="">
          <p:sp>
            <p:nvSpPr>
              <p:cNvPr id="5" name="pole tekstowe 5">
                <a:extLst>
                  <a:ext uri="{FF2B5EF4-FFF2-40B4-BE49-F238E27FC236}">
                    <a16:creationId xmlns:a16="http://schemas.microsoft.com/office/drawing/2014/main" id="{00000000-0008-0000-0000-000006000000}"/>
                  </a:ext>
                </a:extLst>
              </p:cNvPr>
              <p:cNvSpPr txBox="1">
                <a:spLocks noRot="1" noChangeAspect="1" noMove="1" noResize="1" noEditPoints="1" noAdjustHandles="1" noChangeArrowheads="1" noChangeShapeType="1" noTextEdit="1"/>
              </p:cNvSpPr>
              <p:nvPr/>
            </p:nvSpPr>
            <p:spPr>
              <a:xfrm>
                <a:off x="3880659" y="1690688"/>
                <a:ext cx="3585461" cy="1008225"/>
              </a:xfrm>
              <a:prstGeom prst="rect">
                <a:avLst/>
              </a:prstGeom>
              <a:blipFill>
                <a:blip r:embed="rId2"/>
                <a:stretch>
                  <a:fillRect/>
                </a:stretch>
              </a:blipFill>
            </p:spPr>
            <p:txBody>
              <a:bodyPr/>
              <a:lstStyle/>
              <a:p>
                <a:r>
                  <a:rPr lang="pl-PL">
                    <a:noFill/>
                  </a:rPr>
                  <a:t> </a:t>
                </a:r>
              </a:p>
            </p:txBody>
          </p:sp>
        </mc:Fallback>
      </mc:AlternateContent>
    </p:spTree>
    <p:extLst>
      <p:ext uri="{BB962C8B-B14F-4D97-AF65-F5344CB8AC3E}">
        <p14:creationId xmlns:p14="http://schemas.microsoft.com/office/powerpoint/2010/main" val="1630876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727BB61-BFB2-4521-B106-86A42A418EDE}"/>
              </a:ext>
            </a:extLst>
          </p:cNvPr>
          <p:cNvSpPr>
            <a:spLocks noGrp="1"/>
          </p:cNvSpPr>
          <p:nvPr>
            <p:ph type="title"/>
          </p:nvPr>
        </p:nvSpPr>
        <p:spPr/>
        <p:txBody>
          <a:bodyPr/>
          <a:lstStyle/>
          <a:p>
            <a:pPr algn="ctr"/>
            <a:r>
              <a:rPr lang="pl-PL" b="1" dirty="0"/>
              <a:t>LDA </a:t>
            </a:r>
            <a:r>
              <a:rPr lang="pl-PL" b="1" dirty="0" err="1"/>
              <a:t>example</a:t>
            </a:r>
            <a:r>
              <a:rPr lang="pl-PL" b="1" dirty="0"/>
              <a:t> 2</a:t>
            </a:r>
            <a:endParaRPr lang="pl-PL" dirty="0"/>
          </a:p>
        </p:txBody>
      </p:sp>
      <p:graphicFrame>
        <p:nvGraphicFramePr>
          <p:cNvPr id="5" name="Symbol zastępczy zawartości 4">
            <a:extLst>
              <a:ext uri="{FF2B5EF4-FFF2-40B4-BE49-F238E27FC236}">
                <a16:creationId xmlns:a16="http://schemas.microsoft.com/office/drawing/2014/main" id="{3D2AD144-A41D-461D-B979-FD6BB84FB2D2}"/>
              </a:ext>
            </a:extLst>
          </p:cNvPr>
          <p:cNvGraphicFramePr>
            <a:graphicFrameLocks noGrp="1"/>
          </p:cNvGraphicFramePr>
          <p:nvPr>
            <p:ph idx="1"/>
            <p:extLst>
              <p:ext uri="{D42A27DB-BD31-4B8C-83A1-F6EECF244321}">
                <p14:modId xmlns:p14="http://schemas.microsoft.com/office/powerpoint/2010/main" val="2699911979"/>
              </p:ext>
            </p:extLst>
          </p:nvPr>
        </p:nvGraphicFramePr>
        <p:xfrm>
          <a:off x="923277" y="1844040"/>
          <a:ext cx="9712175" cy="1539240"/>
        </p:xfrm>
        <a:graphic>
          <a:graphicData uri="http://schemas.openxmlformats.org/drawingml/2006/table">
            <a:tbl>
              <a:tblPr>
                <a:tableStyleId>{5C22544A-7EE6-4342-B048-85BDC9FD1C3A}</a:tableStyleId>
              </a:tblPr>
              <a:tblGrid>
                <a:gridCol w="732994">
                  <a:extLst>
                    <a:ext uri="{9D8B030D-6E8A-4147-A177-3AD203B41FA5}">
                      <a16:colId xmlns:a16="http://schemas.microsoft.com/office/drawing/2014/main" val="2388467667"/>
                    </a:ext>
                  </a:extLst>
                </a:gridCol>
                <a:gridCol w="732994">
                  <a:extLst>
                    <a:ext uri="{9D8B030D-6E8A-4147-A177-3AD203B41FA5}">
                      <a16:colId xmlns:a16="http://schemas.microsoft.com/office/drawing/2014/main" val="740985642"/>
                    </a:ext>
                  </a:extLst>
                </a:gridCol>
                <a:gridCol w="916243">
                  <a:extLst>
                    <a:ext uri="{9D8B030D-6E8A-4147-A177-3AD203B41FA5}">
                      <a16:colId xmlns:a16="http://schemas.microsoft.com/office/drawing/2014/main" val="1913100819"/>
                    </a:ext>
                  </a:extLst>
                </a:gridCol>
                <a:gridCol w="916243">
                  <a:extLst>
                    <a:ext uri="{9D8B030D-6E8A-4147-A177-3AD203B41FA5}">
                      <a16:colId xmlns:a16="http://schemas.microsoft.com/office/drawing/2014/main" val="2422964084"/>
                    </a:ext>
                  </a:extLst>
                </a:gridCol>
                <a:gridCol w="916243">
                  <a:extLst>
                    <a:ext uri="{9D8B030D-6E8A-4147-A177-3AD203B41FA5}">
                      <a16:colId xmlns:a16="http://schemas.microsoft.com/office/drawing/2014/main" val="554595289"/>
                    </a:ext>
                  </a:extLst>
                </a:gridCol>
                <a:gridCol w="916243">
                  <a:extLst>
                    <a:ext uri="{9D8B030D-6E8A-4147-A177-3AD203B41FA5}">
                      <a16:colId xmlns:a16="http://schemas.microsoft.com/office/drawing/2014/main" val="431191130"/>
                    </a:ext>
                  </a:extLst>
                </a:gridCol>
                <a:gridCol w="916243">
                  <a:extLst>
                    <a:ext uri="{9D8B030D-6E8A-4147-A177-3AD203B41FA5}">
                      <a16:colId xmlns:a16="http://schemas.microsoft.com/office/drawing/2014/main" val="3831203188"/>
                    </a:ext>
                  </a:extLst>
                </a:gridCol>
                <a:gridCol w="916243">
                  <a:extLst>
                    <a:ext uri="{9D8B030D-6E8A-4147-A177-3AD203B41FA5}">
                      <a16:colId xmlns:a16="http://schemas.microsoft.com/office/drawing/2014/main" val="344516152"/>
                    </a:ext>
                  </a:extLst>
                </a:gridCol>
                <a:gridCol w="916243">
                  <a:extLst>
                    <a:ext uri="{9D8B030D-6E8A-4147-A177-3AD203B41FA5}">
                      <a16:colId xmlns:a16="http://schemas.microsoft.com/office/drawing/2014/main" val="1312527332"/>
                    </a:ext>
                  </a:extLst>
                </a:gridCol>
                <a:gridCol w="916243">
                  <a:extLst>
                    <a:ext uri="{9D8B030D-6E8A-4147-A177-3AD203B41FA5}">
                      <a16:colId xmlns:a16="http://schemas.microsoft.com/office/drawing/2014/main" val="564837062"/>
                    </a:ext>
                  </a:extLst>
                </a:gridCol>
                <a:gridCol w="916243">
                  <a:extLst>
                    <a:ext uri="{9D8B030D-6E8A-4147-A177-3AD203B41FA5}">
                      <a16:colId xmlns:a16="http://schemas.microsoft.com/office/drawing/2014/main" val="1504807491"/>
                    </a:ext>
                  </a:extLst>
                </a:gridCol>
              </a:tblGrid>
              <a:tr h="182880">
                <a:tc gridSpan="2">
                  <a:txBody>
                    <a:bodyPr/>
                    <a:lstStyle/>
                    <a:p>
                      <a:pPr algn="l" fontAlgn="b"/>
                      <a:r>
                        <a:rPr lang="pl-PL" sz="1400" u="none" strike="noStrike">
                          <a:effectLst/>
                        </a:rPr>
                        <a:t>therefore:</a:t>
                      </a:r>
                      <a:endParaRPr lang="pl-PL" sz="14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60988250"/>
                  </a:ext>
                </a:extLst>
              </a:tr>
              <a:tr h="19050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95896843"/>
                  </a:ext>
                </a:extLst>
              </a:tr>
              <a:tr h="182880">
                <a:tc>
                  <a:txBody>
                    <a:bodyPr/>
                    <a:lstStyle/>
                    <a:p>
                      <a:pPr algn="l" fontAlgn="b"/>
                      <a:r>
                        <a:rPr lang="pl-PL" sz="1400" u="none" strike="noStrike">
                          <a:effectLst/>
                        </a:rPr>
                        <a:t>C = </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0.205984</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-0.23093</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l" fontAlgn="b"/>
                      <a:r>
                        <a:rPr lang="pl-PL" sz="1400" u="none" strike="noStrike">
                          <a:effectLst/>
                        </a:rPr>
                        <a:t>pooled within group variance</a:t>
                      </a:r>
                      <a:endParaRPr lang="pl-PL" sz="14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39427876"/>
                  </a:ext>
                </a:extLst>
              </a:tr>
              <a:tr h="19050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-0.23093</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1.692163</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86028555"/>
                  </a:ext>
                </a:extLst>
              </a:tr>
              <a:tr h="18288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5.731714</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0.782218</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37685468"/>
                  </a:ext>
                </a:extLst>
              </a:tr>
              <a:tr h="190500">
                <a:tc gridSpan="5">
                  <a:txBody>
                    <a:bodyPr/>
                    <a:lstStyle/>
                    <a:p>
                      <a:pPr algn="l" fontAlgn="b"/>
                      <a:r>
                        <a:rPr lang="en-US" sz="1400" u="none" strike="noStrike">
                          <a:effectLst/>
                        </a:rPr>
                        <a:t>The inverse of the pooled covariance matrix is C(-1) = </a:t>
                      </a:r>
                      <a:endParaRPr lang="en-US" sz="14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0.782218</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0.69771</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pl-PL" sz="1400" u="none" strike="noStrike" dirty="0" err="1">
                          <a:effectLst/>
                        </a:rPr>
                        <a:t>inverse</a:t>
                      </a:r>
                      <a:r>
                        <a:rPr lang="pl-PL" sz="1400" u="none" strike="noStrike" dirty="0">
                          <a:effectLst/>
                        </a:rPr>
                        <a:t> </a:t>
                      </a:r>
                      <a:r>
                        <a:rPr lang="pl-PL" sz="1400" u="none" strike="noStrike" dirty="0" err="1">
                          <a:effectLst/>
                        </a:rPr>
                        <a:t>within</a:t>
                      </a:r>
                      <a:r>
                        <a:rPr lang="pl-PL" sz="1400" u="none" strike="noStrike" dirty="0">
                          <a:effectLst/>
                        </a:rPr>
                        <a:t> </a:t>
                      </a:r>
                      <a:r>
                        <a:rPr lang="pl-PL" sz="1400" u="none" strike="noStrike" dirty="0" err="1">
                          <a:effectLst/>
                        </a:rPr>
                        <a:t>group</a:t>
                      </a:r>
                      <a:r>
                        <a:rPr lang="pl-PL" sz="1400" u="none" strike="noStrike" dirty="0">
                          <a:effectLst/>
                        </a:rPr>
                        <a:t> </a:t>
                      </a:r>
                      <a:r>
                        <a:rPr lang="pl-PL" sz="1400" u="none" strike="noStrike" dirty="0" err="1">
                          <a:effectLst/>
                        </a:rPr>
                        <a:t>variance</a:t>
                      </a:r>
                      <a:endParaRPr lang="pl-PL" sz="1400" b="0"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extLst>
                  <a:ext uri="{0D108BD9-81ED-4DB2-BD59-A6C34878D82A}">
                    <a16:rowId xmlns:a16="http://schemas.microsoft.com/office/drawing/2014/main" val="1393090695"/>
                  </a:ext>
                </a:extLst>
              </a:tr>
            </a:tbl>
          </a:graphicData>
        </a:graphic>
      </p:graphicFrame>
      <p:sp>
        <p:nvSpPr>
          <p:cNvPr id="4" name="Symbol zastępczy numeru slajdu 3">
            <a:extLst>
              <a:ext uri="{FF2B5EF4-FFF2-40B4-BE49-F238E27FC236}">
                <a16:creationId xmlns:a16="http://schemas.microsoft.com/office/drawing/2014/main" id="{D82DE7F1-69B8-4A06-BB7A-687C816535D0}"/>
              </a:ext>
            </a:extLst>
          </p:cNvPr>
          <p:cNvSpPr>
            <a:spLocks noGrp="1"/>
          </p:cNvSpPr>
          <p:nvPr>
            <p:ph type="sldNum" sz="quarter" idx="12"/>
          </p:nvPr>
        </p:nvSpPr>
        <p:spPr/>
        <p:txBody>
          <a:bodyPr/>
          <a:lstStyle/>
          <a:p>
            <a:fld id="{A7544F9A-EF6A-47CB-A458-C95835DAEA60}" type="slidenum">
              <a:rPr lang="pl-PL" smtClean="0"/>
              <a:t>34</a:t>
            </a:fld>
            <a:endParaRPr lang="pl-PL"/>
          </a:p>
        </p:txBody>
      </p:sp>
      <p:graphicFrame>
        <p:nvGraphicFramePr>
          <p:cNvPr id="6" name="Tabela 5">
            <a:extLst>
              <a:ext uri="{FF2B5EF4-FFF2-40B4-BE49-F238E27FC236}">
                <a16:creationId xmlns:a16="http://schemas.microsoft.com/office/drawing/2014/main" id="{6A6FE7C1-D724-4977-BDC1-2DD65E093178}"/>
              </a:ext>
            </a:extLst>
          </p:cNvPr>
          <p:cNvGraphicFramePr>
            <a:graphicFrameLocks noGrp="1"/>
          </p:cNvGraphicFramePr>
          <p:nvPr>
            <p:extLst>
              <p:ext uri="{D42A27DB-BD31-4B8C-83A1-F6EECF244321}">
                <p14:modId xmlns:p14="http://schemas.microsoft.com/office/powerpoint/2010/main" val="1336857109"/>
              </p:ext>
            </p:extLst>
          </p:nvPr>
        </p:nvGraphicFramePr>
        <p:xfrm>
          <a:off x="1038687" y="3746653"/>
          <a:ext cx="9365941" cy="1539240"/>
        </p:xfrm>
        <a:graphic>
          <a:graphicData uri="http://schemas.openxmlformats.org/drawingml/2006/table">
            <a:tbl>
              <a:tblPr>
                <a:tableStyleId>{5C22544A-7EE6-4342-B048-85BDC9FD1C3A}</a:tableStyleId>
              </a:tblPr>
              <a:tblGrid>
                <a:gridCol w="975619">
                  <a:extLst>
                    <a:ext uri="{9D8B030D-6E8A-4147-A177-3AD203B41FA5}">
                      <a16:colId xmlns:a16="http://schemas.microsoft.com/office/drawing/2014/main" val="860584407"/>
                    </a:ext>
                  </a:extLst>
                </a:gridCol>
                <a:gridCol w="780495">
                  <a:extLst>
                    <a:ext uri="{9D8B030D-6E8A-4147-A177-3AD203B41FA5}">
                      <a16:colId xmlns:a16="http://schemas.microsoft.com/office/drawing/2014/main" val="4004217761"/>
                    </a:ext>
                  </a:extLst>
                </a:gridCol>
                <a:gridCol w="780495">
                  <a:extLst>
                    <a:ext uri="{9D8B030D-6E8A-4147-A177-3AD203B41FA5}">
                      <a16:colId xmlns:a16="http://schemas.microsoft.com/office/drawing/2014/main" val="2612449409"/>
                    </a:ext>
                  </a:extLst>
                </a:gridCol>
                <a:gridCol w="780495">
                  <a:extLst>
                    <a:ext uri="{9D8B030D-6E8A-4147-A177-3AD203B41FA5}">
                      <a16:colId xmlns:a16="http://schemas.microsoft.com/office/drawing/2014/main" val="2790496809"/>
                    </a:ext>
                  </a:extLst>
                </a:gridCol>
                <a:gridCol w="780495">
                  <a:extLst>
                    <a:ext uri="{9D8B030D-6E8A-4147-A177-3AD203B41FA5}">
                      <a16:colId xmlns:a16="http://schemas.microsoft.com/office/drawing/2014/main" val="1887969740"/>
                    </a:ext>
                  </a:extLst>
                </a:gridCol>
                <a:gridCol w="780495">
                  <a:extLst>
                    <a:ext uri="{9D8B030D-6E8A-4147-A177-3AD203B41FA5}">
                      <a16:colId xmlns:a16="http://schemas.microsoft.com/office/drawing/2014/main" val="331264988"/>
                    </a:ext>
                  </a:extLst>
                </a:gridCol>
                <a:gridCol w="780495">
                  <a:extLst>
                    <a:ext uri="{9D8B030D-6E8A-4147-A177-3AD203B41FA5}">
                      <a16:colId xmlns:a16="http://schemas.microsoft.com/office/drawing/2014/main" val="2515441318"/>
                    </a:ext>
                  </a:extLst>
                </a:gridCol>
                <a:gridCol w="780495">
                  <a:extLst>
                    <a:ext uri="{9D8B030D-6E8A-4147-A177-3AD203B41FA5}">
                      <a16:colId xmlns:a16="http://schemas.microsoft.com/office/drawing/2014/main" val="3139461777"/>
                    </a:ext>
                  </a:extLst>
                </a:gridCol>
                <a:gridCol w="975619">
                  <a:extLst>
                    <a:ext uri="{9D8B030D-6E8A-4147-A177-3AD203B41FA5}">
                      <a16:colId xmlns:a16="http://schemas.microsoft.com/office/drawing/2014/main" val="1668747605"/>
                    </a:ext>
                  </a:extLst>
                </a:gridCol>
                <a:gridCol w="975619">
                  <a:extLst>
                    <a:ext uri="{9D8B030D-6E8A-4147-A177-3AD203B41FA5}">
                      <a16:colId xmlns:a16="http://schemas.microsoft.com/office/drawing/2014/main" val="445566101"/>
                    </a:ext>
                  </a:extLst>
                </a:gridCol>
                <a:gridCol w="975619">
                  <a:extLst>
                    <a:ext uri="{9D8B030D-6E8A-4147-A177-3AD203B41FA5}">
                      <a16:colId xmlns:a16="http://schemas.microsoft.com/office/drawing/2014/main" val="1683795665"/>
                    </a:ext>
                  </a:extLst>
                </a:gridCol>
              </a:tblGrid>
              <a:tr h="182880">
                <a:tc>
                  <a:txBody>
                    <a:bodyPr/>
                    <a:lstStyle/>
                    <a:p>
                      <a:pPr algn="l" fontAlgn="b"/>
                      <a:r>
                        <a:rPr lang="pl-PL" sz="1400" u="none" strike="noStrike">
                          <a:effectLst/>
                        </a:rPr>
                        <a:t>P -</a:t>
                      </a:r>
                      <a:endParaRPr lang="pl-PL" sz="1400" b="0" i="0" u="none" strike="noStrike">
                        <a:solidFill>
                          <a:srgbClr val="000000"/>
                        </a:solidFill>
                        <a:effectLst/>
                        <a:latin typeface="Calibri" panose="020F0502020204030204" pitchFamily="34" charset="0"/>
                      </a:endParaRPr>
                    </a:p>
                  </a:txBody>
                  <a:tcPr marL="7620" marR="7620" marT="7620" marB="0" anchor="b"/>
                </a:tc>
                <a:tc gridSpan="7">
                  <a:txBody>
                    <a:bodyPr/>
                    <a:lstStyle/>
                    <a:p>
                      <a:pPr algn="l" fontAlgn="b"/>
                      <a:r>
                        <a:rPr lang="en-US" sz="1400" u="none" strike="noStrike">
                          <a:effectLst/>
                        </a:rPr>
                        <a:t>prior probability vector (each row represent prior probability of group i)</a:t>
                      </a:r>
                      <a:endParaRPr lang="en-US" sz="14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5411179"/>
                  </a:ext>
                </a:extLst>
              </a:tr>
              <a:tr h="18288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gridSpan="10">
                  <a:txBody>
                    <a:bodyPr/>
                    <a:lstStyle/>
                    <a:p>
                      <a:pPr algn="l" fontAlgn="b"/>
                      <a:r>
                        <a:rPr lang="en-US" sz="1400" u="none" strike="noStrike">
                          <a:effectLst/>
                        </a:rPr>
                        <a:t>If we do not know the prior probability we just assume it is equal to total sample of each group divided by the total samples, that is p(i) = n(i) / N</a:t>
                      </a:r>
                      <a:endParaRPr lang="en-US" sz="14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tc hMerge="1">
                  <a:txBody>
                    <a:bodyPr/>
                    <a:lstStyle/>
                    <a:p>
                      <a:endParaRPr lang="pl-PL"/>
                    </a:p>
                  </a:txBody>
                  <a:tcPr/>
                </a:tc>
                <a:extLst>
                  <a:ext uri="{0D108BD9-81ED-4DB2-BD59-A6C34878D82A}">
                    <a16:rowId xmlns:a16="http://schemas.microsoft.com/office/drawing/2014/main" val="3065699103"/>
                  </a:ext>
                </a:extLst>
              </a:tr>
              <a:tr h="18288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24656102"/>
                  </a:ext>
                </a:extLst>
              </a:tr>
              <a:tr h="19050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365389091"/>
                  </a:ext>
                </a:extLst>
              </a:tr>
              <a:tr h="182880">
                <a:tc>
                  <a:txBody>
                    <a:bodyPr/>
                    <a:lstStyle/>
                    <a:p>
                      <a:pPr algn="l" fontAlgn="b"/>
                      <a:r>
                        <a:rPr lang="pl-PL" sz="1400" u="none" strike="noStrike">
                          <a:effectLst/>
                        </a:rPr>
                        <a:t>P = </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400" u="none" strike="noStrike">
                          <a:effectLst/>
                        </a:rPr>
                        <a:t>`4/7</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400" u="none" strike="noStrike">
                          <a:effectLst/>
                        </a:rPr>
                        <a:t>=</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0.571429</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46661160"/>
                  </a:ext>
                </a:extLst>
              </a:tr>
              <a:tr h="190500">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400" u="none" strike="noStrike">
                          <a:effectLst/>
                        </a:rPr>
                        <a:t>`3/7</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400" u="none" strike="noStrike">
                          <a:effectLst/>
                        </a:rPr>
                        <a:t>0.428571</a:t>
                      </a:r>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84470534"/>
                  </a:ext>
                </a:extLst>
              </a:tr>
            </a:tbl>
          </a:graphicData>
        </a:graphic>
      </p:graphicFrame>
    </p:spTree>
    <p:extLst>
      <p:ext uri="{BB962C8B-B14F-4D97-AF65-F5344CB8AC3E}">
        <p14:creationId xmlns:p14="http://schemas.microsoft.com/office/powerpoint/2010/main" val="3943642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15E991-C088-4E47-81C1-C39BDAD83933}"/>
              </a:ext>
            </a:extLst>
          </p:cNvPr>
          <p:cNvSpPr>
            <a:spLocks noGrp="1"/>
          </p:cNvSpPr>
          <p:nvPr>
            <p:ph type="title"/>
          </p:nvPr>
        </p:nvSpPr>
        <p:spPr>
          <a:xfrm>
            <a:off x="749424" y="0"/>
            <a:ext cx="10515600" cy="638052"/>
          </a:xfrm>
        </p:spPr>
        <p:txBody>
          <a:bodyPr>
            <a:normAutofit fontScale="90000"/>
          </a:bodyPr>
          <a:lstStyle/>
          <a:p>
            <a:pPr algn="ctr"/>
            <a:r>
              <a:rPr lang="pl-PL" b="1" dirty="0"/>
              <a:t>LDA </a:t>
            </a:r>
            <a:r>
              <a:rPr lang="pl-PL" b="1" dirty="0" err="1"/>
              <a:t>example</a:t>
            </a:r>
            <a:r>
              <a:rPr lang="pl-PL" b="1" dirty="0"/>
              <a:t> 2</a:t>
            </a:r>
            <a:endParaRPr lang="pl-PL" dirty="0"/>
          </a:p>
        </p:txBody>
      </p:sp>
      <p:sp>
        <p:nvSpPr>
          <p:cNvPr id="3" name="Symbol zastępczy zawartości 2">
            <a:extLst>
              <a:ext uri="{FF2B5EF4-FFF2-40B4-BE49-F238E27FC236}">
                <a16:creationId xmlns:a16="http://schemas.microsoft.com/office/drawing/2014/main" id="{3E00B145-1E5C-4DBC-8844-E4DDDE5D7D7E}"/>
              </a:ext>
            </a:extLst>
          </p:cNvPr>
          <p:cNvSpPr>
            <a:spLocks noGrp="1"/>
          </p:cNvSpPr>
          <p:nvPr>
            <p:ph idx="1"/>
          </p:nvPr>
        </p:nvSpPr>
        <p:spPr>
          <a:xfrm>
            <a:off x="65842" y="638052"/>
            <a:ext cx="12126157" cy="4351338"/>
          </a:xfrm>
        </p:spPr>
        <p:txBody>
          <a:bodyPr/>
          <a:lstStyle/>
          <a:p>
            <a:r>
              <a:rPr lang="pl-PL" dirty="0" err="1"/>
              <a:t>Discriminant</a:t>
            </a:r>
            <a:r>
              <a:rPr lang="pl-PL" dirty="0"/>
              <a:t> </a:t>
            </a:r>
            <a:r>
              <a:rPr lang="pl-PL" dirty="0" err="1"/>
              <a:t>functions</a:t>
            </a:r>
            <a:endParaRPr lang="pl-PL" dirty="0"/>
          </a:p>
          <a:p>
            <a:endParaRPr lang="pl-PL" dirty="0"/>
          </a:p>
          <a:p>
            <a:endParaRPr lang="pl-PL" dirty="0"/>
          </a:p>
          <a:p>
            <a:endParaRPr lang="pl-PL" dirty="0"/>
          </a:p>
          <a:p>
            <a:endParaRPr lang="pl-PL" dirty="0"/>
          </a:p>
        </p:txBody>
      </p:sp>
      <p:sp>
        <p:nvSpPr>
          <p:cNvPr id="4" name="Symbol zastępczy numeru slajdu 3">
            <a:extLst>
              <a:ext uri="{FF2B5EF4-FFF2-40B4-BE49-F238E27FC236}">
                <a16:creationId xmlns:a16="http://schemas.microsoft.com/office/drawing/2014/main" id="{6232C7E1-0460-4404-B53C-5AB57D25527A}"/>
              </a:ext>
            </a:extLst>
          </p:cNvPr>
          <p:cNvSpPr>
            <a:spLocks noGrp="1"/>
          </p:cNvSpPr>
          <p:nvPr>
            <p:ph type="sldNum" sz="quarter" idx="12"/>
          </p:nvPr>
        </p:nvSpPr>
        <p:spPr/>
        <p:txBody>
          <a:bodyPr/>
          <a:lstStyle/>
          <a:p>
            <a:fld id="{A7544F9A-EF6A-47CB-A458-C95835DAEA60}" type="slidenum">
              <a:rPr lang="pl-PL" smtClean="0"/>
              <a:t>35</a:t>
            </a:fld>
            <a:endParaRPr lang="pl-PL"/>
          </a:p>
        </p:txBody>
      </p:sp>
      <mc:AlternateContent xmlns:mc="http://schemas.openxmlformats.org/markup-compatibility/2006" xmlns:a14="http://schemas.microsoft.com/office/drawing/2010/main">
        <mc:Choice Requires="a14">
          <p:sp>
            <p:nvSpPr>
              <p:cNvPr id="5" name="pole tekstowe 7">
                <a:extLst>
                  <a:ext uri="{FF2B5EF4-FFF2-40B4-BE49-F238E27FC236}">
                    <a16:creationId xmlns:a16="http://schemas.microsoft.com/office/drawing/2014/main" id="{00000000-0008-0000-0000-000008000000}"/>
                  </a:ext>
                </a:extLst>
              </p:cNvPr>
              <p:cNvSpPr txBox="1"/>
              <p:nvPr/>
            </p:nvSpPr>
            <p:spPr>
              <a:xfrm>
                <a:off x="3920383" y="419807"/>
                <a:ext cx="6581161" cy="92198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pl-PL" sz="3200" b="0" i="1">
                              <a:latin typeface="Cambria Math" panose="02040503050406030204" pitchFamily="18" charset="0"/>
                            </a:rPr>
                            <m:t>𝑓</m:t>
                          </m:r>
                        </m:e>
                        <m:sub>
                          <m:r>
                            <a:rPr lang="pl-PL" sz="3200" b="0" i="1">
                              <a:latin typeface="Cambria Math" panose="02040503050406030204" pitchFamily="18" charset="0"/>
                            </a:rPr>
                            <m:t>𝑖</m:t>
                          </m:r>
                        </m:sub>
                      </m:sSub>
                      <m:r>
                        <a:rPr lang="pl-PL" sz="3200" b="0" i="1">
                          <a:latin typeface="Cambria Math" panose="02040503050406030204" pitchFamily="18" charset="0"/>
                        </a:rPr>
                        <m:t>=</m:t>
                      </m:r>
                      <m:sSub>
                        <m:sSubPr>
                          <m:ctrlPr>
                            <a:rPr lang="pl-PL" sz="3200" b="0" i="1">
                              <a:latin typeface="Cambria Math" panose="02040503050406030204" pitchFamily="18" charset="0"/>
                            </a:rPr>
                          </m:ctrlPr>
                        </m:sSubPr>
                        <m:e>
                          <m:r>
                            <a:rPr lang="pl-PL" sz="3200" b="0" i="1">
                              <a:latin typeface="Cambria Math" panose="02040503050406030204" pitchFamily="18" charset="0"/>
                              <a:ea typeface="Cambria Math" panose="02040503050406030204" pitchFamily="18" charset="0"/>
                            </a:rPr>
                            <m:t>𝑚</m:t>
                          </m:r>
                        </m:e>
                        <m:sub>
                          <m:r>
                            <a:rPr lang="pl-PL" sz="3200" b="0" i="1">
                              <a:latin typeface="Cambria Math" panose="02040503050406030204" pitchFamily="18" charset="0"/>
                            </a:rPr>
                            <m:t>𝑖</m:t>
                          </m:r>
                        </m:sub>
                      </m:sSub>
                      <m:sSup>
                        <m:sSupPr>
                          <m:ctrlPr>
                            <a:rPr lang="pl-PL" sz="3200" b="0" i="1">
                              <a:latin typeface="Cambria Math" panose="02040503050406030204" pitchFamily="18" charset="0"/>
                            </a:rPr>
                          </m:ctrlPr>
                        </m:sSupPr>
                        <m:e>
                          <m:r>
                            <a:rPr lang="pl-PL" sz="3200" b="0" i="1">
                              <a:latin typeface="Cambria Math" panose="02040503050406030204" pitchFamily="18" charset="0"/>
                            </a:rPr>
                            <m:t>𝐶</m:t>
                          </m:r>
                        </m:e>
                        <m:sup>
                          <m:r>
                            <a:rPr lang="pl-PL" sz="3200" b="0" i="1">
                              <a:latin typeface="Cambria Math" panose="02040503050406030204" pitchFamily="18" charset="0"/>
                            </a:rPr>
                            <m:t>−1</m:t>
                          </m:r>
                        </m:sup>
                      </m:sSup>
                      <m:sSubSup>
                        <m:sSubSupPr>
                          <m:ctrlPr>
                            <a:rPr lang="pl-PL" sz="3200" b="0" i="1">
                              <a:latin typeface="Cambria Math" panose="02040503050406030204" pitchFamily="18" charset="0"/>
                            </a:rPr>
                          </m:ctrlPr>
                        </m:sSubSupPr>
                        <m:e>
                          <m:r>
                            <a:rPr lang="pl-PL" sz="3200" b="0" i="1">
                              <a:latin typeface="Cambria Math" panose="02040503050406030204" pitchFamily="18" charset="0"/>
                            </a:rPr>
                            <m:t>𝑥</m:t>
                          </m:r>
                        </m:e>
                        <m:sub>
                          <m:r>
                            <a:rPr lang="pl-PL" sz="3200" b="0" i="1">
                              <a:latin typeface="Cambria Math" panose="02040503050406030204" pitchFamily="18" charset="0"/>
                            </a:rPr>
                            <m:t>𝑘</m:t>
                          </m:r>
                        </m:sub>
                        <m:sup>
                          <m:r>
                            <a:rPr lang="pl-PL" sz="3200" b="0" i="1">
                              <a:latin typeface="Cambria Math" panose="02040503050406030204" pitchFamily="18" charset="0"/>
                            </a:rPr>
                            <m:t>𝑇</m:t>
                          </m:r>
                        </m:sup>
                      </m:sSubSup>
                      <m:r>
                        <a:rPr lang="pl-PL" sz="3200" b="0" i="1">
                          <a:latin typeface="Cambria Math" panose="02040503050406030204" pitchFamily="18" charset="0"/>
                        </a:rPr>
                        <m:t>−</m:t>
                      </m:r>
                      <m:f>
                        <m:fPr>
                          <m:ctrlPr>
                            <a:rPr lang="pl-PL" sz="3200" b="0" i="1">
                              <a:latin typeface="Cambria Math" panose="02040503050406030204" pitchFamily="18" charset="0"/>
                            </a:rPr>
                          </m:ctrlPr>
                        </m:fPr>
                        <m:num>
                          <m:r>
                            <a:rPr lang="pl-PL" sz="3200" b="0" i="1">
                              <a:latin typeface="Cambria Math" panose="02040503050406030204" pitchFamily="18" charset="0"/>
                            </a:rPr>
                            <m:t>1</m:t>
                          </m:r>
                        </m:num>
                        <m:den>
                          <m:r>
                            <a:rPr lang="pl-PL" sz="3200" b="0" i="1">
                              <a:latin typeface="Cambria Math" panose="02040503050406030204" pitchFamily="18" charset="0"/>
                            </a:rPr>
                            <m:t>2</m:t>
                          </m:r>
                        </m:den>
                      </m:f>
                      <m:sSub>
                        <m:sSubPr>
                          <m:ctrlPr>
                            <a:rPr lang="pl-PL" sz="3200" b="0" i="1">
                              <a:latin typeface="Cambria Math" panose="02040503050406030204" pitchFamily="18" charset="0"/>
                            </a:rPr>
                          </m:ctrlPr>
                        </m:sSubPr>
                        <m:e>
                          <m:r>
                            <a:rPr lang="pl-PL" sz="3200" b="0" i="1">
                              <a:latin typeface="Cambria Math" panose="02040503050406030204" pitchFamily="18" charset="0"/>
                            </a:rPr>
                            <m:t>𝑚</m:t>
                          </m:r>
                        </m:e>
                        <m:sub>
                          <m:r>
                            <a:rPr lang="pl-PL" sz="3200" b="0" i="1">
                              <a:latin typeface="Cambria Math" panose="02040503050406030204" pitchFamily="18" charset="0"/>
                            </a:rPr>
                            <m:t>𝑖</m:t>
                          </m:r>
                        </m:sub>
                      </m:sSub>
                      <m:sSup>
                        <m:sSupPr>
                          <m:ctrlPr>
                            <a:rPr lang="pl-PL" sz="3200" b="0" i="1">
                              <a:latin typeface="Cambria Math" panose="02040503050406030204" pitchFamily="18" charset="0"/>
                            </a:rPr>
                          </m:ctrlPr>
                        </m:sSupPr>
                        <m:e>
                          <m:r>
                            <a:rPr lang="pl-PL" sz="3200" b="0" i="1">
                              <a:latin typeface="Cambria Math" panose="02040503050406030204" pitchFamily="18" charset="0"/>
                            </a:rPr>
                            <m:t>𝐶</m:t>
                          </m:r>
                        </m:e>
                        <m:sup>
                          <m:r>
                            <a:rPr lang="pl-PL" sz="3200" b="0" i="1">
                              <a:latin typeface="Cambria Math" panose="02040503050406030204" pitchFamily="18" charset="0"/>
                            </a:rPr>
                            <m:t>−1</m:t>
                          </m:r>
                        </m:sup>
                      </m:sSup>
                      <m:sSubSup>
                        <m:sSubSupPr>
                          <m:ctrlPr>
                            <a:rPr lang="pl-PL" sz="3200" b="0" i="1">
                              <a:latin typeface="Cambria Math" panose="02040503050406030204" pitchFamily="18" charset="0"/>
                            </a:rPr>
                          </m:ctrlPr>
                        </m:sSubSupPr>
                        <m:e>
                          <m:r>
                            <a:rPr lang="pl-PL" sz="3200" b="0" i="1">
                              <a:latin typeface="Cambria Math" panose="02040503050406030204" pitchFamily="18" charset="0"/>
                            </a:rPr>
                            <m:t>𝑚</m:t>
                          </m:r>
                        </m:e>
                        <m:sub>
                          <m:r>
                            <a:rPr lang="pl-PL" sz="3200" b="0" i="1">
                              <a:latin typeface="Cambria Math" panose="02040503050406030204" pitchFamily="18" charset="0"/>
                            </a:rPr>
                            <m:t>𝑖</m:t>
                          </m:r>
                        </m:sub>
                        <m:sup>
                          <m:r>
                            <a:rPr lang="pl-PL" sz="3200" b="0" i="1">
                              <a:latin typeface="Cambria Math" panose="02040503050406030204" pitchFamily="18" charset="0"/>
                            </a:rPr>
                            <m:t>𝑇</m:t>
                          </m:r>
                        </m:sup>
                      </m:sSubSup>
                      <m:r>
                        <a:rPr lang="pl-PL" sz="3200" b="0" i="1">
                          <a:latin typeface="Cambria Math" panose="02040503050406030204" pitchFamily="18" charset="0"/>
                        </a:rPr>
                        <m:t>+</m:t>
                      </m:r>
                      <m:r>
                        <a:rPr lang="pl-PL" sz="3200" b="0" i="1">
                          <a:latin typeface="Cambria Math" panose="02040503050406030204" pitchFamily="18" charset="0"/>
                        </a:rPr>
                        <m:t>𝑙𝑛</m:t>
                      </m:r>
                      <m:d>
                        <m:dPr>
                          <m:ctrlPr>
                            <a:rPr lang="pl-PL" sz="3200" b="0" i="1">
                              <a:latin typeface="Cambria Math" panose="02040503050406030204" pitchFamily="18" charset="0"/>
                            </a:rPr>
                          </m:ctrlPr>
                        </m:dPr>
                        <m:e>
                          <m:sSub>
                            <m:sSubPr>
                              <m:ctrlPr>
                                <a:rPr lang="pl-PL" sz="3200" b="0" i="1">
                                  <a:latin typeface="Cambria Math" panose="02040503050406030204" pitchFamily="18" charset="0"/>
                                </a:rPr>
                              </m:ctrlPr>
                            </m:sSubPr>
                            <m:e>
                              <m:r>
                                <a:rPr lang="pl-PL" sz="3200" b="0" i="1">
                                  <a:latin typeface="Cambria Math" panose="02040503050406030204" pitchFamily="18" charset="0"/>
                                </a:rPr>
                                <m:t>𝑝</m:t>
                              </m:r>
                            </m:e>
                            <m:sub>
                              <m:r>
                                <a:rPr lang="pl-PL" sz="3200" b="0" i="1">
                                  <a:latin typeface="Cambria Math" panose="02040503050406030204" pitchFamily="18" charset="0"/>
                                </a:rPr>
                                <m:t>𝑖</m:t>
                              </m:r>
                            </m:sub>
                          </m:sSub>
                        </m:e>
                      </m:d>
                    </m:oMath>
                  </m:oMathPara>
                </a14:m>
                <a:endParaRPr lang="en-US" sz="3200" dirty="0"/>
              </a:p>
            </p:txBody>
          </p:sp>
        </mc:Choice>
        <mc:Fallback xmlns="">
          <p:sp>
            <p:nvSpPr>
              <p:cNvPr id="5" name="pole tekstowe 7">
                <a:extLst>
                  <a:ext uri="{FF2B5EF4-FFF2-40B4-BE49-F238E27FC236}">
                    <a16:creationId xmlns:a16="http://schemas.microsoft.com/office/drawing/2014/main" id="{00000000-0008-0000-0000-000008000000}"/>
                  </a:ext>
                </a:extLst>
              </p:cNvPr>
              <p:cNvSpPr txBox="1">
                <a:spLocks noRot="1" noChangeAspect="1" noMove="1" noResize="1" noEditPoints="1" noAdjustHandles="1" noChangeArrowheads="1" noChangeShapeType="1" noTextEdit="1"/>
              </p:cNvSpPr>
              <p:nvPr/>
            </p:nvSpPr>
            <p:spPr>
              <a:xfrm>
                <a:off x="3920383" y="419807"/>
                <a:ext cx="6581161" cy="921984"/>
              </a:xfrm>
              <a:prstGeom prst="rect">
                <a:avLst/>
              </a:prstGeom>
              <a:blipFill>
                <a:blip r:embed="rId3"/>
                <a:stretch>
                  <a:fillRect/>
                </a:stretch>
              </a:blipFill>
            </p:spPr>
            <p:txBody>
              <a:bodyPr/>
              <a:lstStyle/>
              <a:p>
                <a:r>
                  <a:rPr lang="pl-PL">
                    <a:noFill/>
                  </a:rPr>
                  <a:t> </a:t>
                </a:r>
              </a:p>
            </p:txBody>
          </p:sp>
        </mc:Fallback>
      </mc:AlternateContent>
      <p:graphicFrame>
        <p:nvGraphicFramePr>
          <p:cNvPr id="6" name="Obiekt 5">
            <a:extLst>
              <a:ext uri="{FF2B5EF4-FFF2-40B4-BE49-F238E27FC236}">
                <a16:creationId xmlns:a16="http://schemas.microsoft.com/office/drawing/2014/main" id="{8BA49F27-ACF2-4E48-B9A3-4CDAB55C8530}"/>
              </a:ext>
            </a:extLst>
          </p:cNvPr>
          <p:cNvGraphicFramePr>
            <a:graphicFrameLocks noChangeAspect="1"/>
          </p:cNvGraphicFramePr>
          <p:nvPr>
            <p:extLst>
              <p:ext uri="{D42A27DB-BD31-4B8C-83A1-F6EECF244321}">
                <p14:modId xmlns:p14="http://schemas.microsoft.com/office/powerpoint/2010/main" val="1610185081"/>
              </p:ext>
            </p:extLst>
          </p:nvPr>
        </p:nvGraphicFramePr>
        <p:xfrm>
          <a:off x="1175552" y="1341791"/>
          <a:ext cx="9122545" cy="5476979"/>
        </p:xfrm>
        <a:graphic>
          <a:graphicData uri="http://schemas.openxmlformats.org/presentationml/2006/ole">
            <mc:AlternateContent xmlns:mc="http://schemas.openxmlformats.org/markup-compatibility/2006">
              <mc:Choice xmlns:v="urn:schemas-microsoft-com:vml" Requires="v">
                <p:oleObj name="Worksheet" r:id="rId4" imgW="6713397" imgH="4030807" progId="Excel.Sheet.12">
                  <p:embed/>
                </p:oleObj>
              </mc:Choice>
              <mc:Fallback>
                <p:oleObj name="Worksheet" r:id="rId4" imgW="6713397" imgH="4030807" progId="Excel.Sheet.12">
                  <p:embed/>
                  <p:pic>
                    <p:nvPicPr>
                      <p:cNvPr id="0" name=""/>
                      <p:cNvPicPr/>
                      <p:nvPr/>
                    </p:nvPicPr>
                    <p:blipFill>
                      <a:blip r:embed="rId5"/>
                      <a:stretch>
                        <a:fillRect/>
                      </a:stretch>
                    </p:blipFill>
                    <p:spPr>
                      <a:xfrm>
                        <a:off x="1175552" y="1341791"/>
                        <a:ext cx="9122545" cy="5476979"/>
                      </a:xfrm>
                      <a:prstGeom prst="rect">
                        <a:avLst/>
                      </a:prstGeom>
                    </p:spPr>
                  </p:pic>
                </p:oleObj>
              </mc:Fallback>
            </mc:AlternateContent>
          </a:graphicData>
        </a:graphic>
      </p:graphicFrame>
      <p:sp>
        <p:nvSpPr>
          <p:cNvPr id="7" name="Prostokąt 6">
            <a:extLst>
              <a:ext uri="{FF2B5EF4-FFF2-40B4-BE49-F238E27FC236}">
                <a16:creationId xmlns:a16="http://schemas.microsoft.com/office/drawing/2014/main" id="{49621D15-4667-4F82-84C8-6301D21AD96C}"/>
              </a:ext>
            </a:extLst>
          </p:cNvPr>
          <p:cNvSpPr/>
          <p:nvPr/>
        </p:nvSpPr>
        <p:spPr>
          <a:xfrm>
            <a:off x="1562470" y="6214369"/>
            <a:ext cx="6427433" cy="60440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879148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15E991-C088-4E47-81C1-C39BDAD83933}"/>
              </a:ext>
            </a:extLst>
          </p:cNvPr>
          <p:cNvSpPr>
            <a:spLocks noGrp="1"/>
          </p:cNvSpPr>
          <p:nvPr>
            <p:ph type="title"/>
          </p:nvPr>
        </p:nvSpPr>
        <p:spPr>
          <a:xfrm>
            <a:off x="749424" y="0"/>
            <a:ext cx="10515600" cy="638052"/>
          </a:xfrm>
        </p:spPr>
        <p:txBody>
          <a:bodyPr>
            <a:normAutofit fontScale="90000"/>
          </a:bodyPr>
          <a:lstStyle/>
          <a:p>
            <a:pPr algn="ctr"/>
            <a:r>
              <a:rPr lang="pl-PL" b="1" dirty="0"/>
              <a:t>LDA </a:t>
            </a:r>
            <a:r>
              <a:rPr lang="pl-PL" b="1" dirty="0" err="1"/>
              <a:t>example</a:t>
            </a:r>
            <a:r>
              <a:rPr lang="pl-PL" b="1" dirty="0"/>
              <a:t> 2</a:t>
            </a:r>
            <a:endParaRPr lang="pl-PL" dirty="0"/>
          </a:p>
        </p:txBody>
      </p:sp>
      <p:sp>
        <p:nvSpPr>
          <p:cNvPr id="3" name="Symbol zastępczy zawartości 2">
            <a:extLst>
              <a:ext uri="{FF2B5EF4-FFF2-40B4-BE49-F238E27FC236}">
                <a16:creationId xmlns:a16="http://schemas.microsoft.com/office/drawing/2014/main" id="{3E00B145-1E5C-4DBC-8844-E4DDDE5D7D7E}"/>
              </a:ext>
            </a:extLst>
          </p:cNvPr>
          <p:cNvSpPr>
            <a:spLocks noGrp="1"/>
          </p:cNvSpPr>
          <p:nvPr>
            <p:ph idx="1"/>
          </p:nvPr>
        </p:nvSpPr>
        <p:spPr>
          <a:xfrm>
            <a:off x="65842" y="638052"/>
            <a:ext cx="12126157" cy="4351338"/>
          </a:xfrm>
        </p:spPr>
        <p:txBody>
          <a:bodyPr/>
          <a:lstStyle/>
          <a:p>
            <a:r>
              <a:rPr lang="pl-PL" dirty="0" err="1"/>
              <a:t>Discriminant</a:t>
            </a:r>
            <a:r>
              <a:rPr lang="pl-PL" dirty="0"/>
              <a:t> </a:t>
            </a:r>
            <a:r>
              <a:rPr lang="pl-PL" dirty="0" err="1"/>
              <a:t>functions</a:t>
            </a:r>
            <a:endParaRPr lang="pl-PL" dirty="0"/>
          </a:p>
          <a:p>
            <a:endParaRPr lang="pl-PL" dirty="0"/>
          </a:p>
          <a:p>
            <a:endParaRPr lang="pl-PL" dirty="0"/>
          </a:p>
          <a:p>
            <a:endParaRPr lang="pl-PL" dirty="0"/>
          </a:p>
          <a:p>
            <a:endParaRPr lang="pl-PL" dirty="0"/>
          </a:p>
        </p:txBody>
      </p:sp>
      <p:sp>
        <p:nvSpPr>
          <p:cNvPr id="4" name="Symbol zastępczy numeru slajdu 3">
            <a:extLst>
              <a:ext uri="{FF2B5EF4-FFF2-40B4-BE49-F238E27FC236}">
                <a16:creationId xmlns:a16="http://schemas.microsoft.com/office/drawing/2014/main" id="{6232C7E1-0460-4404-B53C-5AB57D25527A}"/>
              </a:ext>
            </a:extLst>
          </p:cNvPr>
          <p:cNvSpPr>
            <a:spLocks noGrp="1"/>
          </p:cNvSpPr>
          <p:nvPr>
            <p:ph type="sldNum" sz="quarter" idx="12"/>
          </p:nvPr>
        </p:nvSpPr>
        <p:spPr/>
        <p:txBody>
          <a:bodyPr/>
          <a:lstStyle/>
          <a:p>
            <a:fld id="{A7544F9A-EF6A-47CB-A458-C95835DAEA60}" type="slidenum">
              <a:rPr lang="pl-PL" smtClean="0"/>
              <a:t>36</a:t>
            </a:fld>
            <a:endParaRPr lang="pl-PL"/>
          </a:p>
        </p:txBody>
      </p:sp>
      <mc:AlternateContent xmlns:mc="http://schemas.openxmlformats.org/markup-compatibility/2006" xmlns:a14="http://schemas.microsoft.com/office/drawing/2010/main">
        <mc:Choice Requires="a14">
          <p:sp>
            <p:nvSpPr>
              <p:cNvPr id="5" name="pole tekstowe 7">
                <a:extLst>
                  <a:ext uri="{FF2B5EF4-FFF2-40B4-BE49-F238E27FC236}">
                    <a16:creationId xmlns:a16="http://schemas.microsoft.com/office/drawing/2014/main" id="{00000000-0008-0000-0000-000008000000}"/>
                  </a:ext>
                </a:extLst>
              </p:cNvPr>
              <p:cNvSpPr txBox="1"/>
              <p:nvPr/>
            </p:nvSpPr>
            <p:spPr>
              <a:xfrm>
                <a:off x="3920383" y="419807"/>
                <a:ext cx="6581161" cy="92198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pl-PL" sz="3200" b="0" i="1">
                              <a:latin typeface="Cambria Math" panose="02040503050406030204" pitchFamily="18" charset="0"/>
                            </a:rPr>
                            <m:t>𝑓</m:t>
                          </m:r>
                        </m:e>
                        <m:sub>
                          <m:r>
                            <a:rPr lang="pl-PL" sz="3200" b="0" i="1">
                              <a:latin typeface="Cambria Math" panose="02040503050406030204" pitchFamily="18" charset="0"/>
                            </a:rPr>
                            <m:t>𝑖</m:t>
                          </m:r>
                        </m:sub>
                      </m:sSub>
                      <m:r>
                        <a:rPr lang="pl-PL" sz="3200" b="0" i="1">
                          <a:latin typeface="Cambria Math" panose="02040503050406030204" pitchFamily="18" charset="0"/>
                        </a:rPr>
                        <m:t>=</m:t>
                      </m:r>
                      <m:sSub>
                        <m:sSubPr>
                          <m:ctrlPr>
                            <a:rPr lang="pl-PL" sz="3200" b="0" i="1">
                              <a:latin typeface="Cambria Math" panose="02040503050406030204" pitchFamily="18" charset="0"/>
                            </a:rPr>
                          </m:ctrlPr>
                        </m:sSubPr>
                        <m:e>
                          <m:r>
                            <a:rPr lang="pl-PL" sz="3200" b="0" i="1">
                              <a:latin typeface="Cambria Math" panose="02040503050406030204" pitchFamily="18" charset="0"/>
                              <a:ea typeface="Cambria Math" panose="02040503050406030204" pitchFamily="18" charset="0"/>
                            </a:rPr>
                            <m:t>𝑚</m:t>
                          </m:r>
                        </m:e>
                        <m:sub>
                          <m:r>
                            <a:rPr lang="pl-PL" sz="3200" b="0" i="1">
                              <a:latin typeface="Cambria Math" panose="02040503050406030204" pitchFamily="18" charset="0"/>
                            </a:rPr>
                            <m:t>𝑖</m:t>
                          </m:r>
                        </m:sub>
                      </m:sSub>
                      <m:sSup>
                        <m:sSupPr>
                          <m:ctrlPr>
                            <a:rPr lang="pl-PL" sz="3200" b="0" i="1">
                              <a:latin typeface="Cambria Math" panose="02040503050406030204" pitchFamily="18" charset="0"/>
                            </a:rPr>
                          </m:ctrlPr>
                        </m:sSupPr>
                        <m:e>
                          <m:r>
                            <a:rPr lang="pl-PL" sz="3200" b="0" i="1">
                              <a:latin typeface="Cambria Math" panose="02040503050406030204" pitchFamily="18" charset="0"/>
                            </a:rPr>
                            <m:t>𝐶</m:t>
                          </m:r>
                        </m:e>
                        <m:sup>
                          <m:r>
                            <a:rPr lang="pl-PL" sz="3200" b="0" i="1">
                              <a:latin typeface="Cambria Math" panose="02040503050406030204" pitchFamily="18" charset="0"/>
                            </a:rPr>
                            <m:t>−1</m:t>
                          </m:r>
                        </m:sup>
                      </m:sSup>
                      <m:sSubSup>
                        <m:sSubSupPr>
                          <m:ctrlPr>
                            <a:rPr lang="pl-PL" sz="3200" b="0" i="1">
                              <a:latin typeface="Cambria Math" panose="02040503050406030204" pitchFamily="18" charset="0"/>
                            </a:rPr>
                          </m:ctrlPr>
                        </m:sSubSupPr>
                        <m:e>
                          <m:r>
                            <a:rPr lang="pl-PL" sz="3200" b="0" i="1">
                              <a:latin typeface="Cambria Math" panose="02040503050406030204" pitchFamily="18" charset="0"/>
                            </a:rPr>
                            <m:t>𝑥</m:t>
                          </m:r>
                        </m:e>
                        <m:sub>
                          <m:r>
                            <a:rPr lang="pl-PL" sz="3200" b="0" i="1">
                              <a:latin typeface="Cambria Math" panose="02040503050406030204" pitchFamily="18" charset="0"/>
                            </a:rPr>
                            <m:t>𝑘</m:t>
                          </m:r>
                        </m:sub>
                        <m:sup>
                          <m:r>
                            <a:rPr lang="pl-PL" sz="3200" b="0" i="1">
                              <a:latin typeface="Cambria Math" panose="02040503050406030204" pitchFamily="18" charset="0"/>
                            </a:rPr>
                            <m:t>𝑇</m:t>
                          </m:r>
                        </m:sup>
                      </m:sSubSup>
                      <m:r>
                        <a:rPr lang="pl-PL" sz="3200" b="0" i="1">
                          <a:latin typeface="Cambria Math" panose="02040503050406030204" pitchFamily="18" charset="0"/>
                        </a:rPr>
                        <m:t>−</m:t>
                      </m:r>
                      <m:f>
                        <m:fPr>
                          <m:ctrlPr>
                            <a:rPr lang="pl-PL" sz="3200" b="0" i="1">
                              <a:latin typeface="Cambria Math" panose="02040503050406030204" pitchFamily="18" charset="0"/>
                            </a:rPr>
                          </m:ctrlPr>
                        </m:fPr>
                        <m:num>
                          <m:r>
                            <a:rPr lang="pl-PL" sz="3200" b="0" i="1">
                              <a:latin typeface="Cambria Math" panose="02040503050406030204" pitchFamily="18" charset="0"/>
                            </a:rPr>
                            <m:t>1</m:t>
                          </m:r>
                        </m:num>
                        <m:den>
                          <m:r>
                            <a:rPr lang="pl-PL" sz="3200" b="0" i="1">
                              <a:latin typeface="Cambria Math" panose="02040503050406030204" pitchFamily="18" charset="0"/>
                            </a:rPr>
                            <m:t>2</m:t>
                          </m:r>
                        </m:den>
                      </m:f>
                      <m:sSub>
                        <m:sSubPr>
                          <m:ctrlPr>
                            <a:rPr lang="pl-PL" sz="3200" b="0" i="1">
                              <a:latin typeface="Cambria Math" panose="02040503050406030204" pitchFamily="18" charset="0"/>
                            </a:rPr>
                          </m:ctrlPr>
                        </m:sSubPr>
                        <m:e>
                          <m:r>
                            <a:rPr lang="pl-PL" sz="3200" b="0" i="1">
                              <a:latin typeface="Cambria Math" panose="02040503050406030204" pitchFamily="18" charset="0"/>
                            </a:rPr>
                            <m:t>𝑚</m:t>
                          </m:r>
                        </m:e>
                        <m:sub>
                          <m:r>
                            <a:rPr lang="pl-PL" sz="3200" b="0" i="1">
                              <a:latin typeface="Cambria Math" panose="02040503050406030204" pitchFamily="18" charset="0"/>
                            </a:rPr>
                            <m:t>𝑖</m:t>
                          </m:r>
                        </m:sub>
                      </m:sSub>
                      <m:sSup>
                        <m:sSupPr>
                          <m:ctrlPr>
                            <a:rPr lang="pl-PL" sz="3200" b="0" i="1">
                              <a:latin typeface="Cambria Math" panose="02040503050406030204" pitchFamily="18" charset="0"/>
                            </a:rPr>
                          </m:ctrlPr>
                        </m:sSupPr>
                        <m:e>
                          <m:r>
                            <a:rPr lang="pl-PL" sz="3200" b="0" i="1">
                              <a:latin typeface="Cambria Math" panose="02040503050406030204" pitchFamily="18" charset="0"/>
                            </a:rPr>
                            <m:t>𝐶</m:t>
                          </m:r>
                        </m:e>
                        <m:sup>
                          <m:r>
                            <a:rPr lang="pl-PL" sz="3200" b="0" i="1">
                              <a:latin typeface="Cambria Math" panose="02040503050406030204" pitchFamily="18" charset="0"/>
                            </a:rPr>
                            <m:t>−1</m:t>
                          </m:r>
                        </m:sup>
                      </m:sSup>
                      <m:sSubSup>
                        <m:sSubSupPr>
                          <m:ctrlPr>
                            <a:rPr lang="pl-PL" sz="3200" b="0" i="1">
                              <a:latin typeface="Cambria Math" panose="02040503050406030204" pitchFamily="18" charset="0"/>
                            </a:rPr>
                          </m:ctrlPr>
                        </m:sSubSupPr>
                        <m:e>
                          <m:r>
                            <a:rPr lang="pl-PL" sz="3200" b="0" i="1">
                              <a:latin typeface="Cambria Math" panose="02040503050406030204" pitchFamily="18" charset="0"/>
                            </a:rPr>
                            <m:t>𝑚</m:t>
                          </m:r>
                        </m:e>
                        <m:sub>
                          <m:r>
                            <a:rPr lang="pl-PL" sz="3200" b="0" i="1">
                              <a:latin typeface="Cambria Math" panose="02040503050406030204" pitchFamily="18" charset="0"/>
                            </a:rPr>
                            <m:t>𝑖</m:t>
                          </m:r>
                        </m:sub>
                        <m:sup>
                          <m:r>
                            <a:rPr lang="pl-PL" sz="3200" b="0" i="1">
                              <a:latin typeface="Cambria Math" panose="02040503050406030204" pitchFamily="18" charset="0"/>
                            </a:rPr>
                            <m:t>𝑇</m:t>
                          </m:r>
                        </m:sup>
                      </m:sSubSup>
                      <m:r>
                        <a:rPr lang="pl-PL" sz="3200" b="0" i="1">
                          <a:latin typeface="Cambria Math" panose="02040503050406030204" pitchFamily="18" charset="0"/>
                        </a:rPr>
                        <m:t>+</m:t>
                      </m:r>
                      <m:r>
                        <a:rPr lang="pl-PL" sz="3200" b="0" i="1">
                          <a:latin typeface="Cambria Math" panose="02040503050406030204" pitchFamily="18" charset="0"/>
                        </a:rPr>
                        <m:t>𝑙𝑛</m:t>
                      </m:r>
                      <m:d>
                        <m:dPr>
                          <m:ctrlPr>
                            <a:rPr lang="pl-PL" sz="3200" b="0" i="1">
                              <a:latin typeface="Cambria Math" panose="02040503050406030204" pitchFamily="18" charset="0"/>
                            </a:rPr>
                          </m:ctrlPr>
                        </m:dPr>
                        <m:e>
                          <m:sSub>
                            <m:sSubPr>
                              <m:ctrlPr>
                                <a:rPr lang="pl-PL" sz="3200" b="0" i="1">
                                  <a:latin typeface="Cambria Math" panose="02040503050406030204" pitchFamily="18" charset="0"/>
                                </a:rPr>
                              </m:ctrlPr>
                            </m:sSubPr>
                            <m:e>
                              <m:r>
                                <a:rPr lang="pl-PL" sz="3200" b="0" i="1">
                                  <a:latin typeface="Cambria Math" panose="02040503050406030204" pitchFamily="18" charset="0"/>
                                </a:rPr>
                                <m:t>𝑝</m:t>
                              </m:r>
                            </m:e>
                            <m:sub>
                              <m:r>
                                <a:rPr lang="pl-PL" sz="3200" b="0" i="1">
                                  <a:latin typeface="Cambria Math" panose="02040503050406030204" pitchFamily="18" charset="0"/>
                                </a:rPr>
                                <m:t>𝑖</m:t>
                              </m:r>
                            </m:sub>
                          </m:sSub>
                        </m:e>
                      </m:d>
                    </m:oMath>
                  </m:oMathPara>
                </a14:m>
                <a:endParaRPr lang="en-US" sz="3200" dirty="0"/>
              </a:p>
            </p:txBody>
          </p:sp>
        </mc:Choice>
        <mc:Fallback xmlns="">
          <p:sp>
            <p:nvSpPr>
              <p:cNvPr id="5" name="pole tekstowe 7">
                <a:extLst>
                  <a:ext uri="{FF2B5EF4-FFF2-40B4-BE49-F238E27FC236}">
                    <a16:creationId xmlns:a16="http://schemas.microsoft.com/office/drawing/2014/main" id="{00000000-0008-0000-0000-000008000000}"/>
                  </a:ext>
                </a:extLst>
              </p:cNvPr>
              <p:cNvSpPr txBox="1">
                <a:spLocks noRot="1" noChangeAspect="1" noMove="1" noResize="1" noEditPoints="1" noAdjustHandles="1" noChangeArrowheads="1" noChangeShapeType="1" noTextEdit="1"/>
              </p:cNvSpPr>
              <p:nvPr/>
            </p:nvSpPr>
            <p:spPr>
              <a:xfrm>
                <a:off x="3920383" y="419807"/>
                <a:ext cx="6581161" cy="921984"/>
              </a:xfrm>
              <a:prstGeom prst="rect">
                <a:avLst/>
              </a:prstGeom>
              <a:blipFill>
                <a:blip r:embed="rId3"/>
                <a:stretch>
                  <a:fillRect/>
                </a:stretch>
              </a:blipFill>
            </p:spPr>
            <p:txBody>
              <a:bodyPr/>
              <a:lstStyle/>
              <a:p>
                <a:r>
                  <a:rPr lang="pl-PL">
                    <a:noFill/>
                  </a:rPr>
                  <a:t> </a:t>
                </a:r>
              </a:p>
            </p:txBody>
          </p:sp>
        </mc:Fallback>
      </mc:AlternateContent>
      <p:graphicFrame>
        <p:nvGraphicFramePr>
          <p:cNvPr id="7" name="Obiekt 6">
            <a:extLst>
              <a:ext uri="{FF2B5EF4-FFF2-40B4-BE49-F238E27FC236}">
                <a16:creationId xmlns:a16="http://schemas.microsoft.com/office/drawing/2014/main" id="{0B5A842B-DDBD-4AA6-926D-03FD4ECE69F0}"/>
              </a:ext>
            </a:extLst>
          </p:cNvPr>
          <p:cNvGraphicFramePr>
            <a:graphicFrameLocks noChangeAspect="1"/>
          </p:cNvGraphicFramePr>
          <p:nvPr>
            <p:extLst>
              <p:ext uri="{D42A27DB-BD31-4B8C-83A1-F6EECF244321}">
                <p14:modId xmlns:p14="http://schemas.microsoft.com/office/powerpoint/2010/main" val="670815759"/>
              </p:ext>
            </p:extLst>
          </p:nvPr>
        </p:nvGraphicFramePr>
        <p:xfrm>
          <a:off x="1291379" y="1425789"/>
          <a:ext cx="9477235" cy="5432211"/>
        </p:xfrm>
        <a:graphic>
          <a:graphicData uri="http://schemas.openxmlformats.org/presentationml/2006/ole">
            <mc:AlternateContent xmlns:mc="http://schemas.openxmlformats.org/markup-compatibility/2006">
              <mc:Choice xmlns:v="urn:schemas-microsoft-com:vml" Requires="v">
                <p:oleObj name="Worksheet" r:id="rId4" imgW="6713397" imgH="3847974" progId="Excel.Sheet.12">
                  <p:embed/>
                </p:oleObj>
              </mc:Choice>
              <mc:Fallback>
                <p:oleObj name="Worksheet" r:id="rId4" imgW="6713397" imgH="3847974" progId="Excel.Sheet.12">
                  <p:embed/>
                  <p:pic>
                    <p:nvPicPr>
                      <p:cNvPr id="0" name=""/>
                      <p:cNvPicPr/>
                      <p:nvPr/>
                    </p:nvPicPr>
                    <p:blipFill>
                      <a:blip r:embed="rId5"/>
                      <a:stretch>
                        <a:fillRect/>
                      </a:stretch>
                    </p:blipFill>
                    <p:spPr>
                      <a:xfrm>
                        <a:off x="1291379" y="1425789"/>
                        <a:ext cx="9477235" cy="5432211"/>
                      </a:xfrm>
                      <a:prstGeom prst="rect">
                        <a:avLst/>
                      </a:prstGeom>
                    </p:spPr>
                  </p:pic>
                </p:oleObj>
              </mc:Fallback>
            </mc:AlternateContent>
          </a:graphicData>
        </a:graphic>
      </p:graphicFrame>
      <p:sp>
        <p:nvSpPr>
          <p:cNvPr id="9" name="Prostokąt 8">
            <a:extLst>
              <a:ext uri="{FF2B5EF4-FFF2-40B4-BE49-F238E27FC236}">
                <a16:creationId xmlns:a16="http://schemas.microsoft.com/office/drawing/2014/main" id="{32C972B0-D09A-4D44-8B32-77DDD7422C61}"/>
              </a:ext>
            </a:extLst>
          </p:cNvPr>
          <p:cNvSpPr/>
          <p:nvPr/>
        </p:nvSpPr>
        <p:spPr>
          <a:xfrm>
            <a:off x="1839157" y="6285811"/>
            <a:ext cx="6427433" cy="60440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4181737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354FAC-E0DE-468C-B5A2-08C14EAB5B5F}"/>
              </a:ext>
            </a:extLst>
          </p:cNvPr>
          <p:cNvSpPr>
            <a:spLocks noGrp="1"/>
          </p:cNvSpPr>
          <p:nvPr>
            <p:ph type="title"/>
          </p:nvPr>
        </p:nvSpPr>
        <p:spPr/>
        <p:txBody>
          <a:bodyPr/>
          <a:lstStyle/>
          <a:p>
            <a:pPr algn="ctr"/>
            <a:r>
              <a:rPr lang="pl-PL" dirty="0" err="1"/>
              <a:t>Let</a:t>
            </a:r>
            <a:r>
              <a:rPr lang="pl-PL" dirty="0"/>
              <a:t> </a:t>
            </a:r>
            <a:r>
              <a:rPr lang="pl-PL" dirty="0" err="1"/>
              <a:t>now</a:t>
            </a:r>
            <a:r>
              <a:rPr lang="pl-PL" dirty="0"/>
              <a:t> f1 = f2</a:t>
            </a:r>
          </a:p>
        </p:txBody>
      </p:sp>
      <p:sp>
        <p:nvSpPr>
          <p:cNvPr id="4" name="Symbol zastępczy numeru slajdu 3">
            <a:extLst>
              <a:ext uri="{FF2B5EF4-FFF2-40B4-BE49-F238E27FC236}">
                <a16:creationId xmlns:a16="http://schemas.microsoft.com/office/drawing/2014/main" id="{729AFE3F-825B-45F5-A373-902B3F4DFBC7}"/>
              </a:ext>
            </a:extLst>
          </p:cNvPr>
          <p:cNvSpPr>
            <a:spLocks noGrp="1"/>
          </p:cNvSpPr>
          <p:nvPr>
            <p:ph type="sldNum" sz="quarter" idx="12"/>
          </p:nvPr>
        </p:nvSpPr>
        <p:spPr/>
        <p:txBody>
          <a:bodyPr/>
          <a:lstStyle/>
          <a:p>
            <a:fld id="{A7544F9A-EF6A-47CB-A458-C95835DAEA60}" type="slidenum">
              <a:rPr lang="pl-PL" smtClean="0"/>
              <a:t>37</a:t>
            </a:fld>
            <a:endParaRPr lang="pl-PL"/>
          </a:p>
        </p:txBody>
      </p:sp>
      <p:graphicFrame>
        <p:nvGraphicFramePr>
          <p:cNvPr id="6" name="Obiekt 5">
            <a:extLst>
              <a:ext uri="{FF2B5EF4-FFF2-40B4-BE49-F238E27FC236}">
                <a16:creationId xmlns:a16="http://schemas.microsoft.com/office/drawing/2014/main" id="{B5D86F4B-F53A-4811-9048-F7CDE09C1F88}"/>
              </a:ext>
            </a:extLst>
          </p:cNvPr>
          <p:cNvGraphicFramePr>
            <a:graphicFrameLocks noChangeAspect="1"/>
          </p:cNvGraphicFramePr>
          <p:nvPr>
            <p:extLst>
              <p:ext uri="{D42A27DB-BD31-4B8C-83A1-F6EECF244321}">
                <p14:modId xmlns:p14="http://schemas.microsoft.com/office/powerpoint/2010/main" val="810096057"/>
              </p:ext>
            </p:extLst>
          </p:nvPr>
        </p:nvGraphicFramePr>
        <p:xfrm>
          <a:off x="429827" y="2859933"/>
          <a:ext cx="11617587" cy="1752838"/>
        </p:xfrm>
        <a:graphic>
          <a:graphicData uri="http://schemas.openxmlformats.org/presentationml/2006/ole">
            <mc:AlternateContent xmlns:mc="http://schemas.openxmlformats.org/markup-compatibility/2006">
              <mc:Choice xmlns:v="urn:schemas-microsoft-com:vml" Requires="v">
                <p:oleObj name="Worksheet" r:id="rId2" imgW="7322855" imgH="1105057" progId="Excel.Sheet.12">
                  <p:embed/>
                </p:oleObj>
              </mc:Choice>
              <mc:Fallback>
                <p:oleObj name="Worksheet" r:id="rId2" imgW="7322855" imgH="1105057" progId="Excel.Sheet.12">
                  <p:embed/>
                  <p:pic>
                    <p:nvPicPr>
                      <p:cNvPr id="0" name=""/>
                      <p:cNvPicPr/>
                      <p:nvPr/>
                    </p:nvPicPr>
                    <p:blipFill>
                      <a:blip r:embed="rId3"/>
                      <a:stretch>
                        <a:fillRect/>
                      </a:stretch>
                    </p:blipFill>
                    <p:spPr>
                      <a:xfrm>
                        <a:off x="429827" y="2859933"/>
                        <a:ext cx="11617587" cy="1752838"/>
                      </a:xfrm>
                      <a:prstGeom prst="rect">
                        <a:avLst/>
                      </a:prstGeom>
                    </p:spPr>
                  </p:pic>
                </p:oleObj>
              </mc:Fallback>
            </mc:AlternateContent>
          </a:graphicData>
        </a:graphic>
      </p:graphicFrame>
      <p:sp>
        <p:nvSpPr>
          <p:cNvPr id="8" name="Prostokąt 7">
            <a:extLst>
              <a:ext uri="{FF2B5EF4-FFF2-40B4-BE49-F238E27FC236}">
                <a16:creationId xmlns:a16="http://schemas.microsoft.com/office/drawing/2014/main" id="{F12CB563-0DA5-40AD-8138-9D2B6B352781}"/>
              </a:ext>
            </a:extLst>
          </p:cNvPr>
          <p:cNvSpPr/>
          <p:nvPr/>
        </p:nvSpPr>
        <p:spPr>
          <a:xfrm>
            <a:off x="1216241" y="4008370"/>
            <a:ext cx="7155402" cy="8033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680577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E49E91A-DABB-41F1-9FC3-76B7650C881B}"/>
              </a:ext>
            </a:extLst>
          </p:cNvPr>
          <p:cNvSpPr>
            <a:spLocks noGrp="1"/>
          </p:cNvSpPr>
          <p:nvPr>
            <p:ph type="title"/>
          </p:nvPr>
        </p:nvSpPr>
        <p:spPr/>
        <p:txBody>
          <a:bodyPr/>
          <a:lstStyle/>
          <a:p>
            <a:pPr algn="ctr"/>
            <a:r>
              <a:rPr lang="pl-PL" dirty="0" err="1"/>
              <a:t>Border</a:t>
            </a:r>
            <a:r>
              <a:rPr lang="pl-PL" dirty="0"/>
              <a:t> </a:t>
            </a:r>
            <a:r>
              <a:rPr lang="pl-PL" dirty="0" err="1"/>
              <a:t>line</a:t>
            </a:r>
            <a:endParaRPr lang="pl-PL" dirty="0"/>
          </a:p>
        </p:txBody>
      </p:sp>
      <p:sp>
        <p:nvSpPr>
          <p:cNvPr id="4" name="Symbol zastępczy numeru slajdu 3">
            <a:extLst>
              <a:ext uri="{FF2B5EF4-FFF2-40B4-BE49-F238E27FC236}">
                <a16:creationId xmlns:a16="http://schemas.microsoft.com/office/drawing/2014/main" id="{8235A725-288A-4B7E-A706-641BB6980914}"/>
              </a:ext>
            </a:extLst>
          </p:cNvPr>
          <p:cNvSpPr>
            <a:spLocks noGrp="1"/>
          </p:cNvSpPr>
          <p:nvPr>
            <p:ph type="sldNum" sz="quarter" idx="12"/>
          </p:nvPr>
        </p:nvSpPr>
        <p:spPr/>
        <p:txBody>
          <a:bodyPr/>
          <a:lstStyle/>
          <a:p>
            <a:fld id="{A7544F9A-EF6A-47CB-A458-C95835DAEA60}" type="slidenum">
              <a:rPr lang="pl-PL" smtClean="0"/>
              <a:t>38</a:t>
            </a:fld>
            <a:endParaRPr lang="pl-PL"/>
          </a:p>
        </p:txBody>
      </p:sp>
      <p:graphicFrame>
        <p:nvGraphicFramePr>
          <p:cNvPr id="6" name="Tabela 5">
            <a:extLst>
              <a:ext uri="{FF2B5EF4-FFF2-40B4-BE49-F238E27FC236}">
                <a16:creationId xmlns:a16="http://schemas.microsoft.com/office/drawing/2014/main" id="{EAA3E96A-6631-4895-99FB-B01AFD9B6EC5}"/>
              </a:ext>
            </a:extLst>
          </p:cNvPr>
          <p:cNvGraphicFramePr>
            <a:graphicFrameLocks noGrp="1"/>
          </p:cNvGraphicFramePr>
          <p:nvPr>
            <p:extLst>
              <p:ext uri="{D42A27DB-BD31-4B8C-83A1-F6EECF244321}">
                <p14:modId xmlns:p14="http://schemas.microsoft.com/office/powerpoint/2010/main" val="3985580558"/>
              </p:ext>
            </p:extLst>
          </p:nvPr>
        </p:nvGraphicFramePr>
        <p:xfrm>
          <a:off x="1165487" y="2403625"/>
          <a:ext cx="9629758" cy="2683280"/>
        </p:xfrm>
        <a:graphic>
          <a:graphicData uri="http://schemas.openxmlformats.org/drawingml/2006/table">
            <a:tbl>
              <a:tblPr>
                <a:tableStyleId>{5C22544A-7EE6-4342-B048-85BDC9FD1C3A}</a:tableStyleId>
              </a:tblPr>
              <a:tblGrid>
                <a:gridCol w="1167244">
                  <a:extLst>
                    <a:ext uri="{9D8B030D-6E8A-4147-A177-3AD203B41FA5}">
                      <a16:colId xmlns:a16="http://schemas.microsoft.com/office/drawing/2014/main" val="3495966219"/>
                    </a:ext>
                  </a:extLst>
                </a:gridCol>
                <a:gridCol w="1167244">
                  <a:extLst>
                    <a:ext uri="{9D8B030D-6E8A-4147-A177-3AD203B41FA5}">
                      <a16:colId xmlns:a16="http://schemas.microsoft.com/office/drawing/2014/main" val="2639228930"/>
                    </a:ext>
                  </a:extLst>
                </a:gridCol>
                <a:gridCol w="2168693">
                  <a:extLst>
                    <a:ext uri="{9D8B030D-6E8A-4147-A177-3AD203B41FA5}">
                      <a16:colId xmlns:a16="http://schemas.microsoft.com/office/drawing/2014/main" val="829552238"/>
                    </a:ext>
                  </a:extLst>
                </a:gridCol>
                <a:gridCol w="1091057">
                  <a:extLst>
                    <a:ext uri="{9D8B030D-6E8A-4147-A177-3AD203B41FA5}">
                      <a16:colId xmlns:a16="http://schemas.microsoft.com/office/drawing/2014/main" val="3762954074"/>
                    </a:ext>
                  </a:extLst>
                </a:gridCol>
                <a:gridCol w="1117412">
                  <a:extLst>
                    <a:ext uri="{9D8B030D-6E8A-4147-A177-3AD203B41FA5}">
                      <a16:colId xmlns:a16="http://schemas.microsoft.com/office/drawing/2014/main" val="91426847"/>
                    </a:ext>
                  </a:extLst>
                </a:gridCol>
                <a:gridCol w="1459054">
                  <a:extLst>
                    <a:ext uri="{9D8B030D-6E8A-4147-A177-3AD203B41FA5}">
                      <a16:colId xmlns:a16="http://schemas.microsoft.com/office/drawing/2014/main" val="811545816"/>
                    </a:ext>
                  </a:extLst>
                </a:gridCol>
                <a:gridCol w="1459054">
                  <a:extLst>
                    <a:ext uri="{9D8B030D-6E8A-4147-A177-3AD203B41FA5}">
                      <a16:colId xmlns:a16="http://schemas.microsoft.com/office/drawing/2014/main" val="3296171477"/>
                    </a:ext>
                  </a:extLst>
                </a:gridCol>
              </a:tblGrid>
              <a:tr h="335410">
                <a:tc gridSpan="2">
                  <a:txBody>
                    <a:bodyPr/>
                    <a:lstStyle/>
                    <a:p>
                      <a:pPr algn="l" fontAlgn="b"/>
                      <a:r>
                        <a:rPr lang="pl-PL" sz="1600" u="none" strike="noStrike" dirty="0">
                          <a:effectLst/>
                        </a:rPr>
                        <a:t>w = S * (m(1) - m(2))</a:t>
                      </a:r>
                      <a:endParaRPr lang="pl-PL" sz="1600" b="0"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6658795"/>
                  </a:ext>
                </a:extLst>
              </a:tr>
              <a:tr h="33541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69109206"/>
                  </a:ext>
                </a:extLst>
              </a:tr>
              <a:tr h="335410">
                <a:tc>
                  <a:txBody>
                    <a:bodyPr/>
                    <a:lstStyle/>
                    <a:p>
                      <a:pPr algn="l" fontAlgn="b"/>
                      <a:r>
                        <a:rPr lang="pl-PL" sz="1600" u="none" strike="noStrike">
                          <a:effectLst/>
                        </a:rPr>
                        <a:t>w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3.484344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51042437"/>
                  </a:ext>
                </a:extLst>
              </a:tr>
              <a:tr h="33541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1.451583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17421903"/>
                  </a:ext>
                </a:extLst>
              </a:tr>
              <a:tr h="335410">
                <a:tc>
                  <a:txBody>
                    <a:bodyPr/>
                    <a:lstStyle/>
                    <a:p>
                      <a:pPr algn="l" fontAlgn="b"/>
                      <a:r>
                        <a:rPr lang="pl-PL" sz="1600" b="0" i="0" u="none" strike="noStrike" dirty="0">
                          <a:solidFill>
                            <a:srgbClr val="000000"/>
                          </a:solidFill>
                          <a:effectLst/>
                          <a:latin typeface="Calibri" panose="020F0502020204030204" pitchFamily="34" charset="0"/>
                        </a:rPr>
                        <a:t>W(0)=</a:t>
                      </a:r>
                    </a:p>
                  </a:txBody>
                  <a:tcPr marL="7620" marR="7620" marT="7620" marB="0" anchor="b"/>
                </a:tc>
                <a:tc>
                  <a:txBody>
                    <a:bodyPr/>
                    <a:lstStyle/>
                    <a:p>
                      <a:pPr algn="l" fontAlgn="b"/>
                      <a:r>
                        <a:rPr lang="pl-PL" sz="1600" b="0" i="0" u="none" strike="noStrike" dirty="0" err="1">
                          <a:solidFill>
                            <a:srgbClr val="000000"/>
                          </a:solidFill>
                          <a:effectLst/>
                          <a:latin typeface="Calibri" panose="020F0502020204030204" pitchFamily="34" charset="0"/>
                        </a:rPr>
                        <a:t>Ln</a:t>
                      </a:r>
                      <a:r>
                        <a:rPr lang="pl-PL" sz="1600" b="0" i="0" u="none" strike="noStrike" dirty="0">
                          <a:solidFill>
                            <a:srgbClr val="000000"/>
                          </a:solidFill>
                          <a:effectLst/>
                          <a:latin typeface="Calibri" panose="020F0502020204030204" pitchFamily="34" charset="0"/>
                        </a:rPr>
                        <a:t>(P1/P2)</a:t>
                      </a: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-1/2*(m(1)-m(2))*</a:t>
                      </a:r>
                    </a:p>
                  </a:txBody>
                  <a:tcPr marL="7620" marR="7620" marT="7620" marB="0" anchor="b"/>
                </a:tc>
                <a:tc>
                  <a:txBody>
                    <a:bodyPr/>
                    <a:lstStyle/>
                    <a:p>
                      <a:pPr algn="l" fontAlgn="b"/>
                      <a:r>
                        <a:rPr lang="pl-PL" sz="1600" b="0" i="0" u="none" strike="noStrike" dirty="0">
                          <a:solidFill>
                            <a:srgbClr val="000000"/>
                          </a:solidFill>
                          <a:effectLst/>
                          <a:latin typeface="Calibri" panose="020F0502020204030204" pitchFamily="34" charset="0"/>
                        </a:rPr>
                        <a:t>W^T</a:t>
                      </a: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66083277"/>
                  </a:ext>
                </a:extLst>
              </a:tr>
              <a:tr h="335410">
                <a:tc>
                  <a:txBody>
                    <a:bodyPr/>
                    <a:lstStyle/>
                    <a:p>
                      <a:pPr algn="l" fontAlgn="b"/>
                      <a:r>
                        <a:rPr lang="pl-PL" sz="1600" u="none" strike="noStrike">
                          <a:effectLst/>
                        </a:rPr>
                        <a:t>w(0)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-17.7515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50464273"/>
                  </a:ext>
                </a:extLst>
              </a:tr>
              <a:tr h="33541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14271192"/>
                  </a:ext>
                </a:extLst>
              </a:tr>
              <a:tr h="335410">
                <a:tc>
                  <a:txBody>
                    <a:bodyPr/>
                    <a:lstStyle/>
                    <a:p>
                      <a:pPr algn="l" fontAlgn="b"/>
                      <a:r>
                        <a:rPr lang="pl-PL" sz="1600" u="none" strike="noStrike">
                          <a:effectLst/>
                        </a:rPr>
                        <a:t>f =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-17.7515</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3.484344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a:effectLst/>
                        </a:rPr>
                        <a:t>* X1 +</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1.451583</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600" u="none" strike="noStrike" dirty="0">
                          <a:effectLst/>
                        </a:rPr>
                        <a:t>* X2</a:t>
                      </a:r>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66483098"/>
                  </a:ext>
                </a:extLst>
              </a:tr>
            </a:tbl>
          </a:graphicData>
        </a:graphic>
      </p:graphicFrame>
      <p:sp>
        <p:nvSpPr>
          <p:cNvPr id="5" name="Prostokąt 4">
            <a:extLst>
              <a:ext uri="{FF2B5EF4-FFF2-40B4-BE49-F238E27FC236}">
                <a16:creationId xmlns:a16="http://schemas.microsoft.com/office/drawing/2014/main" id="{99A13D1A-B563-4191-AA58-998B44CE30CB}"/>
              </a:ext>
            </a:extLst>
          </p:cNvPr>
          <p:cNvSpPr/>
          <p:nvPr/>
        </p:nvSpPr>
        <p:spPr>
          <a:xfrm>
            <a:off x="838200" y="4660776"/>
            <a:ext cx="9220200" cy="60440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726175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BDC7082-DFF6-4726-AC56-18836B0AFC58}"/>
              </a:ext>
            </a:extLst>
          </p:cNvPr>
          <p:cNvSpPr>
            <a:spLocks noGrp="1"/>
          </p:cNvSpPr>
          <p:nvPr>
            <p:ph type="title"/>
          </p:nvPr>
        </p:nvSpPr>
        <p:spPr>
          <a:xfrm>
            <a:off x="838200" y="244768"/>
            <a:ext cx="10515600" cy="513764"/>
          </a:xfrm>
        </p:spPr>
        <p:txBody>
          <a:bodyPr>
            <a:normAutofit fontScale="90000"/>
          </a:bodyPr>
          <a:lstStyle/>
          <a:p>
            <a:pPr algn="ctr"/>
            <a:r>
              <a:rPr lang="pl-PL" b="1" dirty="0"/>
              <a:t>LDA </a:t>
            </a:r>
            <a:r>
              <a:rPr lang="pl-PL" b="1" dirty="0" err="1"/>
              <a:t>example</a:t>
            </a:r>
            <a:r>
              <a:rPr lang="pl-PL" b="1" dirty="0"/>
              <a:t> 2</a:t>
            </a:r>
            <a:endParaRPr lang="pl-PL" dirty="0"/>
          </a:p>
        </p:txBody>
      </p:sp>
      <p:sp>
        <p:nvSpPr>
          <p:cNvPr id="3" name="Symbol zastępczy zawartości 2">
            <a:extLst>
              <a:ext uri="{FF2B5EF4-FFF2-40B4-BE49-F238E27FC236}">
                <a16:creationId xmlns:a16="http://schemas.microsoft.com/office/drawing/2014/main" id="{CDF4A0AC-4AF2-47A1-B191-A38A57B07BE0}"/>
              </a:ext>
            </a:extLst>
          </p:cNvPr>
          <p:cNvSpPr>
            <a:spLocks noGrp="1"/>
          </p:cNvSpPr>
          <p:nvPr>
            <p:ph idx="1"/>
          </p:nvPr>
        </p:nvSpPr>
        <p:spPr>
          <a:xfrm>
            <a:off x="838200" y="1253331"/>
            <a:ext cx="10515600" cy="4351338"/>
          </a:xfrm>
        </p:spPr>
        <p:txBody>
          <a:bodyPr/>
          <a:lstStyle/>
          <a:p>
            <a:r>
              <a:rPr lang="en-US" dirty="0"/>
              <a:t>We should assign object k to group </a:t>
            </a:r>
            <a:r>
              <a:rPr lang="en-US" dirty="0" err="1"/>
              <a:t>i</a:t>
            </a:r>
            <a:r>
              <a:rPr lang="en-US" dirty="0"/>
              <a:t> that has maximum f(</a:t>
            </a:r>
            <a:r>
              <a:rPr lang="en-US" dirty="0" err="1"/>
              <a:t>i</a:t>
            </a:r>
            <a:r>
              <a:rPr lang="en-US" dirty="0"/>
              <a:t>)</a:t>
            </a:r>
          </a:p>
          <a:p>
            <a:r>
              <a:rPr lang="en-US" dirty="0"/>
              <a:t>The results of our computation are given in </a:t>
            </a:r>
            <a:r>
              <a:rPr lang="en-US" dirty="0" err="1"/>
              <a:t>Ms</a:t>
            </a:r>
            <a:r>
              <a:rPr lang="en-US" dirty="0"/>
              <a:t> Excel as shown in figure below</a:t>
            </a:r>
            <a:endParaRPr lang="pl-PL" dirty="0"/>
          </a:p>
          <a:p>
            <a:endParaRPr lang="en-US" dirty="0"/>
          </a:p>
          <a:p>
            <a:endParaRPr lang="pl-PL" dirty="0"/>
          </a:p>
        </p:txBody>
      </p:sp>
      <p:sp>
        <p:nvSpPr>
          <p:cNvPr id="4" name="Symbol zastępczy numeru slajdu 3">
            <a:extLst>
              <a:ext uri="{FF2B5EF4-FFF2-40B4-BE49-F238E27FC236}">
                <a16:creationId xmlns:a16="http://schemas.microsoft.com/office/drawing/2014/main" id="{CDEAD6C0-6B9B-47E6-897D-6DD1A4D4FD64}"/>
              </a:ext>
            </a:extLst>
          </p:cNvPr>
          <p:cNvSpPr>
            <a:spLocks noGrp="1"/>
          </p:cNvSpPr>
          <p:nvPr>
            <p:ph type="sldNum" sz="quarter" idx="12"/>
          </p:nvPr>
        </p:nvSpPr>
        <p:spPr/>
        <p:txBody>
          <a:bodyPr/>
          <a:lstStyle/>
          <a:p>
            <a:fld id="{A7544F9A-EF6A-47CB-A458-C95835DAEA60}" type="slidenum">
              <a:rPr lang="pl-PL" smtClean="0"/>
              <a:t>39</a:t>
            </a:fld>
            <a:endParaRPr lang="pl-PL"/>
          </a:p>
        </p:txBody>
      </p:sp>
      <p:graphicFrame>
        <p:nvGraphicFramePr>
          <p:cNvPr id="5" name="Tabela 4">
            <a:extLst>
              <a:ext uri="{FF2B5EF4-FFF2-40B4-BE49-F238E27FC236}">
                <a16:creationId xmlns:a16="http://schemas.microsoft.com/office/drawing/2014/main" id="{F60F7020-02BF-4156-82E1-974AABA185FA}"/>
              </a:ext>
            </a:extLst>
          </p:cNvPr>
          <p:cNvGraphicFramePr>
            <a:graphicFrameLocks noGrp="1"/>
          </p:cNvGraphicFramePr>
          <p:nvPr>
            <p:extLst>
              <p:ext uri="{D42A27DB-BD31-4B8C-83A1-F6EECF244321}">
                <p14:modId xmlns:p14="http://schemas.microsoft.com/office/powerpoint/2010/main" val="751102555"/>
              </p:ext>
            </p:extLst>
          </p:nvPr>
        </p:nvGraphicFramePr>
        <p:xfrm>
          <a:off x="5" y="3237211"/>
          <a:ext cx="12191995" cy="2651760"/>
        </p:xfrm>
        <a:graphic>
          <a:graphicData uri="http://schemas.openxmlformats.org/drawingml/2006/table">
            <a:tbl>
              <a:tblPr>
                <a:tableStyleId>{5C22544A-7EE6-4342-B048-85BDC9FD1C3A}</a:tableStyleId>
              </a:tblPr>
              <a:tblGrid>
                <a:gridCol w="631641">
                  <a:extLst>
                    <a:ext uri="{9D8B030D-6E8A-4147-A177-3AD203B41FA5}">
                      <a16:colId xmlns:a16="http://schemas.microsoft.com/office/drawing/2014/main" val="3932308956"/>
                    </a:ext>
                  </a:extLst>
                </a:gridCol>
                <a:gridCol w="631641">
                  <a:extLst>
                    <a:ext uri="{9D8B030D-6E8A-4147-A177-3AD203B41FA5}">
                      <a16:colId xmlns:a16="http://schemas.microsoft.com/office/drawing/2014/main" val="290703469"/>
                    </a:ext>
                  </a:extLst>
                </a:gridCol>
                <a:gridCol w="789552">
                  <a:extLst>
                    <a:ext uri="{9D8B030D-6E8A-4147-A177-3AD203B41FA5}">
                      <a16:colId xmlns:a16="http://schemas.microsoft.com/office/drawing/2014/main" val="1807556356"/>
                    </a:ext>
                  </a:extLst>
                </a:gridCol>
                <a:gridCol w="789552">
                  <a:extLst>
                    <a:ext uri="{9D8B030D-6E8A-4147-A177-3AD203B41FA5}">
                      <a16:colId xmlns:a16="http://schemas.microsoft.com/office/drawing/2014/main" val="1107826700"/>
                    </a:ext>
                  </a:extLst>
                </a:gridCol>
                <a:gridCol w="631641">
                  <a:extLst>
                    <a:ext uri="{9D8B030D-6E8A-4147-A177-3AD203B41FA5}">
                      <a16:colId xmlns:a16="http://schemas.microsoft.com/office/drawing/2014/main" val="4094732617"/>
                    </a:ext>
                  </a:extLst>
                </a:gridCol>
                <a:gridCol w="631641">
                  <a:extLst>
                    <a:ext uri="{9D8B030D-6E8A-4147-A177-3AD203B41FA5}">
                      <a16:colId xmlns:a16="http://schemas.microsoft.com/office/drawing/2014/main" val="3620076929"/>
                    </a:ext>
                  </a:extLst>
                </a:gridCol>
                <a:gridCol w="631641">
                  <a:extLst>
                    <a:ext uri="{9D8B030D-6E8A-4147-A177-3AD203B41FA5}">
                      <a16:colId xmlns:a16="http://schemas.microsoft.com/office/drawing/2014/main" val="846979474"/>
                    </a:ext>
                  </a:extLst>
                </a:gridCol>
                <a:gridCol w="631641">
                  <a:extLst>
                    <a:ext uri="{9D8B030D-6E8A-4147-A177-3AD203B41FA5}">
                      <a16:colId xmlns:a16="http://schemas.microsoft.com/office/drawing/2014/main" val="2767274602"/>
                    </a:ext>
                  </a:extLst>
                </a:gridCol>
                <a:gridCol w="631641">
                  <a:extLst>
                    <a:ext uri="{9D8B030D-6E8A-4147-A177-3AD203B41FA5}">
                      <a16:colId xmlns:a16="http://schemas.microsoft.com/office/drawing/2014/main" val="2653285606"/>
                    </a:ext>
                  </a:extLst>
                </a:gridCol>
                <a:gridCol w="631641">
                  <a:extLst>
                    <a:ext uri="{9D8B030D-6E8A-4147-A177-3AD203B41FA5}">
                      <a16:colId xmlns:a16="http://schemas.microsoft.com/office/drawing/2014/main" val="1413364310"/>
                    </a:ext>
                  </a:extLst>
                </a:gridCol>
                <a:gridCol w="789552">
                  <a:extLst>
                    <a:ext uri="{9D8B030D-6E8A-4147-A177-3AD203B41FA5}">
                      <a16:colId xmlns:a16="http://schemas.microsoft.com/office/drawing/2014/main" val="2859373505"/>
                    </a:ext>
                  </a:extLst>
                </a:gridCol>
                <a:gridCol w="789552">
                  <a:extLst>
                    <a:ext uri="{9D8B030D-6E8A-4147-A177-3AD203B41FA5}">
                      <a16:colId xmlns:a16="http://schemas.microsoft.com/office/drawing/2014/main" val="1508546201"/>
                    </a:ext>
                  </a:extLst>
                </a:gridCol>
                <a:gridCol w="789552">
                  <a:extLst>
                    <a:ext uri="{9D8B030D-6E8A-4147-A177-3AD203B41FA5}">
                      <a16:colId xmlns:a16="http://schemas.microsoft.com/office/drawing/2014/main" val="1953602613"/>
                    </a:ext>
                  </a:extLst>
                </a:gridCol>
                <a:gridCol w="789552">
                  <a:extLst>
                    <a:ext uri="{9D8B030D-6E8A-4147-A177-3AD203B41FA5}">
                      <a16:colId xmlns:a16="http://schemas.microsoft.com/office/drawing/2014/main" val="3707709742"/>
                    </a:ext>
                  </a:extLst>
                </a:gridCol>
                <a:gridCol w="789552">
                  <a:extLst>
                    <a:ext uri="{9D8B030D-6E8A-4147-A177-3AD203B41FA5}">
                      <a16:colId xmlns:a16="http://schemas.microsoft.com/office/drawing/2014/main" val="2326343099"/>
                    </a:ext>
                  </a:extLst>
                </a:gridCol>
                <a:gridCol w="789552">
                  <a:extLst>
                    <a:ext uri="{9D8B030D-6E8A-4147-A177-3AD203B41FA5}">
                      <a16:colId xmlns:a16="http://schemas.microsoft.com/office/drawing/2014/main" val="4144819485"/>
                    </a:ext>
                  </a:extLst>
                </a:gridCol>
                <a:gridCol w="822451">
                  <a:extLst>
                    <a:ext uri="{9D8B030D-6E8A-4147-A177-3AD203B41FA5}">
                      <a16:colId xmlns:a16="http://schemas.microsoft.com/office/drawing/2014/main" val="2440988239"/>
                    </a:ext>
                  </a:extLst>
                </a:gridCol>
              </a:tblGrid>
              <a:tr h="182880">
                <a:tc gridSpan="2">
                  <a:txBody>
                    <a:bodyPr/>
                    <a:lstStyle/>
                    <a:p>
                      <a:pPr algn="l" fontAlgn="b"/>
                      <a:r>
                        <a:rPr lang="pl-PL" sz="1200" u="none" strike="noStrike">
                          <a:effectLst/>
                        </a:rPr>
                        <a:t>Training data</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l" fontAlgn="b"/>
                      <a:r>
                        <a:rPr lang="pl-PL" sz="1200" u="none" strike="noStrike">
                          <a:effectLst/>
                        </a:rPr>
                        <a:t>Mean Corrected Data</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gridSpan="3">
                  <a:txBody>
                    <a:bodyPr/>
                    <a:lstStyle/>
                    <a:p>
                      <a:pPr algn="l" fontAlgn="b"/>
                      <a:r>
                        <a:rPr lang="pl-PL" sz="1200" u="none" strike="noStrike">
                          <a:effectLst/>
                        </a:rPr>
                        <a:t>Discriminant Function</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hMerge="1">
                  <a:txBody>
                    <a:bodyPr/>
                    <a:lstStyle/>
                    <a:p>
                      <a:endParaRPr lang="pl-PL"/>
                    </a:p>
                  </a:txBody>
                  <a:tcPr/>
                </a:tc>
                <a:tc>
                  <a:txBody>
                    <a:bodyPr/>
                    <a:lstStyle/>
                    <a:p>
                      <a:pPr algn="l" fontAlgn="b"/>
                      <a:r>
                        <a:rPr lang="pl-PL" sz="1200" u="none" strike="noStrike">
                          <a:effectLst/>
                        </a:rPr>
                        <a:t>Results</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Other </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Results</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Classification</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18926206"/>
                  </a:ext>
                </a:extLst>
              </a:tr>
              <a:tr h="182880">
                <a:tc>
                  <a:txBody>
                    <a:bodyPr/>
                    <a:lstStyle/>
                    <a:p>
                      <a:pPr algn="l" fontAlgn="b"/>
                      <a:r>
                        <a:rPr lang="pl-PL" sz="1200" u="none" strike="noStrike">
                          <a:effectLst/>
                        </a:rPr>
                        <a:t>class</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X1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X2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X1,0</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X2,0</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f1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f2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pl-PL" sz="1200" u="none" strike="noStrike">
                          <a:effectLst/>
                        </a:rPr>
                        <a:t>Classification</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gridSpan="2">
                  <a:txBody>
                    <a:bodyPr/>
                    <a:lstStyle/>
                    <a:p>
                      <a:pPr algn="l" fontAlgn="b"/>
                      <a:r>
                        <a:rPr lang="pl-PL" sz="1200" u="none" strike="noStrike">
                          <a:effectLst/>
                        </a:rPr>
                        <a:t>Classification</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gridSpan="2">
                  <a:txBody>
                    <a:bodyPr/>
                    <a:lstStyle/>
                    <a:p>
                      <a:pPr algn="l" fontAlgn="b"/>
                      <a:r>
                        <a:rPr lang="pl-PL" sz="1200" u="none" strike="noStrike">
                          <a:effectLst/>
                        </a:rPr>
                        <a:t>Classification</a:t>
                      </a:r>
                      <a:endParaRPr lang="pl-PL" sz="12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r>
                        <a:rPr lang="pl-PL" sz="1200" u="none" strike="noStrike">
                          <a:effectLst/>
                        </a:rPr>
                        <a:t>Error</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5292630"/>
                  </a:ext>
                </a:extLst>
              </a:tr>
              <a:tr h="182880">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2.95</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6.63</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-0.12929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2.031429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54.98269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52.83137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2.151321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a</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490311428"/>
                  </a:ext>
                </a:extLst>
              </a:tr>
              <a:tr h="182880">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2.53</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7.79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-0.54929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3.191429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53.47409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51.10236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2.371733</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a</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51015902"/>
                  </a:ext>
                </a:extLst>
              </a:tr>
              <a:tr h="182880">
                <a:tc>
                  <a:txBody>
                    <a:bodyPr/>
                    <a:lstStyle/>
                    <a:p>
                      <a:pPr algn="r" fontAlgn="b"/>
                      <a:r>
                        <a:rPr lang="pl-PL" sz="1200" u="none" strike="noStrike" dirty="0">
                          <a:effectLst/>
                        </a:rPr>
                        <a:t>1</a:t>
                      </a:r>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3.57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5.65</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0.490714</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1.051429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62.22107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59.33201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2.889063</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a</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6046698"/>
                  </a:ext>
                </a:extLst>
              </a:tr>
              <a:tr h="182880">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3.16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5.47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0.080714</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0.871429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51.76829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50.56909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1.199197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a</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70062480"/>
                  </a:ext>
                </a:extLst>
              </a:tr>
              <a:tr h="182880">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2.58</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4.46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-0.49929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-0.13857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31.81276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34.10058</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-2.28782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a:effectLst/>
                        </a:rPr>
                        <a:t>c</a:t>
                      </a:r>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48723403"/>
                  </a:ext>
                </a:extLst>
              </a:tr>
              <a:tr h="182880">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2.16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6.22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-0.91929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1.621429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34.40972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35.60618</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-1.19646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dirty="0">
                          <a:effectLst/>
                        </a:rPr>
                        <a:t>C</a:t>
                      </a:r>
                      <a:endParaRPr lang="pl-PL"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62764759"/>
                  </a:ext>
                </a:extLst>
              </a:tr>
              <a:tr h="182880">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3.27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3.52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0.190714</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-1.07857</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40.89918</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42.14729</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-1.24811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2</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pl-PL" sz="1200" u="none" strike="noStrike" dirty="0">
                          <a:effectLst/>
                        </a:rPr>
                        <a:t>C</a:t>
                      </a:r>
                      <a:endParaRPr lang="pl-PL"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13289837"/>
                  </a:ext>
                </a:extLst>
              </a:tr>
              <a:tr h="182880">
                <a:tc>
                  <a:txBody>
                    <a:bodyPr/>
                    <a:lstStyle/>
                    <a:p>
                      <a:pPr algn="l" fontAlgn="b"/>
                      <a:r>
                        <a:rPr lang="pl-PL" sz="1200" u="none" strike="noStrike" dirty="0" err="1">
                          <a:solidFill>
                            <a:srgbClr val="FF0000"/>
                          </a:solidFill>
                          <a:effectLst/>
                        </a:rPr>
                        <a:t>prediction</a:t>
                      </a:r>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2.888571</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dirty="0">
                          <a:solidFill>
                            <a:srgbClr val="FF0000"/>
                          </a:solidFill>
                          <a:effectLst/>
                        </a:rPr>
                        <a:t>5.677143</a:t>
                      </a:r>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dirty="0">
                          <a:solidFill>
                            <a:srgbClr val="FF0000"/>
                          </a:solidFill>
                          <a:effectLst/>
                        </a:rPr>
                        <a:t>-0.19071</a:t>
                      </a:r>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1.078571</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47.08111</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46.52698</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1</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a:solidFill>
                            <a:srgbClr val="FF0000"/>
                          </a:solidFill>
                          <a:effectLst/>
                        </a:rPr>
                        <a:t>0.554132</a:t>
                      </a:r>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FF0000"/>
                        </a:solidFill>
                        <a:effectLst/>
                        <a:latin typeface="Calibri" panose="020F0502020204030204" pitchFamily="34" charset="0"/>
                      </a:endParaRPr>
                    </a:p>
                  </a:txBody>
                  <a:tcPr marL="7620" marR="7620" marT="7620" marB="0" anchor="b"/>
                </a:tc>
                <a:tc>
                  <a:txBody>
                    <a:bodyPr/>
                    <a:lstStyle/>
                    <a:p>
                      <a:pPr algn="r" fontAlgn="b"/>
                      <a:r>
                        <a:rPr lang="pl-PL" sz="1200" u="none" strike="noStrike" dirty="0">
                          <a:solidFill>
                            <a:srgbClr val="FF0000"/>
                          </a:solidFill>
                          <a:effectLst/>
                        </a:rPr>
                        <a:t>1</a:t>
                      </a:r>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FF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FF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25311552"/>
                  </a:ext>
                </a:extLst>
              </a:tr>
              <a:tr h="182880">
                <a:tc>
                  <a:txBody>
                    <a:bodyPr/>
                    <a:lstStyle/>
                    <a:p>
                      <a:pPr algn="l" fontAlgn="b"/>
                      <a:r>
                        <a:rPr lang="pl-PL" sz="1200" u="none" strike="noStrike">
                          <a:effectLst/>
                        </a:rPr>
                        <a:t>average</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3.079286</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4.598571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36553239"/>
                  </a:ext>
                </a:extLst>
              </a:tr>
              <a:tr h="182880">
                <a:tc>
                  <a:txBody>
                    <a:bodyPr/>
                    <a:lstStyle/>
                    <a:p>
                      <a:pPr algn="l" fontAlgn="b"/>
                      <a:r>
                        <a:rPr lang="pl-PL" sz="1200" u="none" strike="noStrike">
                          <a:effectLst/>
                        </a:rPr>
                        <a:t>std dev</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0.269711</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200" u="none" strike="noStrike">
                          <a:effectLst/>
                        </a:rPr>
                        <a:t>1.52533</a:t>
                      </a:r>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9042883"/>
                  </a:ext>
                </a:extLst>
              </a:tr>
            </a:tbl>
          </a:graphicData>
        </a:graphic>
      </p:graphicFrame>
      <p:sp>
        <p:nvSpPr>
          <p:cNvPr id="6" name="pole tekstowe 5">
            <a:extLst>
              <a:ext uri="{FF2B5EF4-FFF2-40B4-BE49-F238E27FC236}">
                <a16:creationId xmlns:a16="http://schemas.microsoft.com/office/drawing/2014/main" id="{6373A538-F32D-4621-87E6-55B819ECB60F}"/>
              </a:ext>
            </a:extLst>
          </p:cNvPr>
          <p:cNvSpPr txBox="1"/>
          <p:nvPr/>
        </p:nvSpPr>
        <p:spPr>
          <a:xfrm>
            <a:off x="8099395" y="2283104"/>
            <a:ext cx="1586143" cy="954107"/>
          </a:xfrm>
          <a:prstGeom prst="rect">
            <a:avLst/>
          </a:prstGeom>
          <a:noFill/>
        </p:spPr>
        <p:txBody>
          <a:bodyPr wrap="square" rtlCol="0">
            <a:spAutoFit/>
          </a:bodyPr>
          <a:lstStyle/>
          <a:p>
            <a:r>
              <a:rPr lang="pl-PL" sz="1400" dirty="0">
                <a:solidFill>
                  <a:srgbClr val="FF0000"/>
                </a:solidFill>
              </a:rPr>
              <a:t>We </a:t>
            </a:r>
            <a:r>
              <a:rPr lang="pl-PL" sz="1400" dirty="0" err="1">
                <a:solidFill>
                  <a:srgbClr val="FF0000"/>
                </a:solidFill>
              </a:rPr>
              <a:t>substitute</a:t>
            </a:r>
            <a:r>
              <a:rPr lang="pl-PL" sz="1400" dirty="0">
                <a:solidFill>
                  <a:srgbClr val="FF0000"/>
                </a:solidFill>
              </a:rPr>
              <a:t> </a:t>
            </a:r>
            <a:r>
              <a:rPr lang="pl-PL" sz="1400" dirty="0" err="1">
                <a:solidFill>
                  <a:srgbClr val="FF0000"/>
                </a:solidFill>
              </a:rPr>
              <a:t>points</a:t>
            </a:r>
            <a:r>
              <a:rPr lang="pl-PL" sz="1400" dirty="0">
                <a:solidFill>
                  <a:srgbClr val="FF0000"/>
                </a:solidFill>
              </a:rPr>
              <a:t> to the </a:t>
            </a:r>
            <a:r>
              <a:rPr lang="pl-PL" sz="1400" dirty="0" err="1">
                <a:solidFill>
                  <a:srgbClr val="FF0000"/>
                </a:solidFill>
              </a:rPr>
              <a:t>border</a:t>
            </a:r>
            <a:r>
              <a:rPr lang="pl-PL" sz="1400" dirty="0">
                <a:solidFill>
                  <a:srgbClr val="FF0000"/>
                </a:solidFill>
              </a:rPr>
              <a:t> </a:t>
            </a:r>
            <a:r>
              <a:rPr lang="pl-PL" sz="1400" dirty="0" err="1">
                <a:solidFill>
                  <a:srgbClr val="FF0000"/>
                </a:solidFill>
              </a:rPr>
              <a:t>line</a:t>
            </a:r>
            <a:r>
              <a:rPr lang="pl-PL" sz="1400" dirty="0">
                <a:solidFill>
                  <a:srgbClr val="FF0000"/>
                </a:solidFill>
              </a:rPr>
              <a:t> </a:t>
            </a:r>
            <a:r>
              <a:rPr lang="pl-PL" sz="1400" dirty="0" err="1">
                <a:solidFill>
                  <a:srgbClr val="FF0000"/>
                </a:solidFill>
              </a:rPr>
              <a:t>equation</a:t>
            </a:r>
            <a:endParaRPr lang="pl-PL" sz="1400" dirty="0">
              <a:solidFill>
                <a:srgbClr val="FF0000"/>
              </a:solidFill>
            </a:endParaRPr>
          </a:p>
        </p:txBody>
      </p:sp>
    </p:spTree>
    <p:extLst>
      <p:ext uri="{BB962C8B-B14F-4D97-AF65-F5344CB8AC3E}">
        <p14:creationId xmlns:p14="http://schemas.microsoft.com/office/powerpoint/2010/main" val="182990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Symbol zastępczy zawartości 6">
            <a:extLst>
              <a:ext uri="{FF2B5EF4-FFF2-40B4-BE49-F238E27FC236}">
                <a16:creationId xmlns:a16="http://schemas.microsoft.com/office/drawing/2014/main" id="{2F6FAAAE-ECB6-4BE9-8179-3EEF51E66B1A}"/>
              </a:ext>
            </a:extLst>
          </p:cNvPr>
          <p:cNvGraphicFramePr>
            <a:graphicFrameLocks noGrp="1"/>
          </p:cNvGraphicFramePr>
          <p:nvPr>
            <p:ph idx="1"/>
            <p:extLst>
              <p:ext uri="{D42A27DB-BD31-4B8C-83A1-F6EECF244321}">
                <p14:modId xmlns:p14="http://schemas.microsoft.com/office/powerpoint/2010/main" val="616134838"/>
              </p:ext>
            </p:extLst>
          </p:nvPr>
        </p:nvGraphicFramePr>
        <p:xfrm>
          <a:off x="3568823" y="3786491"/>
          <a:ext cx="3781888" cy="2766060"/>
        </p:xfrm>
        <a:graphic>
          <a:graphicData uri="http://schemas.openxmlformats.org/drawingml/2006/table">
            <a:tbl>
              <a:tblPr>
                <a:tableStyleId>{5C22544A-7EE6-4342-B048-85BDC9FD1C3A}</a:tableStyleId>
              </a:tblPr>
              <a:tblGrid>
                <a:gridCol w="840420">
                  <a:extLst>
                    <a:ext uri="{9D8B030D-6E8A-4147-A177-3AD203B41FA5}">
                      <a16:colId xmlns:a16="http://schemas.microsoft.com/office/drawing/2014/main" val="1271780881"/>
                    </a:ext>
                  </a:extLst>
                </a:gridCol>
                <a:gridCol w="840420">
                  <a:extLst>
                    <a:ext uri="{9D8B030D-6E8A-4147-A177-3AD203B41FA5}">
                      <a16:colId xmlns:a16="http://schemas.microsoft.com/office/drawing/2014/main" val="3972324742"/>
                    </a:ext>
                  </a:extLst>
                </a:gridCol>
                <a:gridCol w="1050524">
                  <a:extLst>
                    <a:ext uri="{9D8B030D-6E8A-4147-A177-3AD203B41FA5}">
                      <a16:colId xmlns:a16="http://schemas.microsoft.com/office/drawing/2014/main" val="873332974"/>
                    </a:ext>
                  </a:extLst>
                </a:gridCol>
                <a:gridCol w="1050524">
                  <a:extLst>
                    <a:ext uri="{9D8B030D-6E8A-4147-A177-3AD203B41FA5}">
                      <a16:colId xmlns:a16="http://schemas.microsoft.com/office/drawing/2014/main" val="3788692727"/>
                    </a:ext>
                  </a:extLst>
                </a:gridCol>
              </a:tblGrid>
              <a:tr h="182880">
                <a:tc gridSpan="2">
                  <a:txBody>
                    <a:bodyPr/>
                    <a:lstStyle/>
                    <a:p>
                      <a:pPr algn="l" fontAlgn="b"/>
                      <a:r>
                        <a:rPr lang="pl-PL" sz="1600" u="none" strike="noStrike">
                          <a:effectLst/>
                        </a:rPr>
                        <a:t>Confusion matrix</a:t>
                      </a:r>
                      <a:endParaRPr lang="pl-PL" sz="1600" b="1"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517175"/>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pl-PL" sz="1600" u="none" strike="noStrike">
                          <a:effectLst/>
                        </a:rPr>
                        <a:t>Prediction</a:t>
                      </a:r>
                      <a:endParaRPr lang="pl-PL"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16947900"/>
                  </a:ext>
                </a:extLst>
              </a:tr>
              <a:tr h="190500">
                <a:tc>
                  <a:txBody>
                    <a:bodyPr/>
                    <a:lstStyle/>
                    <a:p>
                      <a:pPr algn="l" fontAlgn="b"/>
                      <a:r>
                        <a:rPr lang="pl-PL" sz="1600" u="none" strike="noStrike">
                          <a:effectLst/>
                        </a:rPr>
                        <a:t>True Class</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41994601"/>
                  </a:ext>
                </a:extLst>
              </a:tr>
              <a:tr h="182880">
                <a:tc>
                  <a:txBody>
                    <a:bodyPr/>
                    <a:lstStyle/>
                    <a:p>
                      <a:pPr algn="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4</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0</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4</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88746706"/>
                  </a:ext>
                </a:extLst>
              </a:tr>
              <a:tr h="190500">
                <a:tc>
                  <a:txBody>
                    <a:bodyPr/>
                    <a:lstStyle/>
                    <a:p>
                      <a:pPr algn="r" fontAlgn="b"/>
                      <a:r>
                        <a:rPr lang="pl-PL" sz="1600" u="none" strike="noStrike">
                          <a:effectLst/>
                        </a:rPr>
                        <a:t>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0</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3</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3</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76280842"/>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4</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dirty="0">
                          <a:effectLst/>
                        </a:rPr>
                        <a:t>3</a:t>
                      </a:r>
                      <a:endParaRPr lang="pl-PL"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7</a:t>
                      </a:r>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0850906"/>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6672701"/>
                  </a:ext>
                </a:extLst>
              </a:tr>
              <a:tr h="182880">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r>
                        <a:rPr lang="pl-PL" sz="1600" u="none" strike="noStrike">
                          <a:effectLst/>
                        </a:rPr>
                        <a:t>Prediction</a:t>
                      </a:r>
                      <a:endParaRPr lang="pl-PL" sz="16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pl-PL"/>
                    </a:p>
                  </a:txBody>
                  <a:tcPr/>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78475025"/>
                  </a:ext>
                </a:extLst>
              </a:tr>
              <a:tr h="190500">
                <a:tc>
                  <a:txBody>
                    <a:bodyPr/>
                    <a:lstStyle/>
                    <a:p>
                      <a:pPr algn="l" fontAlgn="b"/>
                      <a:r>
                        <a:rPr lang="pl-PL" sz="1600" u="none" strike="noStrike">
                          <a:effectLst/>
                        </a:rPr>
                        <a:t>True Class</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07282130"/>
                  </a:ext>
                </a:extLst>
              </a:tr>
              <a:tr h="182880">
                <a:tc>
                  <a:txBody>
                    <a:bodyPr/>
                    <a:lstStyle/>
                    <a:p>
                      <a:pPr algn="r" fontAlgn="b"/>
                      <a:r>
                        <a:rPr lang="pl-PL" sz="1600" u="none" strike="noStrike">
                          <a:effectLst/>
                        </a:rPr>
                        <a:t>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0.571429</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6517967"/>
                  </a:ext>
                </a:extLst>
              </a:tr>
              <a:tr h="190500">
                <a:tc>
                  <a:txBody>
                    <a:bodyPr/>
                    <a:lstStyle/>
                    <a:p>
                      <a:pPr algn="r" fontAlgn="b"/>
                      <a:r>
                        <a:rPr lang="pl-PL" sz="1600" u="none" strike="noStrike">
                          <a:effectLst/>
                        </a:rPr>
                        <a:t>2</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pl-PL" sz="1600" u="none" strike="noStrike">
                          <a:effectLst/>
                        </a:rPr>
                        <a:t>0.428571</a:t>
                      </a:r>
                      <a:endParaRPr lang="pl-PL" sz="16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pl-PL"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27707256"/>
                  </a:ext>
                </a:extLst>
              </a:tr>
            </a:tbl>
          </a:graphicData>
        </a:graphic>
      </p:graphicFrame>
      <p:sp>
        <p:nvSpPr>
          <p:cNvPr id="4" name="Symbol zastępczy numeru slajdu 3">
            <a:extLst>
              <a:ext uri="{FF2B5EF4-FFF2-40B4-BE49-F238E27FC236}">
                <a16:creationId xmlns:a16="http://schemas.microsoft.com/office/drawing/2014/main" id="{BFED23CA-9B47-4D89-BF33-9E8D200A3749}"/>
              </a:ext>
            </a:extLst>
          </p:cNvPr>
          <p:cNvSpPr>
            <a:spLocks noGrp="1"/>
          </p:cNvSpPr>
          <p:nvPr>
            <p:ph type="sldNum" sz="quarter" idx="12"/>
          </p:nvPr>
        </p:nvSpPr>
        <p:spPr/>
        <p:txBody>
          <a:bodyPr/>
          <a:lstStyle/>
          <a:p>
            <a:fld id="{A7544F9A-EF6A-47CB-A458-C95835DAEA60}" type="slidenum">
              <a:rPr lang="pl-PL" smtClean="0"/>
              <a:t>40</a:t>
            </a:fld>
            <a:endParaRPr lang="pl-PL"/>
          </a:p>
        </p:txBody>
      </p:sp>
      <p:graphicFrame>
        <p:nvGraphicFramePr>
          <p:cNvPr id="5" name="Wykres 4">
            <a:extLst>
              <a:ext uri="{FF2B5EF4-FFF2-40B4-BE49-F238E27FC236}">
                <a16:creationId xmlns:a16="http://schemas.microsoft.com/office/drawing/2014/main" id="{00000000-0008-0000-0000-000010000000}"/>
              </a:ext>
            </a:extLst>
          </p:cNvPr>
          <p:cNvGraphicFramePr>
            <a:graphicFrameLocks/>
          </p:cNvGraphicFramePr>
          <p:nvPr>
            <p:extLst>
              <p:ext uri="{D42A27DB-BD31-4B8C-83A1-F6EECF244321}">
                <p14:modId xmlns:p14="http://schemas.microsoft.com/office/powerpoint/2010/main" val="1223978997"/>
              </p:ext>
            </p:extLst>
          </p:nvPr>
        </p:nvGraphicFramePr>
        <p:xfrm>
          <a:off x="98133" y="169099"/>
          <a:ext cx="4766829" cy="308012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Wykres 5">
            <a:extLst>
              <a:ext uri="{FF2B5EF4-FFF2-40B4-BE49-F238E27FC236}">
                <a16:creationId xmlns:a16="http://schemas.microsoft.com/office/drawing/2014/main" id="{00000000-0008-0000-0000-000011000000}"/>
              </a:ext>
            </a:extLst>
          </p:cNvPr>
          <p:cNvGraphicFramePr>
            <a:graphicFrameLocks/>
          </p:cNvGraphicFramePr>
          <p:nvPr>
            <p:extLst>
              <p:ext uri="{D42A27DB-BD31-4B8C-83A1-F6EECF244321}">
                <p14:modId xmlns:p14="http://schemas.microsoft.com/office/powerpoint/2010/main" val="1264505131"/>
              </p:ext>
            </p:extLst>
          </p:nvPr>
        </p:nvGraphicFramePr>
        <p:xfrm>
          <a:off x="6240071" y="100601"/>
          <a:ext cx="4594578" cy="27855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41829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2385F0B-656B-423B-84C0-1C6EFDB9A1C6}"/>
              </a:ext>
            </a:extLst>
          </p:cNvPr>
          <p:cNvSpPr>
            <a:spLocks noGrp="1"/>
          </p:cNvSpPr>
          <p:nvPr>
            <p:ph type="title"/>
          </p:nvPr>
        </p:nvSpPr>
        <p:spPr/>
        <p:txBody>
          <a:bodyPr/>
          <a:lstStyle/>
          <a:p>
            <a:r>
              <a:rPr lang="pl-PL" dirty="0"/>
              <a:t>LDA in </a:t>
            </a:r>
            <a:r>
              <a:rPr lang="pl-PL" dirty="0" err="1"/>
              <a:t>RapidMiner</a:t>
            </a:r>
            <a:endParaRPr lang="pl-PL" dirty="0"/>
          </a:p>
        </p:txBody>
      </p:sp>
      <p:sp>
        <p:nvSpPr>
          <p:cNvPr id="3" name="Symbol zastępczy tekstu 2">
            <a:extLst>
              <a:ext uri="{FF2B5EF4-FFF2-40B4-BE49-F238E27FC236}">
                <a16:creationId xmlns:a16="http://schemas.microsoft.com/office/drawing/2014/main" id="{2F245450-9EC6-4B9B-AA2F-8AFE7F8841DE}"/>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9E8A3849-BD87-4A1C-BE84-8D6803C9B9FF}"/>
              </a:ext>
            </a:extLst>
          </p:cNvPr>
          <p:cNvSpPr>
            <a:spLocks noGrp="1"/>
          </p:cNvSpPr>
          <p:nvPr>
            <p:ph type="sldNum" sz="quarter" idx="12"/>
          </p:nvPr>
        </p:nvSpPr>
        <p:spPr/>
        <p:txBody>
          <a:bodyPr/>
          <a:lstStyle/>
          <a:p>
            <a:fld id="{A7544F9A-EF6A-47CB-A458-C95835DAEA60}" type="slidenum">
              <a:rPr lang="pl-PL" smtClean="0"/>
              <a:t>41</a:t>
            </a:fld>
            <a:endParaRPr lang="pl-PL"/>
          </a:p>
        </p:txBody>
      </p:sp>
    </p:spTree>
    <p:extLst>
      <p:ext uri="{BB962C8B-B14F-4D97-AF65-F5344CB8AC3E}">
        <p14:creationId xmlns:p14="http://schemas.microsoft.com/office/powerpoint/2010/main" val="914073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9E31FFD-B67B-48A8-9794-2437E28F9E9F}"/>
              </a:ext>
            </a:extLst>
          </p:cNvPr>
          <p:cNvSpPr>
            <a:spLocks noGrp="1"/>
          </p:cNvSpPr>
          <p:nvPr>
            <p:ph type="title"/>
          </p:nvPr>
        </p:nvSpPr>
        <p:spPr/>
        <p:txBody>
          <a:bodyPr/>
          <a:lstStyle/>
          <a:p>
            <a:r>
              <a:rPr lang="pl-PL" dirty="0"/>
              <a:t>Open a </a:t>
            </a:r>
            <a:r>
              <a:rPr lang="pl-PL" dirty="0" err="1"/>
              <a:t>new</a:t>
            </a:r>
            <a:r>
              <a:rPr lang="pl-PL" dirty="0"/>
              <a:t> (blank) </a:t>
            </a:r>
            <a:r>
              <a:rPr lang="pl-PL" dirty="0" err="1"/>
              <a:t>process</a:t>
            </a:r>
            <a:endParaRPr lang="pl-PL" dirty="0"/>
          </a:p>
        </p:txBody>
      </p:sp>
      <p:sp>
        <p:nvSpPr>
          <p:cNvPr id="3" name="Symbol zastępczy zawartości 2">
            <a:extLst>
              <a:ext uri="{FF2B5EF4-FFF2-40B4-BE49-F238E27FC236}">
                <a16:creationId xmlns:a16="http://schemas.microsoft.com/office/drawing/2014/main" id="{FDFB962B-DDAE-4F18-B44F-0C133A360E15}"/>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53D7FDE-7B0B-460D-9562-2FBFC0839BD4}"/>
              </a:ext>
            </a:extLst>
          </p:cNvPr>
          <p:cNvSpPr>
            <a:spLocks noGrp="1"/>
          </p:cNvSpPr>
          <p:nvPr>
            <p:ph type="sldNum" sz="quarter" idx="12"/>
          </p:nvPr>
        </p:nvSpPr>
        <p:spPr/>
        <p:txBody>
          <a:bodyPr/>
          <a:lstStyle/>
          <a:p>
            <a:fld id="{A7544F9A-EF6A-47CB-A458-C95835DAEA60}" type="slidenum">
              <a:rPr lang="pl-PL" smtClean="0"/>
              <a:t>42</a:t>
            </a:fld>
            <a:endParaRPr lang="pl-PL"/>
          </a:p>
        </p:txBody>
      </p:sp>
      <p:pic>
        <p:nvPicPr>
          <p:cNvPr id="5" name="Obraz 4">
            <a:extLst>
              <a:ext uri="{FF2B5EF4-FFF2-40B4-BE49-F238E27FC236}">
                <a16:creationId xmlns:a16="http://schemas.microsoft.com/office/drawing/2014/main" id="{B96E6B5D-758F-4358-A368-E0BC33D6A285}"/>
              </a:ext>
            </a:extLst>
          </p:cNvPr>
          <p:cNvPicPr>
            <a:picLocks noChangeAspect="1"/>
          </p:cNvPicPr>
          <p:nvPr/>
        </p:nvPicPr>
        <p:blipFill>
          <a:blip r:embed="rId2"/>
          <a:stretch>
            <a:fillRect/>
          </a:stretch>
        </p:blipFill>
        <p:spPr>
          <a:xfrm>
            <a:off x="774329" y="1509204"/>
            <a:ext cx="9508971" cy="5348796"/>
          </a:xfrm>
          <a:prstGeom prst="rect">
            <a:avLst/>
          </a:prstGeom>
        </p:spPr>
      </p:pic>
    </p:spTree>
    <p:extLst>
      <p:ext uri="{BB962C8B-B14F-4D97-AF65-F5344CB8AC3E}">
        <p14:creationId xmlns:p14="http://schemas.microsoft.com/office/powerpoint/2010/main" val="117326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7F6FBF-9AAA-4C3F-9537-7D159B2729BF}"/>
              </a:ext>
            </a:extLst>
          </p:cNvPr>
          <p:cNvSpPr>
            <a:spLocks noGrp="1"/>
          </p:cNvSpPr>
          <p:nvPr>
            <p:ph type="title"/>
          </p:nvPr>
        </p:nvSpPr>
        <p:spPr>
          <a:xfrm>
            <a:off x="0" y="0"/>
            <a:ext cx="12192000" cy="457835"/>
          </a:xfrm>
        </p:spPr>
        <p:txBody>
          <a:bodyPr>
            <a:noAutofit/>
          </a:bodyPr>
          <a:lstStyle/>
          <a:p>
            <a:pPr algn="ctr"/>
            <a:r>
              <a:rPr lang="pl-PL" sz="3600" dirty="0"/>
              <a:t>We </a:t>
            </a:r>
            <a:r>
              <a:rPr lang="pl-PL" sz="3600" dirty="0" err="1"/>
              <a:t>will</a:t>
            </a:r>
            <a:r>
              <a:rPr lang="pl-PL" sz="3600" dirty="0"/>
              <a:t> </a:t>
            </a:r>
            <a:r>
              <a:rPr lang="pl-PL" sz="3600" dirty="0" err="1"/>
              <a:t>firstly</a:t>
            </a:r>
            <a:r>
              <a:rPr lang="pl-PL" sz="3600" dirty="0"/>
              <a:t> </a:t>
            </a:r>
            <a:r>
              <a:rPr lang="pl-PL" sz="3600" dirty="0" err="1"/>
              <a:t>normalize</a:t>
            </a:r>
            <a:r>
              <a:rPr lang="pl-PL" sz="3600" dirty="0"/>
              <a:t> data set in Excel (</a:t>
            </a:r>
            <a:r>
              <a:rPr lang="pl-PL" sz="3600" dirty="0" err="1"/>
              <a:t>house-price-label</a:t>
            </a:r>
            <a:r>
              <a:rPr lang="pl-PL" sz="3600" dirty="0"/>
              <a:t>)</a:t>
            </a:r>
          </a:p>
        </p:txBody>
      </p:sp>
      <p:sp>
        <p:nvSpPr>
          <p:cNvPr id="3" name="Symbol zastępczy zawartości 2">
            <a:extLst>
              <a:ext uri="{FF2B5EF4-FFF2-40B4-BE49-F238E27FC236}">
                <a16:creationId xmlns:a16="http://schemas.microsoft.com/office/drawing/2014/main" id="{F2314127-806F-44FD-A540-3736622B12A2}"/>
              </a:ext>
            </a:extLst>
          </p:cNvPr>
          <p:cNvSpPr>
            <a:spLocks noGrp="1"/>
          </p:cNvSpPr>
          <p:nvPr>
            <p:ph idx="1"/>
          </p:nvPr>
        </p:nvSpPr>
        <p:spPr>
          <a:xfrm>
            <a:off x="350520" y="870584"/>
            <a:ext cx="11485880" cy="5235575"/>
          </a:xfrm>
        </p:spPr>
        <p:txBody>
          <a:bodyPr/>
          <a:lstStyle/>
          <a:p>
            <a:endParaRPr lang="pl-PL"/>
          </a:p>
        </p:txBody>
      </p:sp>
      <p:sp>
        <p:nvSpPr>
          <p:cNvPr id="4" name="Symbol zastępczy numeru slajdu 3">
            <a:extLst>
              <a:ext uri="{FF2B5EF4-FFF2-40B4-BE49-F238E27FC236}">
                <a16:creationId xmlns:a16="http://schemas.microsoft.com/office/drawing/2014/main" id="{6B7E1DC9-EE83-4313-8D21-70F0E3C76B3A}"/>
              </a:ext>
            </a:extLst>
          </p:cNvPr>
          <p:cNvSpPr>
            <a:spLocks noGrp="1"/>
          </p:cNvSpPr>
          <p:nvPr>
            <p:ph type="sldNum" sz="quarter" idx="12"/>
          </p:nvPr>
        </p:nvSpPr>
        <p:spPr/>
        <p:txBody>
          <a:bodyPr/>
          <a:lstStyle/>
          <a:p>
            <a:fld id="{A7544F9A-EF6A-47CB-A458-C95835DAEA60}" type="slidenum">
              <a:rPr lang="pl-PL" smtClean="0"/>
              <a:t>43</a:t>
            </a:fld>
            <a:endParaRPr lang="pl-PL"/>
          </a:p>
        </p:txBody>
      </p:sp>
      <p:pic>
        <p:nvPicPr>
          <p:cNvPr id="5" name="Obraz 4">
            <a:extLst>
              <a:ext uri="{FF2B5EF4-FFF2-40B4-BE49-F238E27FC236}">
                <a16:creationId xmlns:a16="http://schemas.microsoft.com/office/drawing/2014/main" id="{9B326599-855E-4FCF-887D-94665D61DE28}"/>
              </a:ext>
            </a:extLst>
          </p:cNvPr>
          <p:cNvPicPr>
            <a:picLocks noChangeAspect="1"/>
          </p:cNvPicPr>
          <p:nvPr/>
        </p:nvPicPr>
        <p:blipFill>
          <a:blip r:embed="rId2"/>
          <a:stretch>
            <a:fillRect/>
          </a:stretch>
        </p:blipFill>
        <p:spPr>
          <a:xfrm>
            <a:off x="968586" y="751841"/>
            <a:ext cx="9861973" cy="5547360"/>
          </a:xfrm>
          <a:prstGeom prst="rect">
            <a:avLst/>
          </a:prstGeom>
        </p:spPr>
      </p:pic>
    </p:spTree>
    <p:extLst>
      <p:ext uri="{BB962C8B-B14F-4D97-AF65-F5344CB8AC3E}">
        <p14:creationId xmlns:p14="http://schemas.microsoft.com/office/powerpoint/2010/main" val="2470856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7F6FBF-9AAA-4C3F-9537-7D159B2729BF}"/>
              </a:ext>
            </a:extLst>
          </p:cNvPr>
          <p:cNvSpPr>
            <a:spLocks noGrp="1"/>
          </p:cNvSpPr>
          <p:nvPr>
            <p:ph type="title"/>
          </p:nvPr>
        </p:nvSpPr>
        <p:spPr>
          <a:xfrm>
            <a:off x="0" y="0"/>
            <a:ext cx="12192000" cy="457835"/>
          </a:xfrm>
        </p:spPr>
        <p:txBody>
          <a:bodyPr>
            <a:noAutofit/>
          </a:bodyPr>
          <a:lstStyle/>
          <a:p>
            <a:pPr algn="ctr"/>
            <a:r>
              <a:rPr lang="pl-PL" sz="3600" dirty="0"/>
              <a:t>We </a:t>
            </a:r>
            <a:r>
              <a:rPr lang="pl-PL" sz="3600" dirty="0" err="1"/>
              <a:t>will</a:t>
            </a:r>
            <a:r>
              <a:rPr lang="pl-PL" sz="3600" dirty="0"/>
              <a:t> </a:t>
            </a:r>
            <a:r>
              <a:rPr lang="pl-PL" sz="3600" dirty="0" err="1"/>
              <a:t>firstly</a:t>
            </a:r>
            <a:r>
              <a:rPr lang="pl-PL" sz="3600" dirty="0"/>
              <a:t> </a:t>
            </a:r>
            <a:r>
              <a:rPr lang="pl-PL" sz="3600" dirty="0" err="1"/>
              <a:t>normalize</a:t>
            </a:r>
            <a:r>
              <a:rPr lang="pl-PL" sz="3600" dirty="0"/>
              <a:t> data set in Excel (</a:t>
            </a:r>
            <a:r>
              <a:rPr lang="pl-PL" sz="3600" dirty="0" err="1"/>
              <a:t>house-price-label</a:t>
            </a:r>
            <a:r>
              <a:rPr lang="pl-PL" sz="3600" dirty="0"/>
              <a:t>)</a:t>
            </a:r>
          </a:p>
        </p:txBody>
      </p:sp>
      <p:sp>
        <p:nvSpPr>
          <p:cNvPr id="3" name="Symbol zastępczy zawartości 2">
            <a:extLst>
              <a:ext uri="{FF2B5EF4-FFF2-40B4-BE49-F238E27FC236}">
                <a16:creationId xmlns:a16="http://schemas.microsoft.com/office/drawing/2014/main" id="{F2314127-806F-44FD-A540-3736622B12A2}"/>
              </a:ext>
            </a:extLst>
          </p:cNvPr>
          <p:cNvSpPr>
            <a:spLocks noGrp="1"/>
          </p:cNvSpPr>
          <p:nvPr>
            <p:ph idx="1"/>
          </p:nvPr>
        </p:nvSpPr>
        <p:spPr>
          <a:xfrm>
            <a:off x="350520" y="870584"/>
            <a:ext cx="11485880" cy="5235575"/>
          </a:xfrm>
        </p:spPr>
        <p:txBody>
          <a:bodyPr/>
          <a:lstStyle/>
          <a:p>
            <a:endParaRPr lang="pl-PL"/>
          </a:p>
        </p:txBody>
      </p:sp>
      <p:sp>
        <p:nvSpPr>
          <p:cNvPr id="4" name="Symbol zastępczy numeru slajdu 3">
            <a:extLst>
              <a:ext uri="{FF2B5EF4-FFF2-40B4-BE49-F238E27FC236}">
                <a16:creationId xmlns:a16="http://schemas.microsoft.com/office/drawing/2014/main" id="{6B7E1DC9-EE83-4313-8D21-70F0E3C76B3A}"/>
              </a:ext>
            </a:extLst>
          </p:cNvPr>
          <p:cNvSpPr>
            <a:spLocks noGrp="1"/>
          </p:cNvSpPr>
          <p:nvPr>
            <p:ph type="sldNum" sz="quarter" idx="12"/>
          </p:nvPr>
        </p:nvSpPr>
        <p:spPr/>
        <p:txBody>
          <a:bodyPr/>
          <a:lstStyle/>
          <a:p>
            <a:fld id="{A7544F9A-EF6A-47CB-A458-C95835DAEA60}" type="slidenum">
              <a:rPr lang="pl-PL" smtClean="0"/>
              <a:t>44</a:t>
            </a:fld>
            <a:endParaRPr lang="pl-PL"/>
          </a:p>
        </p:txBody>
      </p:sp>
      <p:pic>
        <p:nvPicPr>
          <p:cNvPr id="5" name="Obraz 4">
            <a:extLst>
              <a:ext uri="{FF2B5EF4-FFF2-40B4-BE49-F238E27FC236}">
                <a16:creationId xmlns:a16="http://schemas.microsoft.com/office/drawing/2014/main" id="{9416D646-CC04-4D86-8AE5-29BB270FDCC6}"/>
              </a:ext>
            </a:extLst>
          </p:cNvPr>
          <p:cNvPicPr>
            <a:picLocks noChangeAspect="1"/>
          </p:cNvPicPr>
          <p:nvPr/>
        </p:nvPicPr>
        <p:blipFill>
          <a:blip r:embed="rId2"/>
          <a:stretch>
            <a:fillRect/>
          </a:stretch>
        </p:blipFill>
        <p:spPr>
          <a:xfrm>
            <a:off x="741680" y="909955"/>
            <a:ext cx="9682480" cy="5446395"/>
          </a:xfrm>
          <a:prstGeom prst="rect">
            <a:avLst/>
          </a:prstGeom>
        </p:spPr>
      </p:pic>
      <p:sp>
        <p:nvSpPr>
          <p:cNvPr id="6" name="pole tekstowe 5">
            <a:extLst>
              <a:ext uri="{FF2B5EF4-FFF2-40B4-BE49-F238E27FC236}">
                <a16:creationId xmlns:a16="http://schemas.microsoft.com/office/drawing/2014/main" id="{7EEE039F-FC82-48C0-86A2-73D84967F6BA}"/>
              </a:ext>
            </a:extLst>
          </p:cNvPr>
          <p:cNvSpPr txBox="1"/>
          <p:nvPr/>
        </p:nvSpPr>
        <p:spPr>
          <a:xfrm>
            <a:off x="5222240" y="2346960"/>
            <a:ext cx="3677920" cy="923330"/>
          </a:xfrm>
          <a:prstGeom prst="rect">
            <a:avLst/>
          </a:prstGeom>
          <a:noFill/>
        </p:spPr>
        <p:txBody>
          <a:bodyPr wrap="square" rtlCol="0">
            <a:spAutoFit/>
          </a:bodyPr>
          <a:lstStyle/>
          <a:p>
            <a:r>
              <a:rPr lang="pl-PL" dirty="0" err="1"/>
              <a:t>Make</a:t>
            </a:r>
            <a:r>
              <a:rPr lang="pl-PL" dirty="0"/>
              <a:t> a </a:t>
            </a:r>
            <a:r>
              <a:rPr lang="pl-PL" dirty="0" err="1"/>
              <a:t>copy</a:t>
            </a:r>
            <a:r>
              <a:rPr lang="pl-PL" dirty="0"/>
              <a:t> of the </a:t>
            </a:r>
            <a:r>
              <a:rPr lang="pl-PL" dirty="0" err="1"/>
              <a:t>spreadsheet</a:t>
            </a:r>
            <a:r>
              <a:rPr lang="pl-PL" dirty="0"/>
              <a:t> and </a:t>
            </a:r>
            <a:r>
              <a:rPr lang="pl-PL" dirty="0" err="1"/>
              <a:t>copy</a:t>
            </a:r>
            <a:r>
              <a:rPr lang="pl-PL" dirty="0"/>
              <a:t> and </a:t>
            </a:r>
            <a:r>
              <a:rPr lang="pl-PL" dirty="0" err="1"/>
              <a:t>paste</a:t>
            </a:r>
            <a:r>
              <a:rPr lang="pl-PL" dirty="0"/>
              <a:t> as </a:t>
            </a:r>
            <a:r>
              <a:rPr lang="pl-PL" dirty="0" err="1"/>
              <a:t>values</a:t>
            </a:r>
            <a:r>
              <a:rPr lang="pl-PL" dirty="0"/>
              <a:t> the </a:t>
            </a:r>
            <a:r>
              <a:rPr lang="pl-PL" dirty="0" err="1"/>
              <a:t>averages</a:t>
            </a:r>
            <a:r>
              <a:rPr lang="pl-PL" dirty="0"/>
              <a:t> and standard </a:t>
            </a:r>
            <a:r>
              <a:rPr lang="pl-PL" dirty="0" err="1"/>
              <a:t>deviations</a:t>
            </a:r>
            <a:r>
              <a:rPr lang="pl-PL" dirty="0"/>
              <a:t>.</a:t>
            </a:r>
          </a:p>
        </p:txBody>
      </p:sp>
    </p:spTree>
    <p:extLst>
      <p:ext uri="{BB962C8B-B14F-4D97-AF65-F5344CB8AC3E}">
        <p14:creationId xmlns:p14="http://schemas.microsoft.com/office/powerpoint/2010/main" val="2690825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427683-3921-4819-A6C5-5457743B4FD6}"/>
              </a:ext>
            </a:extLst>
          </p:cNvPr>
          <p:cNvSpPr>
            <a:spLocks noGrp="1"/>
          </p:cNvSpPr>
          <p:nvPr>
            <p:ph type="title"/>
          </p:nvPr>
        </p:nvSpPr>
        <p:spPr>
          <a:xfrm>
            <a:off x="838200" y="14128"/>
            <a:ext cx="10515600" cy="758507"/>
          </a:xfrm>
        </p:spPr>
        <p:txBody>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E70A6B11-7585-4122-9735-CA2F8A159A3C}"/>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C606F877-5CF8-445F-A6F0-BDC0F5D4D803}"/>
              </a:ext>
            </a:extLst>
          </p:cNvPr>
          <p:cNvSpPr>
            <a:spLocks noGrp="1"/>
          </p:cNvSpPr>
          <p:nvPr>
            <p:ph type="sldNum" sz="quarter" idx="12"/>
          </p:nvPr>
        </p:nvSpPr>
        <p:spPr/>
        <p:txBody>
          <a:bodyPr/>
          <a:lstStyle/>
          <a:p>
            <a:fld id="{A7544F9A-EF6A-47CB-A458-C95835DAEA60}" type="slidenum">
              <a:rPr lang="pl-PL" smtClean="0"/>
              <a:t>45</a:t>
            </a:fld>
            <a:endParaRPr lang="pl-PL"/>
          </a:p>
        </p:txBody>
      </p:sp>
      <p:pic>
        <p:nvPicPr>
          <p:cNvPr id="6" name="Obraz 5">
            <a:extLst>
              <a:ext uri="{FF2B5EF4-FFF2-40B4-BE49-F238E27FC236}">
                <a16:creationId xmlns:a16="http://schemas.microsoft.com/office/drawing/2014/main" id="{B8B16605-7238-4DC4-9A36-6F4F7848305C}"/>
              </a:ext>
            </a:extLst>
          </p:cNvPr>
          <p:cNvPicPr>
            <a:picLocks noChangeAspect="1"/>
          </p:cNvPicPr>
          <p:nvPr/>
        </p:nvPicPr>
        <p:blipFill>
          <a:blip r:embed="rId2"/>
          <a:stretch>
            <a:fillRect/>
          </a:stretch>
        </p:blipFill>
        <p:spPr>
          <a:xfrm>
            <a:off x="619760" y="1054577"/>
            <a:ext cx="10292080" cy="5789295"/>
          </a:xfrm>
          <a:prstGeom prst="rect">
            <a:avLst/>
          </a:prstGeom>
        </p:spPr>
      </p:pic>
    </p:spTree>
    <p:extLst>
      <p:ext uri="{BB962C8B-B14F-4D97-AF65-F5344CB8AC3E}">
        <p14:creationId xmlns:p14="http://schemas.microsoft.com/office/powerpoint/2010/main" val="1502330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B563AC9-67CE-4E1C-8E89-1F463932E040}"/>
              </a:ext>
            </a:extLst>
          </p:cNvPr>
          <p:cNvSpPr>
            <a:spLocks noGrp="1"/>
          </p:cNvSpPr>
          <p:nvPr>
            <p:ph type="title"/>
          </p:nvPr>
        </p:nvSpPr>
        <p:spPr>
          <a:xfrm>
            <a:off x="838200" y="7303"/>
            <a:ext cx="10515600" cy="394018"/>
          </a:xfrm>
        </p:spPr>
        <p:txBody>
          <a:bodyPr>
            <a:normAutofit fontScale="90000"/>
          </a:bodyPr>
          <a:lstStyle/>
          <a:p>
            <a:pPr algn="ctr"/>
            <a:r>
              <a:rPr lang="pl-PL" b="1" dirty="0" err="1"/>
              <a:t>Apply</a:t>
            </a:r>
            <a:r>
              <a:rPr lang="pl-PL" b="1" dirty="0"/>
              <a:t> </a:t>
            </a:r>
            <a:r>
              <a:rPr lang="pl-PL" b="1" dirty="0" err="1"/>
              <a:t>standardization</a:t>
            </a:r>
            <a:endParaRPr lang="pl-PL" b="1" dirty="0"/>
          </a:p>
        </p:txBody>
      </p:sp>
      <p:sp>
        <p:nvSpPr>
          <p:cNvPr id="3" name="Symbol zastępczy zawartości 2">
            <a:extLst>
              <a:ext uri="{FF2B5EF4-FFF2-40B4-BE49-F238E27FC236}">
                <a16:creationId xmlns:a16="http://schemas.microsoft.com/office/drawing/2014/main" id="{98EC649B-9713-466A-AAC4-0C524AC2AAAB}"/>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8B59AC3A-B598-4165-AE5E-F99EFC9C9CA6}"/>
              </a:ext>
            </a:extLst>
          </p:cNvPr>
          <p:cNvSpPr>
            <a:spLocks noGrp="1"/>
          </p:cNvSpPr>
          <p:nvPr>
            <p:ph type="sldNum" sz="quarter" idx="12"/>
          </p:nvPr>
        </p:nvSpPr>
        <p:spPr/>
        <p:txBody>
          <a:bodyPr/>
          <a:lstStyle/>
          <a:p>
            <a:fld id="{A7544F9A-EF6A-47CB-A458-C95835DAEA60}" type="slidenum">
              <a:rPr lang="pl-PL" smtClean="0"/>
              <a:t>46</a:t>
            </a:fld>
            <a:endParaRPr lang="pl-PL"/>
          </a:p>
        </p:txBody>
      </p:sp>
      <p:pic>
        <p:nvPicPr>
          <p:cNvPr id="5" name="Obraz 4">
            <a:extLst>
              <a:ext uri="{FF2B5EF4-FFF2-40B4-BE49-F238E27FC236}">
                <a16:creationId xmlns:a16="http://schemas.microsoft.com/office/drawing/2014/main" id="{992ACBA2-EEB1-4155-BCDD-F1B40F1506FE}"/>
              </a:ext>
            </a:extLst>
          </p:cNvPr>
          <p:cNvPicPr>
            <a:picLocks noChangeAspect="1"/>
          </p:cNvPicPr>
          <p:nvPr/>
        </p:nvPicPr>
        <p:blipFill>
          <a:blip r:embed="rId2"/>
          <a:stretch>
            <a:fillRect/>
          </a:stretch>
        </p:blipFill>
        <p:spPr>
          <a:xfrm>
            <a:off x="1280160" y="1467802"/>
            <a:ext cx="9631680" cy="5417820"/>
          </a:xfrm>
          <a:prstGeom prst="rect">
            <a:avLst/>
          </a:prstGeom>
        </p:spPr>
      </p:pic>
    </p:spTree>
    <p:extLst>
      <p:ext uri="{BB962C8B-B14F-4D97-AF65-F5344CB8AC3E}">
        <p14:creationId xmlns:p14="http://schemas.microsoft.com/office/powerpoint/2010/main" val="22648727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F2606A7-859A-4548-8C23-861975C95DE9}"/>
              </a:ext>
            </a:extLst>
          </p:cNvPr>
          <p:cNvSpPr>
            <a:spLocks noGrp="1"/>
          </p:cNvSpPr>
          <p:nvPr>
            <p:ph type="title"/>
          </p:nvPr>
        </p:nvSpPr>
        <p:spPr>
          <a:xfrm>
            <a:off x="838200" y="0"/>
            <a:ext cx="10515600" cy="559435"/>
          </a:xfrm>
        </p:spPr>
        <p:txBody>
          <a:bodyPr>
            <a:normAutofit fontScale="90000"/>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08B83AEA-862D-4DE7-B595-E9F76E60A87D}"/>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DE534348-FABC-42B2-BBC0-2B6AFDC80042}"/>
              </a:ext>
            </a:extLst>
          </p:cNvPr>
          <p:cNvSpPr>
            <a:spLocks noGrp="1"/>
          </p:cNvSpPr>
          <p:nvPr>
            <p:ph type="sldNum" sz="quarter" idx="12"/>
          </p:nvPr>
        </p:nvSpPr>
        <p:spPr/>
        <p:txBody>
          <a:bodyPr/>
          <a:lstStyle/>
          <a:p>
            <a:fld id="{A7544F9A-EF6A-47CB-A458-C95835DAEA60}" type="slidenum">
              <a:rPr lang="pl-PL" smtClean="0"/>
              <a:t>47</a:t>
            </a:fld>
            <a:endParaRPr lang="pl-PL"/>
          </a:p>
        </p:txBody>
      </p:sp>
      <p:pic>
        <p:nvPicPr>
          <p:cNvPr id="5" name="Obraz 4">
            <a:extLst>
              <a:ext uri="{FF2B5EF4-FFF2-40B4-BE49-F238E27FC236}">
                <a16:creationId xmlns:a16="http://schemas.microsoft.com/office/drawing/2014/main" id="{2C9DC220-1B6C-4D2E-8E0A-46A85DECFF71}"/>
              </a:ext>
            </a:extLst>
          </p:cNvPr>
          <p:cNvPicPr>
            <a:picLocks noChangeAspect="1"/>
          </p:cNvPicPr>
          <p:nvPr/>
        </p:nvPicPr>
        <p:blipFill>
          <a:blip r:embed="rId2"/>
          <a:stretch>
            <a:fillRect/>
          </a:stretch>
        </p:blipFill>
        <p:spPr>
          <a:xfrm>
            <a:off x="680719" y="917417"/>
            <a:ext cx="10318325" cy="5804058"/>
          </a:xfrm>
          <a:prstGeom prst="rect">
            <a:avLst/>
          </a:prstGeom>
        </p:spPr>
      </p:pic>
    </p:spTree>
    <p:extLst>
      <p:ext uri="{BB962C8B-B14F-4D97-AF65-F5344CB8AC3E}">
        <p14:creationId xmlns:p14="http://schemas.microsoft.com/office/powerpoint/2010/main" val="2055551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6D257E-88B6-40CF-AD75-7C5E79140270}"/>
              </a:ext>
            </a:extLst>
          </p:cNvPr>
          <p:cNvSpPr>
            <a:spLocks noGrp="1"/>
          </p:cNvSpPr>
          <p:nvPr>
            <p:ph type="title"/>
          </p:nvPr>
        </p:nvSpPr>
        <p:spPr>
          <a:xfrm>
            <a:off x="756920" y="0"/>
            <a:ext cx="10515600" cy="518795"/>
          </a:xfrm>
        </p:spPr>
        <p:txBody>
          <a:bodyPr>
            <a:normAutofit fontScale="90000"/>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39DCD6BC-601B-46E1-9E3F-DB4DE6C38412}"/>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9C9EEDDB-D975-466E-A611-4EB9F321D7C1}"/>
              </a:ext>
            </a:extLst>
          </p:cNvPr>
          <p:cNvSpPr>
            <a:spLocks noGrp="1"/>
          </p:cNvSpPr>
          <p:nvPr>
            <p:ph type="sldNum" sz="quarter" idx="12"/>
          </p:nvPr>
        </p:nvSpPr>
        <p:spPr/>
        <p:txBody>
          <a:bodyPr/>
          <a:lstStyle/>
          <a:p>
            <a:fld id="{A7544F9A-EF6A-47CB-A458-C95835DAEA60}" type="slidenum">
              <a:rPr lang="pl-PL" smtClean="0"/>
              <a:t>48</a:t>
            </a:fld>
            <a:endParaRPr lang="pl-PL"/>
          </a:p>
        </p:txBody>
      </p:sp>
      <p:pic>
        <p:nvPicPr>
          <p:cNvPr id="5" name="Obraz 4">
            <a:extLst>
              <a:ext uri="{FF2B5EF4-FFF2-40B4-BE49-F238E27FC236}">
                <a16:creationId xmlns:a16="http://schemas.microsoft.com/office/drawing/2014/main" id="{50EAADC7-09B8-4BEF-87C2-EC087723F95A}"/>
              </a:ext>
            </a:extLst>
          </p:cNvPr>
          <p:cNvPicPr>
            <a:picLocks noChangeAspect="1"/>
          </p:cNvPicPr>
          <p:nvPr/>
        </p:nvPicPr>
        <p:blipFill>
          <a:blip r:embed="rId2"/>
          <a:stretch>
            <a:fillRect/>
          </a:stretch>
        </p:blipFill>
        <p:spPr>
          <a:xfrm>
            <a:off x="1040271" y="1056640"/>
            <a:ext cx="10313529" cy="5801360"/>
          </a:xfrm>
          <a:prstGeom prst="rect">
            <a:avLst/>
          </a:prstGeom>
        </p:spPr>
      </p:pic>
    </p:spTree>
    <p:extLst>
      <p:ext uri="{BB962C8B-B14F-4D97-AF65-F5344CB8AC3E}">
        <p14:creationId xmlns:p14="http://schemas.microsoft.com/office/powerpoint/2010/main" val="2607654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1D91E85-A490-436B-BB35-B0AB0C421890}"/>
              </a:ext>
            </a:extLst>
          </p:cNvPr>
          <p:cNvSpPr>
            <a:spLocks noGrp="1"/>
          </p:cNvSpPr>
          <p:nvPr>
            <p:ph type="title"/>
          </p:nvPr>
        </p:nvSpPr>
        <p:spPr>
          <a:xfrm>
            <a:off x="838200" y="-17145"/>
            <a:ext cx="10515600" cy="572770"/>
          </a:xfrm>
        </p:spPr>
        <p:txBody>
          <a:bodyPr>
            <a:normAutofit fontScale="90000"/>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5D512355-C11C-4E20-8FA4-4F3700B9D7CD}"/>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473C7557-BA47-48EE-B356-9FD6D545A255}"/>
              </a:ext>
            </a:extLst>
          </p:cNvPr>
          <p:cNvSpPr>
            <a:spLocks noGrp="1"/>
          </p:cNvSpPr>
          <p:nvPr>
            <p:ph type="sldNum" sz="quarter" idx="12"/>
          </p:nvPr>
        </p:nvSpPr>
        <p:spPr/>
        <p:txBody>
          <a:bodyPr/>
          <a:lstStyle/>
          <a:p>
            <a:fld id="{A7544F9A-EF6A-47CB-A458-C95835DAEA60}" type="slidenum">
              <a:rPr lang="pl-PL" smtClean="0"/>
              <a:t>49</a:t>
            </a:fld>
            <a:endParaRPr lang="pl-PL"/>
          </a:p>
        </p:txBody>
      </p:sp>
      <p:pic>
        <p:nvPicPr>
          <p:cNvPr id="5" name="Obraz 4">
            <a:extLst>
              <a:ext uri="{FF2B5EF4-FFF2-40B4-BE49-F238E27FC236}">
                <a16:creationId xmlns:a16="http://schemas.microsoft.com/office/drawing/2014/main" id="{F58D1D18-9374-4E9A-BCE9-1F5F9DF2638A}"/>
              </a:ext>
            </a:extLst>
          </p:cNvPr>
          <p:cNvPicPr>
            <a:picLocks noChangeAspect="1"/>
          </p:cNvPicPr>
          <p:nvPr/>
        </p:nvPicPr>
        <p:blipFill>
          <a:blip r:embed="rId2"/>
          <a:stretch>
            <a:fillRect/>
          </a:stretch>
        </p:blipFill>
        <p:spPr>
          <a:xfrm>
            <a:off x="1071880" y="1074420"/>
            <a:ext cx="10281920" cy="5783580"/>
          </a:xfrm>
          <a:prstGeom prst="rect">
            <a:avLst/>
          </a:prstGeom>
        </p:spPr>
      </p:pic>
    </p:spTree>
    <p:extLst>
      <p:ext uri="{BB962C8B-B14F-4D97-AF65-F5344CB8AC3E}">
        <p14:creationId xmlns:p14="http://schemas.microsoft.com/office/powerpoint/2010/main" val="377037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4DDE4F-EF0B-485B-9857-B1A37A26E510}"/>
              </a:ext>
            </a:extLst>
          </p:cNvPr>
          <p:cNvSpPr>
            <a:spLocks noGrp="1"/>
          </p:cNvSpPr>
          <p:nvPr>
            <p:ph type="title"/>
          </p:nvPr>
        </p:nvSpPr>
        <p:spPr>
          <a:xfrm>
            <a:off x="838200" y="0"/>
            <a:ext cx="10515600" cy="396875"/>
          </a:xfrm>
        </p:spPr>
        <p:txBody>
          <a:bodyPr>
            <a:normAutofit fontScale="90000"/>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1985BADC-FCD1-43C2-9430-DC17674112A4}"/>
              </a:ext>
            </a:extLst>
          </p:cNvPr>
          <p:cNvSpPr>
            <a:spLocks noGrp="1"/>
          </p:cNvSpPr>
          <p:nvPr>
            <p:ph idx="1"/>
          </p:nvPr>
        </p:nvSpPr>
        <p:spPr>
          <a:xfrm>
            <a:off x="238760" y="819784"/>
            <a:ext cx="11577320" cy="5286375"/>
          </a:xfrm>
        </p:spPr>
        <p:txBody>
          <a:bodyPr/>
          <a:lstStyle/>
          <a:p>
            <a:endParaRPr lang="pl-PL"/>
          </a:p>
        </p:txBody>
      </p:sp>
      <p:sp>
        <p:nvSpPr>
          <p:cNvPr id="4" name="Symbol zastępczy numeru slajdu 3">
            <a:extLst>
              <a:ext uri="{FF2B5EF4-FFF2-40B4-BE49-F238E27FC236}">
                <a16:creationId xmlns:a16="http://schemas.microsoft.com/office/drawing/2014/main" id="{7095E950-D703-4D8B-805F-2F3CC87965AF}"/>
              </a:ext>
            </a:extLst>
          </p:cNvPr>
          <p:cNvSpPr>
            <a:spLocks noGrp="1"/>
          </p:cNvSpPr>
          <p:nvPr>
            <p:ph type="sldNum" sz="quarter" idx="12"/>
          </p:nvPr>
        </p:nvSpPr>
        <p:spPr/>
        <p:txBody>
          <a:bodyPr/>
          <a:lstStyle/>
          <a:p>
            <a:fld id="{A7544F9A-EF6A-47CB-A458-C95835DAEA60}" type="slidenum">
              <a:rPr lang="pl-PL" smtClean="0"/>
              <a:t>50</a:t>
            </a:fld>
            <a:endParaRPr lang="pl-PL"/>
          </a:p>
        </p:txBody>
      </p:sp>
      <p:pic>
        <p:nvPicPr>
          <p:cNvPr id="5" name="Obraz 4">
            <a:extLst>
              <a:ext uri="{FF2B5EF4-FFF2-40B4-BE49-F238E27FC236}">
                <a16:creationId xmlns:a16="http://schemas.microsoft.com/office/drawing/2014/main" id="{4A6DD7B0-190A-4454-BFDD-A32B35EC0506}"/>
              </a:ext>
            </a:extLst>
          </p:cNvPr>
          <p:cNvPicPr>
            <a:picLocks noChangeAspect="1"/>
          </p:cNvPicPr>
          <p:nvPr/>
        </p:nvPicPr>
        <p:blipFill>
          <a:blip r:embed="rId2"/>
          <a:stretch>
            <a:fillRect/>
          </a:stretch>
        </p:blipFill>
        <p:spPr>
          <a:xfrm>
            <a:off x="619194" y="819784"/>
            <a:ext cx="10734606" cy="6038216"/>
          </a:xfrm>
          <a:prstGeom prst="rect">
            <a:avLst/>
          </a:prstGeom>
        </p:spPr>
      </p:pic>
    </p:spTree>
    <p:extLst>
      <p:ext uri="{BB962C8B-B14F-4D97-AF65-F5344CB8AC3E}">
        <p14:creationId xmlns:p14="http://schemas.microsoft.com/office/powerpoint/2010/main" val="1576278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65A0A7C-BBE4-4ECD-A23C-F84FAE1B61D2}"/>
              </a:ext>
            </a:extLst>
          </p:cNvPr>
          <p:cNvSpPr>
            <a:spLocks noGrp="1"/>
          </p:cNvSpPr>
          <p:nvPr>
            <p:ph type="title"/>
          </p:nvPr>
        </p:nvSpPr>
        <p:spPr>
          <a:xfrm>
            <a:off x="838200" y="365126"/>
            <a:ext cx="10515600" cy="928688"/>
          </a:xfrm>
        </p:spPr>
        <p:txBody>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FF381DA0-AE03-40F9-BB2A-B787ED1007A9}"/>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81325F44-2D09-4D20-B974-B4547503CD05}"/>
              </a:ext>
            </a:extLst>
          </p:cNvPr>
          <p:cNvSpPr>
            <a:spLocks noGrp="1"/>
          </p:cNvSpPr>
          <p:nvPr>
            <p:ph type="sldNum" sz="quarter" idx="12"/>
          </p:nvPr>
        </p:nvSpPr>
        <p:spPr/>
        <p:txBody>
          <a:bodyPr/>
          <a:lstStyle/>
          <a:p>
            <a:fld id="{A7544F9A-EF6A-47CB-A458-C95835DAEA60}" type="slidenum">
              <a:rPr lang="pl-PL" smtClean="0"/>
              <a:t>51</a:t>
            </a:fld>
            <a:endParaRPr lang="pl-PL"/>
          </a:p>
        </p:txBody>
      </p:sp>
      <p:pic>
        <p:nvPicPr>
          <p:cNvPr id="5" name="Obraz 4">
            <a:extLst>
              <a:ext uri="{FF2B5EF4-FFF2-40B4-BE49-F238E27FC236}">
                <a16:creationId xmlns:a16="http://schemas.microsoft.com/office/drawing/2014/main" id="{190599CB-875A-4179-BB5C-527C86F0D417}"/>
              </a:ext>
            </a:extLst>
          </p:cNvPr>
          <p:cNvPicPr>
            <a:picLocks noChangeAspect="1"/>
          </p:cNvPicPr>
          <p:nvPr/>
        </p:nvPicPr>
        <p:blipFill>
          <a:blip r:embed="rId2"/>
          <a:stretch>
            <a:fillRect/>
          </a:stretch>
        </p:blipFill>
        <p:spPr>
          <a:xfrm>
            <a:off x="1034062" y="1473200"/>
            <a:ext cx="9572978" cy="5384800"/>
          </a:xfrm>
          <a:prstGeom prst="rect">
            <a:avLst/>
          </a:prstGeom>
        </p:spPr>
      </p:pic>
    </p:spTree>
    <p:extLst>
      <p:ext uri="{BB962C8B-B14F-4D97-AF65-F5344CB8AC3E}">
        <p14:creationId xmlns:p14="http://schemas.microsoft.com/office/powerpoint/2010/main" val="2208588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3F6443C-4D74-499B-8D72-D876D9EC5D29}"/>
              </a:ext>
            </a:extLst>
          </p:cNvPr>
          <p:cNvSpPr>
            <a:spLocks noGrp="1"/>
          </p:cNvSpPr>
          <p:nvPr>
            <p:ph type="title"/>
          </p:nvPr>
        </p:nvSpPr>
        <p:spPr/>
        <p:txBody>
          <a:bodyPr/>
          <a:lstStyle/>
          <a:p>
            <a:pPr algn="ctr"/>
            <a:r>
              <a:rPr lang="pl-PL" dirty="0" err="1"/>
              <a:t>Apply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055E2911-4A14-4B48-8D9D-E4F6316019A9}"/>
              </a:ext>
            </a:extLst>
          </p:cNvPr>
          <p:cNvSpPr>
            <a:spLocks noGrp="1"/>
          </p:cNvSpPr>
          <p:nvPr>
            <p:ph idx="1"/>
          </p:nvPr>
        </p:nvSpPr>
        <p:spPr/>
        <p:txBody>
          <a:bodyPr/>
          <a:lstStyle/>
          <a:p>
            <a:r>
              <a:rPr lang="pl-PL" dirty="0" err="1"/>
              <a:t>Copy</a:t>
            </a:r>
            <a:r>
              <a:rPr lang="pl-PL" dirty="0"/>
              <a:t> and </a:t>
            </a:r>
            <a:r>
              <a:rPr lang="pl-PL" dirty="0" err="1"/>
              <a:t>paste</a:t>
            </a:r>
            <a:r>
              <a:rPr lang="pl-PL" dirty="0"/>
              <a:t> as </a:t>
            </a:r>
            <a:r>
              <a:rPr lang="pl-PL" dirty="0" err="1"/>
              <a:t>values</a:t>
            </a:r>
            <a:r>
              <a:rPr lang="pl-PL" dirty="0"/>
              <a:t> </a:t>
            </a:r>
            <a:r>
              <a:rPr lang="pl-PL" dirty="0" err="1"/>
              <a:t>standardized</a:t>
            </a:r>
            <a:r>
              <a:rPr lang="pl-PL" dirty="0"/>
              <a:t> </a:t>
            </a:r>
            <a:r>
              <a:rPr lang="pl-PL" dirty="0" err="1"/>
              <a:t>observations</a:t>
            </a:r>
            <a:endParaRPr lang="pl-PL" dirty="0"/>
          </a:p>
          <a:p>
            <a:r>
              <a:rPr lang="pl-PL" dirty="0"/>
              <a:t>Import </a:t>
            </a:r>
            <a:r>
              <a:rPr lang="pl-PL" dirty="0" err="1"/>
              <a:t>this</a:t>
            </a:r>
            <a:r>
              <a:rPr lang="pl-PL" dirty="0"/>
              <a:t> data set </a:t>
            </a:r>
            <a:r>
              <a:rPr lang="pl-PL" dirty="0" err="1"/>
              <a:t>into</a:t>
            </a:r>
            <a:r>
              <a:rPr lang="pl-PL" dirty="0"/>
              <a:t> </a:t>
            </a:r>
            <a:r>
              <a:rPr lang="pl-PL" dirty="0" err="1"/>
              <a:t>RapidMiner</a:t>
            </a:r>
            <a:endParaRPr lang="pl-PL" dirty="0"/>
          </a:p>
          <a:p>
            <a:r>
              <a:rPr lang="pl-PL" dirty="0" err="1"/>
              <a:t>Keep</a:t>
            </a:r>
            <a:r>
              <a:rPr lang="pl-PL" dirty="0"/>
              <a:t> </a:t>
            </a:r>
            <a:r>
              <a:rPr lang="pl-PL" dirty="0" err="1"/>
              <a:t>averages</a:t>
            </a:r>
            <a:r>
              <a:rPr lang="pl-PL" dirty="0"/>
              <a:t> and standard </a:t>
            </a:r>
            <a:r>
              <a:rPr lang="pl-PL" dirty="0" err="1"/>
              <a:t>deviations</a:t>
            </a:r>
            <a:r>
              <a:rPr lang="pl-PL" dirty="0"/>
              <a:t> in the </a:t>
            </a:r>
            <a:r>
              <a:rPr lang="pl-PL" dirty="0" err="1"/>
              <a:t>original</a:t>
            </a:r>
            <a:r>
              <a:rPr lang="pl-PL" dirty="0"/>
              <a:t> </a:t>
            </a:r>
            <a:r>
              <a:rPr lang="pl-PL" dirty="0" err="1"/>
              <a:t>spreadsheet</a:t>
            </a:r>
            <a:r>
              <a:rPr lang="pl-PL" dirty="0"/>
              <a:t>, </a:t>
            </a:r>
            <a:r>
              <a:rPr lang="pl-PL" dirty="0" err="1"/>
              <a:t>You</a:t>
            </a:r>
            <a:r>
              <a:rPr lang="pl-PL" dirty="0"/>
              <a:t> </a:t>
            </a:r>
            <a:r>
              <a:rPr lang="pl-PL" dirty="0" err="1"/>
              <a:t>will</a:t>
            </a:r>
            <a:r>
              <a:rPr lang="pl-PL" dirty="0"/>
              <a:t> </a:t>
            </a:r>
            <a:r>
              <a:rPr lang="pl-PL" dirty="0" err="1"/>
              <a:t>have</a:t>
            </a:r>
            <a:r>
              <a:rPr lang="pl-PL" dirty="0"/>
              <a:t> to </a:t>
            </a:r>
            <a:r>
              <a:rPr lang="pl-PL" dirty="0" err="1"/>
              <a:t>standardize</a:t>
            </a:r>
            <a:r>
              <a:rPr lang="pl-PL" dirty="0"/>
              <a:t> </a:t>
            </a:r>
            <a:r>
              <a:rPr lang="pl-PL" dirty="0" err="1"/>
              <a:t>all</a:t>
            </a:r>
            <a:r>
              <a:rPr lang="pl-PL" dirty="0"/>
              <a:t> </a:t>
            </a:r>
            <a:r>
              <a:rPr lang="pl-PL" dirty="0" err="1"/>
              <a:t>new</a:t>
            </a:r>
            <a:r>
              <a:rPr lang="pl-PL" dirty="0"/>
              <a:t> data </a:t>
            </a:r>
            <a:r>
              <a:rPr lang="pl-PL" dirty="0" err="1"/>
              <a:t>that</a:t>
            </a:r>
            <a:r>
              <a:rPr lang="pl-PL" dirty="0"/>
              <a:t> </a:t>
            </a:r>
            <a:r>
              <a:rPr lang="pl-PL" dirty="0" err="1"/>
              <a:t>You</a:t>
            </a:r>
            <a:r>
              <a:rPr lang="pl-PL" dirty="0"/>
              <a:t> </a:t>
            </a:r>
            <a:r>
              <a:rPr lang="pl-PL" dirty="0" err="1"/>
              <a:t>apply</a:t>
            </a:r>
            <a:r>
              <a:rPr lang="pl-PL" dirty="0"/>
              <a:t> to the model</a:t>
            </a:r>
          </a:p>
        </p:txBody>
      </p:sp>
      <p:sp>
        <p:nvSpPr>
          <p:cNvPr id="4" name="Symbol zastępczy numeru slajdu 3">
            <a:extLst>
              <a:ext uri="{FF2B5EF4-FFF2-40B4-BE49-F238E27FC236}">
                <a16:creationId xmlns:a16="http://schemas.microsoft.com/office/drawing/2014/main" id="{B21595B0-BC57-4E20-A89A-59ADC7254F2E}"/>
              </a:ext>
            </a:extLst>
          </p:cNvPr>
          <p:cNvSpPr>
            <a:spLocks noGrp="1"/>
          </p:cNvSpPr>
          <p:nvPr>
            <p:ph type="sldNum" sz="quarter" idx="12"/>
          </p:nvPr>
        </p:nvSpPr>
        <p:spPr/>
        <p:txBody>
          <a:bodyPr/>
          <a:lstStyle/>
          <a:p>
            <a:fld id="{A7544F9A-EF6A-47CB-A458-C95835DAEA60}" type="slidenum">
              <a:rPr lang="pl-PL" smtClean="0"/>
              <a:t>52</a:t>
            </a:fld>
            <a:endParaRPr lang="pl-PL"/>
          </a:p>
        </p:txBody>
      </p:sp>
    </p:spTree>
    <p:extLst>
      <p:ext uri="{BB962C8B-B14F-4D97-AF65-F5344CB8AC3E}">
        <p14:creationId xmlns:p14="http://schemas.microsoft.com/office/powerpoint/2010/main" val="906021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EECFDB9-4D3E-472E-95F6-ADEC57BF245E}"/>
              </a:ext>
            </a:extLst>
          </p:cNvPr>
          <p:cNvSpPr>
            <a:spLocks noGrp="1"/>
          </p:cNvSpPr>
          <p:nvPr>
            <p:ph type="title"/>
          </p:nvPr>
        </p:nvSpPr>
        <p:spPr>
          <a:xfrm>
            <a:off x="838200" y="365125"/>
            <a:ext cx="10515600" cy="681355"/>
          </a:xfrm>
        </p:spPr>
        <p:txBody>
          <a:bodyPr>
            <a:normAutofit fontScale="90000"/>
          </a:bodyPr>
          <a:lstStyle/>
          <a:p>
            <a:pPr algn="ctr"/>
            <a:r>
              <a:rPr lang="pl-PL" dirty="0"/>
              <a:t>Import data</a:t>
            </a:r>
          </a:p>
        </p:txBody>
      </p:sp>
      <p:sp>
        <p:nvSpPr>
          <p:cNvPr id="3" name="Symbol zastępczy zawartości 2">
            <a:extLst>
              <a:ext uri="{FF2B5EF4-FFF2-40B4-BE49-F238E27FC236}">
                <a16:creationId xmlns:a16="http://schemas.microsoft.com/office/drawing/2014/main" id="{215742E6-E80A-4A62-8BBE-B6A194FF6752}"/>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06BD5234-98A2-4E8A-B7F2-021E8E366DA3}"/>
              </a:ext>
            </a:extLst>
          </p:cNvPr>
          <p:cNvSpPr>
            <a:spLocks noGrp="1"/>
          </p:cNvSpPr>
          <p:nvPr>
            <p:ph type="sldNum" sz="quarter" idx="12"/>
          </p:nvPr>
        </p:nvSpPr>
        <p:spPr/>
        <p:txBody>
          <a:bodyPr/>
          <a:lstStyle/>
          <a:p>
            <a:fld id="{A7544F9A-EF6A-47CB-A458-C95835DAEA60}" type="slidenum">
              <a:rPr lang="pl-PL" smtClean="0"/>
              <a:t>53</a:t>
            </a:fld>
            <a:endParaRPr lang="pl-PL"/>
          </a:p>
        </p:txBody>
      </p:sp>
      <p:pic>
        <p:nvPicPr>
          <p:cNvPr id="6" name="Obraz 5">
            <a:extLst>
              <a:ext uri="{FF2B5EF4-FFF2-40B4-BE49-F238E27FC236}">
                <a16:creationId xmlns:a16="http://schemas.microsoft.com/office/drawing/2014/main" id="{CDB1EA1B-6B8D-4D9E-8FAD-1D6166B2145B}"/>
              </a:ext>
            </a:extLst>
          </p:cNvPr>
          <p:cNvPicPr>
            <a:picLocks noChangeAspect="1"/>
          </p:cNvPicPr>
          <p:nvPr/>
        </p:nvPicPr>
        <p:blipFill>
          <a:blip r:embed="rId2"/>
          <a:stretch>
            <a:fillRect/>
          </a:stretch>
        </p:blipFill>
        <p:spPr>
          <a:xfrm>
            <a:off x="1155982" y="1300480"/>
            <a:ext cx="9880036" cy="5557520"/>
          </a:xfrm>
          <a:prstGeom prst="rect">
            <a:avLst/>
          </a:prstGeom>
        </p:spPr>
      </p:pic>
      <p:sp>
        <p:nvSpPr>
          <p:cNvPr id="7" name="Prostokąt 6">
            <a:extLst>
              <a:ext uri="{FF2B5EF4-FFF2-40B4-BE49-F238E27FC236}">
                <a16:creationId xmlns:a16="http://schemas.microsoft.com/office/drawing/2014/main" id="{B99D20C7-3BE9-4B1B-9449-0889C15F8B31}"/>
              </a:ext>
            </a:extLst>
          </p:cNvPr>
          <p:cNvSpPr/>
          <p:nvPr/>
        </p:nvSpPr>
        <p:spPr>
          <a:xfrm>
            <a:off x="4673600" y="2174240"/>
            <a:ext cx="1828800" cy="3759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686693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E0B0FD2-BA55-4E1D-800D-11412084879F}"/>
              </a:ext>
            </a:extLst>
          </p:cNvPr>
          <p:cNvSpPr>
            <a:spLocks noGrp="1"/>
          </p:cNvSpPr>
          <p:nvPr>
            <p:ph type="title"/>
          </p:nvPr>
        </p:nvSpPr>
        <p:spPr>
          <a:xfrm>
            <a:off x="0" y="1"/>
            <a:ext cx="12192000" cy="1189608"/>
          </a:xfrm>
        </p:spPr>
        <p:txBody>
          <a:bodyPr>
            <a:normAutofit/>
          </a:bodyPr>
          <a:lstStyle/>
          <a:p>
            <a:r>
              <a:rPr lang="pl-PL" sz="3600" dirty="0"/>
              <a:t>Drag and drop the </a:t>
            </a:r>
            <a:r>
              <a:rPr lang="pl-PL" sz="3600" dirty="0" err="1"/>
              <a:t>retrieve</a:t>
            </a:r>
            <a:r>
              <a:rPr lang="pl-PL" sz="3600" dirty="0"/>
              <a:t> operator (</a:t>
            </a:r>
            <a:r>
              <a:rPr lang="pl-PL" sz="3600" dirty="0" err="1"/>
              <a:t>opens</a:t>
            </a:r>
            <a:r>
              <a:rPr lang="pl-PL" sz="3600" dirty="0"/>
              <a:t> a file with data and </a:t>
            </a:r>
            <a:r>
              <a:rPr lang="pl-PL" sz="3600" dirty="0" err="1"/>
              <a:t>send</a:t>
            </a:r>
            <a:r>
              <a:rPr lang="pl-PL" sz="3600" dirty="0"/>
              <a:t> data </a:t>
            </a:r>
            <a:r>
              <a:rPr lang="pl-PL" sz="3600" dirty="0" err="1"/>
              <a:t>further</a:t>
            </a:r>
            <a:r>
              <a:rPr lang="pl-PL" sz="3600" dirty="0"/>
              <a:t>), </a:t>
            </a:r>
            <a:r>
              <a:rPr lang="pl-PL" sz="3600" dirty="0" err="1"/>
              <a:t>choose</a:t>
            </a:r>
            <a:r>
              <a:rPr lang="pl-PL" sz="3600" dirty="0"/>
              <a:t> </a:t>
            </a:r>
            <a:r>
              <a:rPr lang="pl-PL" sz="3600" dirty="0" err="1"/>
              <a:t>house_price_label</a:t>
            </a:r>
            <a:r>
              <a:rPr lang="pl-PL" sz="3600" dirty="0"/>
              <a:t> data set</a:t>
            </a:r>
          </a:p>
        </p:txBody>
      </p:sp>
      <p:sp>
        <p:nvSpPr>
          <p:cNvPr id="3" name="Symbol zastępczy zawartości 2">
            <a:extLst>
              <a:ext uri="{FF2B5EF4-FFF2-40B4-BE49-F238E27FC236}">
                <a16:creationId xmlns:a16="http://schemas.microsoft.com/office/drawing/2014/main" id="{5B204C04-1906-4A6B-8CD2-C01B57C7ABB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E72D379C-CABD-4CF3-AAE9-52CA61AC3895}"/>
              </a:ext>
            </a:extLst>
          </p:cNvPr>
          <p:cNvSpPr>
            <a:spLocks noGrp="1"/>
          </p:cNvSpPr>
          <p:nvPr>
            <p:ph type="sldNum" sz="quarter" idx="12"/>
          </p:nvPr>
        </p:nvSpPr>
        <p:spPr/>
        <p:txBody>
          <a:bodyPr/>
          <a:lstStyle/>
          <a:p>
            <a:fld id="{A7544F9A-EF6A-47CB-A458-C95835DAEA60}" type="slidenum">
              <a:rPr lang="pl-PL" smtClean="0"/>
              <a:t>54</a:t>
            </a:fld>
            <a:endParaRPr lang="pl-PL"/>
          </a:p>
        </p:txBody>
      </p:sp>
      <p:pic>
        <p:nvPicPr>
          <p:cNvPr id="6" name="Obraz 5">
            <a:extLst>
              <a:ext uri="{FF2B5EF4-FFF2-40B4-BE49-F238E27FC236}">
                <a16:creationId xmlns:a16="http://schemas.microsoft.com/office/drawing/2014/main" id="{DA0BCBA5-5BC2-4712-8C3D-405F0A26BA4A}"/>
              </a:ext>
            </a:extLst>
          </p:cNvPr>
          <p:cNvPicPr>
            <a:picLocks noChangeAspect="1"/>
          </p:cNvPicPr>
          <p:nvPr/>
        </p:nvPicPr>
        <p:blipFill>
          <a:blip r:embed="rId2"/>
          <a:stretch>
            <a:fillRect/>
          </a:stretch>
        </p:blipFill>
        <p:spPr>
          <a:xfrm>
            <a:off x="1175172" y="1189609"/>
            <a:ext cx="9645227" cy="5425440"/>
          </a:xfrm>
          <a:prstGeom prst="rect">
            <a:avLst/>
          </a:prstGeom>
        </p:spPr>
      </p:pic>
    </p:spTree>
    <p:extLst>
      <p:ext uri="{BB962C8B-B14F-4D97-AF65-F5344CB8AC3E}">
        <p14:creationId xmlns:p14="http://schemas.microsoft.com/office/powerpoint/2010/main" val="3716707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6DD9D80-A994-4753-86A2-A0FD28F06E24}"/>
              </a:ext>
            </a:extLst>
          </p:cNvPr>
          <p:cNvSpPr>
            <a:spLocks noGrp="1"/>
          </p:cNvSpPr>
          <p:nvPr>
            <p:ph type="title"/>
          </p:nvPr>
        </p:nvSpPr>
        <p:spPr>
          <a:xfrm>
            <a:off x="0" y="18255"/>
            <a:ext cx="12192000" cy="1325563"/>
          </a:xfrm>
        </p:spPr>
        <p:txBody>
          <a:bodyPr>
            <a:noAutofit/>
          </a:bodyPr>
          <a:lstStyle/>
          <a:p>
            <a:r>
              <a:rPr lang="pl-PL" sz="2800" dirty="0"/>
              <a:t>Drag and drop „set role” operator and set the role „</a:t>
            </a:r>
            <a:r>
              <a:rPr lang="pl-PL" sz="2800" dirty="0" err="1"/>
              <a:t>label</a:t>
            </a:r>
            <a:r>
              <a:rPr lang="pl-PL" sz="2800" dirty="0"/>
              <a:t>” to </a:t>
            </a:r>
            <a:r>
              <a:rPr lang="pl-PL" sz="2800" dirty="0" err="1"/>
              <a:t>house_type</a:t>
            </a:r>
            <a:r>
              <a:rPr lang="pl-PL" sz="2800" dirty="0"/>
              <a:t> </a:t>
            </a:r>
            <a:r>
              <a:rPr lang="pl-PL" sz="2800" dirty="0" err="1"/>
              <a:t>attribute</a:t>
            </a:r>
            <a:r>
              <a:rPr lang="pl-PL" sz="2800" dirty="0"/>
              <a:t> – </a:t>
            </a:r>
            <a:r>
              <a:rPr lang="pl-PL" sz="2800" dirty="0" err="1"/>
              <a:t>because</a:t>
            </a:r>
            <a:r>
              <a:rPr lang="pl-PL" sz="2800" dirty="0"/>
              <a:t> </a:t>
            </a:r>
            <a:r>
              <a:rPr lang="pl-PL" sz="2800" dirty="0" err="1"/>
              <a:t>this</a:t>
            </a:r>
            <a:r>
              <a:rPr lang="pl-PL" sz="2800" dirty="0"/>
              <a:t> </a:t>
            </a:r>
            <a:r>
              <a:rPr lang="pl-PL" sz="2800" dirty="0" err="1"/>
              <a:t>column</a:t>
            </a:r>
            <a:r>
              <a:rPr lang="pl-PL" sz="2800" dirty="0"/>
              <a:t> in the data set </a:t>
            </a:r>
            <a:r>
              <a:rPr lang="pl-PL" sz="2800" dirty="0" err="1"/>
              <a:t>presents</a:t>
            </a:r>
            <a:r>
              <a:rPr lang="pl-PL" sz="2800" dirty="0"/>
              <a:t> the </a:t>
            </a:r>
            <a:r>
              <a:rPr lang="pl-PL" sz="2800" dirty="0" err="1"/>
              <a:t>actual</a:t>
            </a:r>
            <a:r>
              <a:rPr lang="pl-PL" sz="2800" dirty="0"/>
              <a:t> </a:t>
            </a:r>
            <a:r>
              <a:rPr lang="pl-PL" sz="2800" dirty="0" err="1"/>
              <a:t>classification</a:t>
            </a:r>
            <a:r>
              <a:rPr lang="pl-PL" sz="2800" dirty="0"/>
              <a:t> of </a:t>
            </a:r>
            <a:r>
              <a:rPr lang="pl-PL" sz="2800" dirty="0" err="1"/>
              <a:t>houses</a:t>
            </a:r>
            <a:r>
              <a:rPr lang="pl-PL" sz="2800" dirty="0"/>
              <a:t> to </a:t>
            </a:r>
            <a:r>
              <a:rPr lang="pl-PL" sz="2800" dirty="0" err="1"/>
              <a:t>different</a:t>
            </a:r>
            <a:r>
              <a:rPr lang="pl-PL" sz="2800" dirty="0"/>
              <a:t> </a:t>
            </a:r>
            <a:r>
              <a:rPr lang="pl-PL" sz="2800" dirty="0" err="1"/>
              <a:t>groups</a:t>
            </a:r>
            <a:r>
              <a:rPr lang="pl-PL" sz="2800" dirty="0"/>
              <a:t> (</a:t>
            </a:r>
            <a:r>
              <a:rPr lang="pl-PL" sz="2800" dirty="0" err="1"/>
              <a:t>classes</a:t>
            </a:r>
            <a:r>
              <a:rPr lang="pl-PL" sz="2800" dirty="0"/>
              <a:t>)</a:t>
            </a:r>
          </a:p>
        </p:txBody>
      </p:sp>
      <p:sp>
        <p:nvSpPr>
          <p:cNvPr id="3" name="Symbol zastępczy zawartości 2">
            <a:extLst>
              <a:ext uri="{FF2B5EF4-FFF2-40B4-BE49-F238E27FC236}">
                <a16:creationId xmlns:a16="http://schemas.microsoft.com/office/drawing/2014/main" id="{12319EF7-5208-4CE0-862D-C71EEF49ACB1}"/>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1F759CB-9FF1-4AD8-899F-95C11C688DE7}"/>
              </a:ext>
            </a:extLst>
          </p:cNvPr>
          <p:cNvSpPr>
            <a:spLocks noGrp="1"/>
          </p:cNvSpPr>
          <p:nvPr>
            <p:ph type="sldNum" sz="quarter" idx="12"/>
          </p:nvPr>
        </p:nvSpPr>
        <p:spPr/>
        <p:txBody>
          <a:bodyPr/>
          <a:lstStyle/>
          <a:p>
            <a:fld id="{A7544F9A-EF6A-47CB-A458-C95835DAEA60}" type="slidenum">
              <a:rPr lang="pl-PL" smtClean="0"/>
              <a:t>55</a:t>
            </a:fld>
            <a:endParaRPr lang="pl-PL"/>
          </a:p>
        </p:txBody>
      </p:sp>
      <p:pic>
        <p:nvPicPr>
          <p:cNvPr id="5" name="Obraz 4">
            <a:extLst>
              <a:ext uri="{FF2B5EF4-FFF2-40B4-BE49-F238E27FC236}">
                <a16:creationId xmlns:a16="http://schemas.microsoft.com/office/drawing/2014/main" id="{B5680BAD-B112-45FA-B4F7-4CDC0FB6B02A}"/>
              </a:ext>
            </a:extLst>
          </p:cNvPr>
          <p:cNvPicPr>
            <a:picLocks noChangeAspect="1"/>
          </p:cNvPicPr>
          <p:nvPr/>
        </p:nvPicPr>
        <p:blipFill>
          <a:blip r:embed="rId2"/>
          <a:stretch>
            <a:fillRect/>
          </a:stretch>
        </p:blipFill>
        <p:spPr>
          <a:xfrm>
            <a:off x="1731145" y="1603883"/>
            <a:ext cx="9040427" cy="5085240"/>
          </a:xfrm>
          <a:prstGeom prst="rect">
            <a:avLst/>
          </a:prstGeom>
        </p:spPr>
      </p:pic>
      <p:sp>
        <p:nvSpPr>
          <p:cNvPr id="6" name="Prostokąt 5">
            <a:extLst>
              <a:ext uri="{FF2B5EF4-FFF2-40B4-BE49-F238E27FC236}">
                <a16:creationId xmlns:a16="http://schemas.microsoft.com/office/drawing/2014/main" id="{4E8C265A-C205-4122-BF7E-A2E1C51EC462}"/>
              </a:ext>
            </a:extLst>
          </p:cNvPr>
          <p:cNvSpPr/>
          <p:nvPr/>
        </p:nvSpPr>
        <p:spPr>
          <a:xfrm>
            <a:off x="8948691" y="1162975"/>
            <a:ext cx="2192785" cy="284085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060186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8060CC-1DB7-4D04-8311-121634ACD586}"/>
              </a:ext>
            </a:extLst>
          </p:cNvPr>
          <p:cNvSpPr>
            <a:spLocks noGrp="1"/>
          </p:cNvSpPr>
          <p:nvPr>
            <p:ph type="title"/>
          </p:nvPr>
        </p:nvSpPr>
        <p:spPr>
          <a:xfrm>
            <a:off x="0" y="18255"/>
            <a:ext cx="12192000" cy="1325563"/>
          </a:xfrm>
        </p:spPr>
        <p:txBody>
          <a:bodyPr>
            <a:noAutofit/>
          </a:bodyPr>
          <a:lstStyle/>
          <a:p>
            <a:pPr algn="ctr"/>
            <a:r>
              <a:rPr lang="pl-PL" sz="2800" dirty="0"/>
              <a:t>Drag and drop Split data operator </a:t>
            </a:r>
            <a:r>
              <a:rPr lang="pl-PL" sz="2800" dirty="0" err="1"/>
              <a:t>because</a:t>
            </a:r>
            <a:r>
              <a:rPr lang="pl-PL" sz="2800" dirty="0"/>
              <a:t> we want to </a:t>
            </a:r>
            <a:r>
              <a:rPr lang="pl-PL" sz="2800" dirty="0" err="1"/>
              <a:t>train</a:t>
            </a:r>
            <a:r>
              <a:rPr lang="pl-PL" sz="2800" dirty="0"/>
              <a:t> the model on one part of data set and test </a:t>
            </a:r>
            <a:r>
              <a:rPr lang="pl-PL" sz="2800" dirty="0" err="1"/>
              <a:t>how</a:t>
            </a:r>
            <a:r>
              <a:rPr lang="pl-PL" sz="2800" dirty="0"/>
              <a:t> </a:t>
            </a:r>
            <a:r>
              <a:rPr lang="pl-PL" sz="2800" dirty="0" err="1"/>
              <a:t>well</a:t>
            </a:r>
            <a:r>
              <a:rPr lang="pl-PL" sz="2800" dirty="0"/>
              <a:t> </a:t>
            </a:r>
            <a:r>
              <a:rPr lang="pl-PL" sz="2800" dirty="0" err="1"/>
              <a:t>it</a:t>
            </a:r>
            <a:r>
              <a:rPr lang="pl-PL" sz="2800" dirty="0"/>
              <a:t> </a:t>
            </a:r>
            <a:r>
              <a:rPr lang="pl-PL" sz="2800" dirty="0" err="1"/>
              <a:t>works</a:t>
            </a:r>
            <a:r>
              <a:rPr lang="pl-PL" sz="2800" dirty="0"/>
              <a:t> on the </a:t>
            </a:r>
            <a:r>
              <a:rPr lang="pl-PL" sz="2800" dirty="0" err="1"/>
              <a:t>other</a:t>
            </a:r>
            <a:r>
              <a:rPr lang="pl-PL" sz="2800" dirty="0"/>
              <a:t> part of the data set</a:t>
            </a:r>
          </a:p>
        </p:txBody>
      </p:sp>
      <p:sp>
        <p:nvSpPr>
          <p:cNvPr id="3" name="Symbol zastępczy zawartości 2">
            <a:extLst>
              <a:ext uri="{FF2B5EF4-FFF2-40B4-BE49-F238E27FC236}">
                <a16:creationId xmlns:a16="http://schemas.microsoft.com/office/drawing/2014/main" id="{CAA1B452-4D23-4B89-9A04-A109ADA7985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818668AD-712E-474A-8DF0-43CA17BCF993}"/>
              </a:ext>
            </a:extLst>
          </p:cNvPr>
          <p:cNvSpPr>
            <a:spLocks noGrp="1"/>
          </p:cNvSpPr>
          <p:nvPr>
            <p:ph type="sldNum" sz="quarter" idx="12"/>
          </p:nvPr>
        </p:nvSpPr>
        <p:spPr/>
        <p:txBody>
          <a:bodyPr/>
          <a:lstStyle/>
          <a:p>
            <a:fld id="{A7544F9A-EF6A-47CB-A458-C95835DAEA60}" type="slidenum">
              <a:rPr lang="pl-PL" smtClean="0"/>
              <a:t>56</a:t>
            </a:fld>
            <a:endParaRPr lang="pl-PL"/>
          </a:p>
        </p:txBody>
      </p:sp>
      <p:pic>
        <p:nvPicPr>
          <p:cNvPr id="6" name="Obraz 5">
            <a:extLst>
              <a:ext uri="{FF2B5EF4-FFF2-40B4-BE49-F238E27FC236}">
                <a16:creationId xmlns:a16="http://schemas.microsoft.com/office/drawing/2014/main" id="{536E563F-6E7C-4082-9C81-7C66CC0FFAC3}"/>
              </a:ext>
            </a:extLst>
          </p:cNvPr>
          <p:cNvPicPr>
            <a:picLocks noChangeAspect="1"/>
          </p:cNvPicPr>
          <p:nvPr/>
        </p:nvPicPr>
        <p:blipFill>
          <a:blip r:embed="rId2"/>
          <a:stretch>
            <a:fillRect/>
          </a:stretch>
        </p:blipFill>
        <p:spPr>
          <a:xfrm>
            <a:off x="1100831" y="1423201"/>
            <a:ext cx="9661864" cy="5434799"/>
          </a:xfrm>
          <a:prstGeom prst="rect">
            <a:avLst/>
          </a:prstGeom>
        </p:spPr>
      </p:pic>
      <p:sp>
        <p:nvSpPr>
          <p:cNvPr id="7" name="Prostokąt 6">
            <a:extLst>
              <a:ext uri="{FF2B5EF4-FFF2-40B4-BE49-F238E27FC236}">
                <a16:creationId xmlns:a16="http://schemas.microsoft.com/office/drawing/2014/main" id="{389746E4-B2B1-4008-8FF0-45047B077AF5}"/>
              </a:ext>
            </a:extLst>
          </p:cNvPr>
          <p:cNvSpPr/>
          <p:nvPr/>
        </p:nvSpPr>
        <p:spPr>
          <a:xfrm>
            <a:off x="9419208" y="2210540"/>
            <a:ext cx="1934592" cy="9499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4645858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4E3C8A4-4E31-46F5-A591-A43841F8DB8F}"/>
              </a:ext>
            </a:extLst>
          </p:cNvPr>
          <p:cNvSpPr>
            <a:spLocks noGrp="1"/>
          </p:cNvSpPr>
          <p:nvPr>
            <p:ph type="title"/>
          </p:nvPr>
        </p:nvSpPr>
        <p:spPr>
          <a:xfrm>
            <a:off x="838200" y="83887"/>
            <a:ext cx="10515600" cy="1325563"/>
          </a:xfrm>
        </p:spPr>
        <p:txBody>
          <a:bodyPr>
            <a:noAutofit/>
          </a:bodyPr>
          <a:lstStyle/>
          <a:p>
            <a:pPr algn="ctr"/>
            <a:r>
              <a:rPr lang="pl-PL" sz="3200" dirty="0"/>
              <a:t>Drag and drop the LDA operator – </a:t>
            </a:r>
            <a:r>
              <a:rPr lang="pl-PL" sz="3200" dirty="0" err="1"/>
              <a:t>this</a:t>
            </a:r>
            <a:r>
              <a:rPr lang="pl-PL" sz="3200" dirty="0"/>
              <a:t> operator </a:t>
            </a:r>
            <a:r>
              <a:rPr lang="pl-PL" sz="3200" dirty="0" err="1"/>
              <a:t>trains</a:t>
            </a:r>
            <a:r>
              <a:rPr lang="pl-PL" sz="3200" dirty="0"/>
              <a:t> the LDA model (</a:t>
            </a:r>
            <a:r>
              <a:rPr lang="pl-PL" sz="3200" dirty="0" err="1"/>
              <a:t>does</a:t>
            </a:r>
            <a:r>
              <a:rPr lang="pl-PL" sz="3200" dirty="0"/>
              <a:t> </a:t>
            </a:r>
            <a:r>
              <a:rPr lang="pl-PL" sz="3200" dirty="0" err="1"/>
              <a:t>calculations</a:t>
            </a:r>
            <a:r>
              <a:rPr lang="pl-PL" sz="3200" dirty="0"/>
              <a:t> </a:t>
            </a:r>
            <a:r>
              <a:rPr lang="pl-PL" sz="3200" dirty="0" err="1"/>
              <a:t>which</a:t>
            </a:r>
            <a:r>
              <a:rPr lang="pl-PL" sz="3200" dirty="0"/>
              <a:t> </a:t>
            </a:r>
            <a:r>
              <a:rPr lang="pl-PL" sz="3200" dirty="0" err="1"/>
              <a:t>You</a:t>
            </a:r>
            <a:r>
              <a:rPr lang="pl-PL" sz="3200" dirty="0"/>
              <a:t> </a:t>
            </a:r>
            <a:r>
              <a:rPr lang="pl-PL" sz="3200" dirty="0" err="1"/>
              <a:t>saw</a:t>
            </a:r>
            <a:r>
              <a:rPr lang="pl-PL" sz="3200" dirty="0"/>
              <a:t> </a:t>
            </a:r>
            <a:r>
              <a:rPr lang="pl-PL" sz="3200" dirty="0" err="1"/>
              <a:t>during</a:t>
            </a:r>
            <a:r>
              <a:rPr lang="pl-PL" sz="3200" dirty="0"/>
              <a:t> the </a:t>
            </a:r>
            <a:r>
              <a:rPr lang="pl-PL" sz="3200" dirty="0" err="1"/>
              <a:t>theoretical</a:t>
            </a:r>
            <a:r>
              <a:rPr lang="pl-PL" sz="3200" dirty="0"/>
              <a:t> part of the </a:t>
            </a:r>
            <a:r>
              <a:rPr lang="pl-PL" sz="3200" dirty="0" err="1"/>
              <a:t>lecture</a:t>
            </a:r>
            <a:r>
              <a:rPr lang="pl-PL" sz="3200" dirty="0"/>
              <a:t>)</a:t>
            </a:r>
          </a:p>
        </p:txBody>
      </p:sp>
      <p:sp>
        <p:nvSpPr>
          <p:cNvPr id="3" name="Symbol zastępczy zawartości 2">
            <a:extLst>
              <a:ext uri="{FF2B5EF4-FFF2-40B4-BE49-F238E27FC236}">
                <a16:creationId xmlns:a16="http://schemas.microsoft.com/office/drawing/2014/main" id="{043525F6-39EA-4795-B997-6511D0E7ABE2}"/>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7FB50B5-642D-44BD-8EF7-985245E1C6DF}"/>
              </a:ext>
            </a:extLst>
          </p:cNvPr>
          <p:cNvSpPr>
            <a:spLocks noGrp="1"/>
          </p:cNvSpPr>
          <p:nvPr>
            <p:ph type="sldNum" sz="quarter" idx="12"/>
          </p:nvPr>
        </p:nvSpPr>
        <p:spPr/>
        <p:txBody>
          <a:bodyPr/>
          <a:lstStyle/>
          <a:p>
            <a:fld id="{A7544F9A-EF6A-47CB-A458-C95835DAEA60}" type="slidenum">
              <a:rPr lang="pl-PL" smtClean="0"/>
              <a:t>57</a:t>
            </a:fld>
            <a:endParaRPr lang="pl-PL"/>
          </a:p>
        </p:txBody>
      </p:sp>
      <p:pic>
        <p:nvPicPr>
          <p:cNvPr id="5" name="Obraz 4">
            <a:extLst>
              <a:ext uri="{FF2B5EF4-FFF2-40B4-BE49-F238E27FC236}">
                <a16:creationId xmlns:a16="http://schemas.microsoft.com/office/drawing/2014/main" id="{A5C9BAB9-14DC-4F25-A860-824047B6FE3A}"/>
              </a:ext>
            </a:extLst>
          </p:cNvPr>
          <p:cNvPicPr>
            <a:picLocks noChangeAspect="1"/>
          </p:cNvPicPr>
          <p:nvPr/>
        </p:nvPicPr>
        <p:blipFill>
          <a:blip r:embed="rId2"/>
          <a:stretch>
            <a:fillRect/>
          </a:stretch>
        </p:blipFill>
        <p:spPr>
          <a:xfrm>
            <a:off x="1556550" y="1548175"/>
            <a:ext cx="9327473" cy="5246703"/>
          </a:xfrm>
          <a:prstGeom prst="rect">
            <a:avLst/>
          </a:prstGeom>
        </p:spPr>
      </p:pic>
    </p:spTree>
    <p:extLst>
      <p:ext uri="{BB962C8B-B14F-4D97-AF65-F5344CB8AC3E}">
        <p14:creationId xmlns:p14="http://schemas.microsoft.com/office/powerpoint/2010/main" val="17716240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4A83CCA-9743-4DE4-8A75-70BD66985912}"/>
              </a:ext>
            </a:extLst>
          </p:cNvPr>
          <p:cNvSpPr>
            <a:spLocks noGrp="1"/>
          </p:cNvSpPr>
          <p:nvPr>
            <p:ph type="title"/>
          </p:nvPr>
        </p:nvSpPr>
        <p:spPr>
          <a:xfrm>
            <a:off x="838200" y="365125"/>
            <a:ext cx="10515600" cy="1152957"/>
          </a:xfrm>
        </p:spPr>
        <p:txBody>
          <a:bodyPr>
            <a:normAutofit fontScale="90000"/>
          </a:bodyPr>
          <a:lstStyle/>
          <a:p>
            <a:pPr algn="ctr"/>
            <a:r>
              <a:rPr lang="pl-PL" dirty="0"/>
              <a:t>Drag and drop „</a:t>
            </a:r>
            <a:r>
              <a:rPr lang="pl-PL" dirty="0" err="1"/>
              <a:t>Apply</a:t>
            </a:r>
            <a:r>
              <a:rPr lang="pl-PL" dirty="0"/>
              <a:t> model” operator to pass the </a:t>
            </a:r>
            <a:r>
              <a:rPr lang="pl-PL" dirty="0" err="1"/>
              <a:t>trained</a:t>
            </a:r>
            <a:r>
              <a:rPr lang="pl-PL" dirty="0"/>
              <a:t> model to the </a:t>
            </a:r>
            <a:r>
              <a:rPr lang="pl-PL" dirty="0" err="1"/>
              <a:t>next</a:t>
            </a:r>
            <a:r>
              <a:rPr lang="pl-PL" dirty="0"/>
              <a:t> operator (performance operator in </a:t>
            </a:r>
            <a:r>
              <a:rPr lang="pl-PL" dirty="0" err="1"/>
              <a:t>our</a:t>
            </a:r>
            <a:r>
              <a:rPr lang="pl-PL" dirty="0"/>
              <a:t> </a:t>
            </a:r>
            <a:r>
              <a:rPr lang="pl-PL" dirty="0" err="1"/>
              <a:t>case</a:t>
            </a:r>
            <a:r>
              <a:rPr lang="pl-PL" dirty="0"/>
              <a:t>)</a:t>
            </a:r>
          </a:p>
        </p:txBody>
      </p:sp>
      <p:sp>
        <p:nvSpPr>
          <p:cNvPr id="3" name="Symbol zastępczy zawartości 2">
            <a:extLst>
              <a:ext uri="{FF2B5EF4-FFF2-40B4-BE49-F238E27FC236}">
                <a16:creationId xmlns:a16="http://schemas.microsoft.com/office/drawing/2014/main" id="{D1FBE23C-25D4-48EC-87A3-25C8EF80E6D0}"/>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944A283-23D0-48A8-8BE9-C5A5E3543AF7}"/>
              </a:ext>
            </a:extLst>
          </p:cNvPr>
          <p:cNvSpPr>
            <a:spLocks noGrp="1"/>
          </p:cNvSpPr>
          <p:nvPr>
            <p:ph type="sldNum" sz="quarter" idx="12"/>
          </p:nvPr>
        </p:nvSpPr>
        <p:spPr/>
        <p:txBody>
          <a:bodyPr/>
          <a:lstStyle/>
          <a:p>
            <a:fld id="{A7544F9A-EF6A-47CB-A458-C95835DAEA60}" type="slidenum">
              <a:rPr lang="pl-PL" smtClean="0"/>
              <a:t>58</a:t>
            </a:fld>
            <a:endParaRPr lang="pl-PL"/>
          </a:p>
        </p:txBody>
      </p:sp>
      <p:pic>
        <p:nvPicPr>
          <p:cNvPr id="5" name="Obraz 4">
            <a:extLst>
              <a:ext uri="{FF2B5EF4-FFF2-40B4-BE49-F238E27FC236}">
                <a16:creationId xmlns:a16="http://schemas.microsoft.com/office/drawing/2014/main" id="{E6EC3F42-78BD-4F92-92E8-BD9880CA0FC7}"/>
              </a:ext>
            </a:extLst>
          </p:cNvPr>
          <p:cNvPicPr>
            <a:picLocks noChangeAspect="1"/>
          </p:cNvPicPr>
          <p:nvPr/>
        </p:nvPicPr>
        <p:blipFill>
          <a:blip r:embed="rId2"/>
          <a:stretch>
            <a:fillRect/>
          </a:stretch>
        </p:blipFill>
        <p:spPr>
          <a:xfrm>
            <a:off x="1456678" y="2062394"/>
            <a:ext cx="8525522" cy="4795606"/>
          </a:xfrm>
          <a:prstGeom prst="rect">
            <a:avLst/>
          </a:prstGeom>
        </p:spPr>
      </p:pic>
    </p:spTree>
    <p:extLst>
      <p:ext uri="{BB962C8B-B14F-4D97-AF65-F5344CB8AC3E}">
        <p14:creationId xmlns:p14="http://schemas.microsoft.com/office/powerpoint/2010/main" val="42415079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AC6E03-72A2-46DA-8A03-6D132F5E1E06}"/>
              </a:ext>
            </a:extLst>
          </p:cNvPr>
          <p:cNvSpPr>
            <a:spLocks noGrp="1"/>
          </p:cNvSpPr>
          <p:nvPr>
            <p:ph type="title"/>
          </p:nvPr>
        </p:nvSpPr>
        <p:spPr>
          <a:xfrm>
            <a:off x="758301" y="18255"/>
            <a:ext cx="10515600" cy="1325563"/>
          </a:xfrm>
        </p:spPr>
        <p:txBody>
          <a:bodyPr>
            <a:normAutofit fontScale="90000"/>
          </a:bodyPr>
          <a:lstStyle/>
          <a:p>
            <a:pPr algn="ctr"/>
            <a:r>
              <a:rPr lang="pl-PL" dirty="0"/>
              <a:t>Drag and drop „Performance” operator to </a:t>
            </a:r>
            <a:r>
              <a:rPr lang="pl-PL" dirty="0" err="1"/>
              <a:t>see</a:t>
            </a:r>
            <a:r>
              <a:rPr lang="pl-PL" dirty="0"/>
              <a:t> </a:t>
            </a:r>
            <a:r>
              <a:rPr lang="pl-PL" dirty="0" err="1"/>
              <a:t>how</a:t>
            </a:r>
            <a:r>
              <a:rPr lang="pl-PL" dirty="0"/>
              <a:t> </a:t>
            </a:r>
            <a:r>
              <a:rPr lang="pl-PL" dirty="0" err="1"/>
              <a:t>well</a:t>
            </a:r>
            <a:r>
              <a:rPr lang="pl-PL" dirty="0"/>
              <a:t> the model </a:t>
            </a:r>
            <a:r>
              <a:rPr lang="pl-PL" dirty="0" err="1"/>
              <a:t>worked</a:t>
            </a:r>
            <a:r>
              <a:rPr lang="pl-PL" dirty="0"/>
              <a:t> on the </a:t>
            </a:r>
            <a:r>
              <a:rPr lang="pl-PL" dirty="0" err="1"/>
              <a:t>training</a:t>
            </a:r>
            <a:r>
              <a:rPr lang="pl-PL" dirty="0"/>
              <a:t> data</a:t>
            </a:r>
          </a:p>
        </p:txBody>
      </p:sp>
      <p:sp>
        <p:nvSpPr>
          <p:cNvPr id="3" name="Symbol zastępczy zawartości 2">
            <a:extLst>
              <a:ext uri="{FF2B5EF4-FFF2-40B4-BE49-F238E27FC236}">
                <a16:creationId xmlns:a16="http://schemas.microsoft.com/office/drawing/2014/main" id="{D718D91D-596D-4047-B75C-8805E37BF43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B28B0A28-449C-4311-9CA6-95CF5A9AC94F}"/>
              </a:ext>
            </a:extLst>
          </p:cNvPr>
          <p:cNvSpPr>
            <a:spLocks noGrp="1"/>
          </p:cNvSpPr>
          <p:nvPr>
            <p:ph type="sldNum" sz="quarter" idx="12"/>
          </p:nvPr>
        </p:nvSpPr>
        <p:spPr/>
        <p:txBody>
          <a:bodyPr/>
          <a:lstStyle/>
          <a:p>
            <a:fld id="{A7544F9A-EF6A-47CB-A458-C95835DAEA60}" type="slidenum">
              <a:rPr lang="pl-PL" smtClean="0"/>
              <a:t>59</a:t>
            </a:fld>
            <a:endParaRPr lang="pl-PL"/>
          </a:p>
        </p:txBody>
      </p:sp>
      <p:pic>
        <p:nvPicPr>
          <p:cNvPr id="6" name="Obraz 5">
            <a:extLst>
              <a:ext uri="{FF2B5EF4-FFF2-40B4-BE49-F238E27FC236}">
                <a16:creationId xmlns:a16="http://schemas.microsoft.com/office/drawing/2014/main" id="{ADBD8DD6-D60F-411E-B89F-3D46957C799F}"/>
              </a:ext>
            </a:extLst>
          </p:cNvPr>
          <p:cNvPicPr>
            <a:picLocks noChangeAspect="1"/>
          </p:cNvPicPr>
          <p:nvPr/>
        </p:nvPicPr>
        <p:blipFill>
          <a:blip r:embed="rId2"/>
          <a:stretch>
            <a:fillRect/>
          </a:stretch>
        </p:blipFill>
        <p:spPr>
          <a:xfrm>
            <a:off x="431075" y="1270258"/>
            <a:ext cx="10399682" cy="5587742"/>
          </a:xfrm>
          <a:prstGeom prst="rect">
            <a:avLst/>
          </a:prstGeom>
        </p:spPr>
      </p:pic>
    </p:spTree>
    <p:extLst>
      <p:ext uri="{BB962C8B-B14F-4D97-AF65-F5344CB8AC3E}">
        <p14:creationId xmlns:p14="http://schemas.microsoft.com/office/powerpoint/2010/main" val="2776867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C4CDD22-E999-4182-883D-013C536CE833}"/>
              </a:ext>
            </a:extLst>
          </p:cNvPr>
          <p:cNvSpPr>
            <a:spLocks noGrp="1"/>
          </p:cNvSpPr>
          <p:nvPr>
            <p:ph type="title"/>
          </p:nvPr>
        </p:nvSpPr>
        <p:spPr>
          <a:xfrm>
            <a:off x="838200" y="0"/>
            <a:ext cx="10515600" cy="1325563"/>
          </a:xfrm>
        </p:spPr>
        <p:txBody>
          <a:bodyPr>
            <a:noAutofit/>
          </a:bodyPr>
          <a:lstStyle/>
          <a:p>
            <a:pPr algn="ctr"/>
            <a:r>
              <a:rPr lang="pl-PL" sz="3200" dirty="0"/>
              <a:t>Drag and drop „</a:t>
            </a:r>
            <a:r>
              <a:rPr lang="pl-PL" sz="3200" dirty="0" err="1"/>
              <a:t>Multiply</a:t>
            </a:r>
            <a:r>
              <a:rPr lang="pl-PL" sz="3200" dirty="0"/>
              <a:t>” operator to </a:t>
            </a:r>
            <a:r>
              <a:rPr lang="pl-PL" sz="3200" dirty="0" err="1"/>
              <a:t>multiply</a:t>
            </a:r>
            <a:r>
              <a:rPr lang="pl-PL" sz="3200" dirty="0"/>
              <a:t> the model </a:t>
            </a:r>
            <a:r>
              <a:rPr lang="pl-PL" sz="3200" dirty="0" err="1"/>
              <a:t>that</a:t>
            </a:r>
            <a:r>
              <a:rPr lang="pl-PL" sz="3200" dirty="0"/>
              <a:t> we </a:t>
            </a:r>
            <a:r>
              <a:rPr lang="pl-PL" sz="3200" dirty="0" err="1"/>
              <a:t>created</a:t>
            </a:r>
            <a:r>
              <a:rPr lang="pl-PL" sz="3200" dirty="0"/>
              <a:t> (we </a:t>
            </a:r>
            <a:r>
              <a:rPr lang="pl-PL" sz="3200" dirty="0" err="1"/>
              <a:t>need</a:t>
            </a:r>
            <a:r>
              <a:rPr lang="pl-PL" sz="3200" dirty="0"/>
              <a:t> to pass </a:t>
            </a:r>
            <a:r>
              <a:rPr lang="pl-PL" sz="3200" dirty="0" err="1"/>
              <a:t>it</a:t>
            </a:r>
            <a:r>
              <a:rPr lang="pl-PL" sz="3200" dirty="0"/>
              <a:t> to 2 </a:t>
            </a:r>
            <a:r>
              <a:rPr lang="pl-PL" sz="3200" dirty="0" err="1"/>
              <a:t>different</a:t>
            </a:r>
            <a:r>
              <a:rPr lang="pl-PL" sz="3200" dirty="0"/>
              <a:t> </a:t>
            </a:r>
            <a:r>
              <a:rPr lang="pl-PL" sz="3200" dirty="0" err="1"/>
              <a:t>operators</a:t>
            </a:r>
            <a:r>
              <a:rPr lang="pl-PL" sz="3200" dirty="0"/>
              <a:t>)</a:t>
            </a:r>
          </a:p>
        </p:txBody>
      </p:sp>
      <p:sp>
        <p:nvSpPr>
          <p:cNvPr id="3" name="Symbol zastępczy zawartości 2">
            <a:extLst>
              <a:ext uri="{FF2B5EF4-FFF2-40B4-BE49-F238E27FC236}">
                <a16:creationId xmlns:a16="http://schemas.microsoft.com/office/drawing/2014/main" id="{53094E65-99A2-405C-BD87-9931D0968005}"/>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16E42ED-7F19-479D-AB5F-78E73FA4866E}"/>
              </a:ext>
            </a:extLst>
          </p:cNvPr>
          <p:cNvSpPr>
            <a:spLocks noGrp="1"/>
          </p:cNvSpPr>
          <p:nvPr>
            <p:ph type="sldNum" sz="quarter" idx="12"/>
          </p:nvPr>
        </p:nvSpPr>
        <p:spPr/>
        <p:txBody>
          <a:bodyPr/>
          <a:lstStyle/>
          <a:p>
            <a:fld id="{A7544F9A-EF6A-47CB-A458-C95835DAEA60}" type="slidenum">
              <a:rPr lang="pl-PL" smtClean="0"/>
              <a:t>60</a:t>
            </a:fld>
            <a:endParaRPr lang="pl-PL"/>
          </a:p>
        </p:txBody>
      </p:sp>
      <p:pic>
        <p:nvPicPr>
          <p:cNvPr id="6" name="Obraz 5">
            <a:extLst>
              <a:ext uri="{FF2B5EF4-FFF2-40B4-BE49-F238E27FC236}">
                <a16:creationId xmlns:a16="http://schemas.microsoft.com/office/drawing/2014/main" id="{CBEA104B-B69E-486A-841F-5FEABB20B86D}"/>
              </a:ext>
            </a:extLst>
          </p:cNvPr>
          <p:cNvPicPr>
            <a:picLocks noChangeAspect="1"/>
          </p:cNvPicPr>
          <p:nvPr/>
        </p:nvPicPr>
        <p:blipFill>
          <a:blip r:embed="rId2"/>
          <a:stretch>
            <a:fillRect/>
          </a:stretch>
        </p:blipFill>
        <p:spPr>
          <a:xfrm>
            <a:off x="759966" y="1325563"/>
            <a:ext cx="9944100" cy="5343525"/>
          </a:xfrm>
          <a:prstGeom prst="rect">
            <a:avLst/>
          </a:prstGeom>
        </p:spPr>
      </p:pic>
    </p:spTree>
    <p:extLst>
      <p:ext uri="{BB962C8B-B14F-4D97-AF65-F5344CB8AC3E}">
        <p14:creationId xmlns:p14="http://schemas.microsoft.com/office/powerpoint/2010/main" val="150531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B120C7F-D95A-46D7-8D9B-EA29C51AAE39}"/>
              </a:ext>
            </a:extLst>
          </p:cNvPr>
          <p:cNvSpPr>
            <a:spLocks noGrp="1"/>
          </p:cNvSpPr>
          <p:nvPr>
            <p:ph type="title"/>
          </p:nvPr>
        </p:nvSpPr>
        <p:spPr>
          <a:xfrm>
            <a:off x="0" y="0"/>
            <a:ext cx="12260062" cy="1325563"/>
          </a:xfrm>
        </p:spPr>
        <p:txBody>
          <a:bodyPr>
            <a:noAutofit/>
          </a:bodyPr>
          <a:lstStyle/>
          <a:p>
            <a:r>
              <a:rPr lang="pl-PL" sz="2000" dirty="0" err="1"/>
              <a:t>Copy</a:t>
            </a:r>
            <a:r>
              <a:rPr lang="pl-PL" sz="2000" dirty="0"/>
              <a:t> and </a:t>
            </a:r>
            <a:r>
              <a:rPr lang="pl-PL" sz="2000" dirty="0" err="1"/>
              <a:t>paste</a:t>
            </a:r>
            <a:r>
              <a:rPr lang="pl-PL" sz="2000" dirty="0"/>
              <a:t> </a:t>
            </a:r>
            <a:r>
              <a:rPr lang="pl-PL" sz="2000" dirty="0" err="1"/>
              <a:t>operators</a:t>
            </a:r>
            <a:r>
              <a:rPr lang="pl-PL" sz="2000" dirty="0"/>
              <a:t> „</a:t>
            </a:r>
            <a:r>
              <a:rPr lang="pl-PL" sz="2000" dirty="0" err="1"/>
              <a:t>Apply</a:t>
            </a:r>
            <a:r>
              <a:rPr lang="pl-PL" sz="2000" dirty="0"/>
              <a:t> </a:t>
            </a:r>
            <a:r>
              <a:rPr lang="pl-PL" sz="2000" dirty="0" err="1"/>
              <a:t>mode</a:t>
            </a:r>
            <a:r>
              <a:rPr lang="pl-PL" sz="2000" dirty="0"/>
              <a:t>” and „performance”, </a:t>
            </a:r>
            <a:r>
              <a:rPr lang="pl-PL" sz="2000" dirty="0" err="1"/>
              <a:t>then</a:t>
            </a:r>
            <a:r>
              <a:rPr lang="pl-PL" sz="2000" dirty="0"/>
              <a:t> </a:t>
            </a:r>
            <a:r>
              <a:rPr lang="pl-PL" sz="2000" dirty="0" err="1"/>
              <a:t>connect</a:t>
            </a:r>
            <a:r>
              <a:rPr lang="pl-PL" sz="2000" dirty="0"/>
              <a:t> </a:t>
            </a:r>
            <a:r>
              <a:rPr lang="pl-PL" sz="2000" dirty="0" err="1"/>
              <a:t>them</a:t>
            </a:r>
            <a:r>
              <a:rPr lang="pl-PL" sz="2000" dirty="0"/>
              <a:t> to the „</a:t>
            </a:r>
            <a:r>
              <a:rPr lang="pl-PL" sz="2000" dirty="0" err="1"/>
              <a:t>multiply</a:t>
            </a:r>
            <a:r>
              <a:rPr lang="pl-PL" sz="2000" dirty="0"/>
              <a:t> operator” (</a:t>
            </a:r>
            <a:r>
              <a:rPr lang="pl-PL" sz="2000" dirty="0" err="1"/>
              <a:t>which</a:t>
            </a:r>
            <a:r>
              <a:rPr lang="pl-PL" sz="2000" dirty="0"/>
              <a:t> </a:t>
            </a:r>
            <a:r>
              <a:rPr lang="pl-PL" sz="2000" dirty="0" err="1"/>
              <a:t>sends</a:t>
            </a:r>
            <a:r>
              <a:rPr lang="pl-PL" sz="2000" dirty="0"/>
              <a:t> the </a:t>
            </a:r>
            <a:r>
              <a:rPr lang="pl-PL" sz="2000" dirty="0" err="1"/>
              <a:t>trained</a:t>
            </a:r>
            <a:r>
              <a:rPr lang="pl-PL" sz="2000" dirty="0"/>
              <a:t> model to tchem) and „</a:t>
            </a:r>
            <a:r>
              <a:rPr lang="pl-PL" sz="2000" dirty="0" err="1"/>
              <a:t>split</a:t>
            </a:r>
            <a:r>
              <a:rPr lang="pl-PL" sz="2000" dirty="0"/>
              <a:t> data” Operator (</a:t>
            </a:r>
            <a:r>
              <a:rPr lang="pl-PL" sz="2000" dirty="0" err="1"/>
              <a:t>which</a:t>
            </a:r>
            <a:r>
              <a:rPr lang="pl-PL" sz="2000" dirty="0"/>
              <a:t> </a:t>
            </a:r>
            <a:r>
              <a:rPr lang="pl-PL" sz="2000" dirty="0" err="1"/>
              <a:t>sends</a:t>
            </a:r>
            <a:r>
              <a:rPr lang="pl-PL" sz="2000" dirty="0"/>
              <a:t> to </a:t>
            </a:r>
            <a:r>
              <a:rPr lang="pl-PL" sz="2000" dirty="0" err="1"/>
              <a:t>them</a:t>
            </a:r>
            <a:r>
              <a:rPr lang="pl-PL" sz="2000" dirty="0"/>
              <a:t> the </a:t>
            </a:r>
            <a:r>
              <a:rPr lang="pl-PL" sz="2000" dirty="0" err="1"/>
              <a:t>remaining</a:t>
            </a:r>
            <a:r>
              <a:rPr lang="pl-PL" sz="2000" dirty="0"/>
              <a:t> part of the data </a:t>
            </a:r>
            <a:r>
              <a:rPr lang="pl-PL" sz="2000" dirty="0" err="1"/>
              <a:t>sample</a:t>
            </a:r>
            <a:r>
              <a:rPr lang="pl-PL" sz="2000" dirty="0"/>
              <a:t>). Then </a:t>
            </a:r>
            <a:r>
              <a:rPr lang="pl-PL" sz="2000" dirty="0" err="1"/>
              <a:t>connect</a:t>
            </a:r>
            <a:r>
              <a:rPr lang="pl-PL" sz="2000" dirty="0"/>
              <a:t> </a:t>
            </a:r>
            <a:r>
              <a:rPr lang="pl-PL" sz="2000" dirty="0" err="1"/>
              <a:t>outputs</a:t>
            </a:r>
            <a:r>
              <a:rPr lang="pl-PL" sz="2000" dirty="0"/>
              <a:t> of „performance” </a:t>
            </a:r>
            <a:r>
              <a:rPr lang="pl-PL" sz="2000" dirty="0" err="1"/>
              <a:t>operators</a:t>
            </a:r>
            <a:r>
              <a:rPr lang="pl-PL" sz="2000" dirty="0"/>
              <a:t> to the </a:t>
            </a:r>
            <a:r>
              <a:rPr lang="pl-PL" sz="2000" dirty="0" err="1"/>
              <a:t>frame</a:t>
            </a:r>
            <a:r>
              <a:rPr lang="pl-PL" sz="2000" dirty="0"/>
              <a:t> of the  „design” </a:t>
            </a:r>
            <a:r>
              <a:rPr lang="pl-PL" sz="2000" dirty="0" err="1"/>
              <a:t>windows</a:t>
            </a:r>
            <a:r>
              <a:rPr lang="pl-PL" sz="2000" dirty="0"/>
              <a:t> </a:t>
            </a:r>
            <a:r>
              <a:rPr lang="pl-PL" sz="2000" dirty="0" err="1"/>
              <a:t>so</a:t>
            </a:r>
            <a:r>
              <a:rPr lang="pl-PL" sz="2000" dirty="0"/>
              <a:t> we </a:t>
            </a:r>
            <a:r>
              <a:rPr lang="pl-PL" sz="2000" dirty="0" err="1"/>
              <a:t>will</a:t>
            </a:r>
            <a:r>
              <a:rPr lang="pl-PL" sz="2000" dirty="0"/>
              <a:t> </a:t>
            </a:r>
            <a:r>
              <a:rPr lang="pl-PL" sz="2000" dirty="0" err="1"/>
              <a:t>see</a:t>
            </a:r>
            <a:r>
              <a:rPr lang="pl-PL" sz="2000" dirty="0"/>
              <a:t> the </a:t>
            </a:r>
            <a:r>
              <a:rPr lang="pl-PL" sz="2000" dirty="0" err="1"/>
              <a:t>results</a:t>
            </a:r>
            <a:r>
              <a:rPr lang="pl-PL" sz="2000" dirty="0"/>
              <a:t>.</a:t>
            </a:r>
          </a:p>
        </p:txBody>
      </p:sp>
      <p:sp>
        <p:nvSpPr>
          <p:cNvPr id="3" name="Symbol zastępczy zawartości 2">
            <a:extLst>
              <a:ext uri="{FF2B5EF4-FFF2-40B4-BE49-F238E27FC236}">
                <a16:creationId xmlns:a16="http://schemas.microsoft.com/office/drawing/2014/main" id="{09BEA72C-7D0D-46EB-A03B-6E4ECAD9DD70}"/>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CC1E6F9E-8CE4-42CC-A57D-4CDC944B9902}"/>
              </a:ext>
            </a:extLst>
          </p:cNvPr>
          <p:cNvSpPr>
            <a:spLocks noGrp="1"/>
          </p:cNvSpPr>
          <p:nvPr>
            <p:ph type="sldNum" sz="quarter" idx="12"/>
          </p:nvPr>
        </p:nvSpPr>
        <p:spPr/>
        <p:txBody>
          <a:bodyPr/>
          <a:lstStyle/>
          <a:p>
            <a:fld id="{A7544F9A-EF6A-47CB-A458-C95835DAEA60}" type="slidenum">
              <a:rPr lang="pl-PL" smtClean="0"/>
              <a:t>61</a:t>
            </a:fld>
            <a:endParaRPr lang="pl-PL"/>
          </a:p>
        </p:txBody>
      </p:sp>
      <p:pic>
        <p:nvPicPr>
          <p:cNvPr id="6" name="Obraz 5">
            <a:extLst>
              <a:ext uri="{FF2B5EF4-FFF2-40B4-BE49-F238E27FC236}">
                <a16:creationId xmlns:a16="http://schemas.microsoft.com/office/drawing/2014/main" id="{F625655B-0513-4C82-93E9-0D75558DDEE7}"/>
              </a:ext>
            </a:extLst>
          </p:cNvPr>
          <p:cNvPicPr>
            <a:picLocks noChangeAspect="1"/>
          </p:cNvPicPr>
          <p:nvPr/>
        </p:nvPicPr>
        <p:blipFill>
          <a:blip r:embed="rId2"/>
          <a:stretch>
            <a:fillRect/>
          </a:stretch>
        </p:blipFill>
        <p:spPr>
          <a:xfrm>
            <a:off x="1180730" y="1203479"/>
            <a:ext cx="10052482" cy="5654521"/>
          </a:xfrm>
          <a:prstGeom prst="rect">
            <a:avLst/>
          </a:prstGeom>
        </p:spPr>
      </p:pic>
    </p:spTree>
    <p:extLst>
      <p:ext uri="{BB962C8B-B14F-4D97-AF65-F5344CB8AC3E}">
        <p14:creationId xmlns:p14="http://schemas.microsoft.com/office/powerpoint/2010/main" val="4300747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C53858-615D-4A7E-B5DA-3F05C04F66CA}"/>
              </a:ext>
            </a:extLst>
          </p:cNvPr>
          <p:cNvSpPr>
            <a:spLocks noGrp="1"/>
          </p:cNvSpPr>
          <p:nvPr>
            <p:ph type="title"/>
          </p:nvPr>
        </p:nvSpPr>
        <p:spPr>
          <a:xfrm>
            <a:off x="0" y="0"/>
            <a:ext cx="10515600" cy="549275"/>
          </a:xfrm>
        </p:spPr>
        <p:txBody>
          <a:bodyPr>
            <a:normAutofit fontScale="90000"/>
          </a:bodyPr>
          <a:lstStyle/>
          <a:p>
            <a:pPr algn="ctr"/>
            <a:r>
              <a:rPr lang="pl-PL" dirty="0"/>
              <a:t>Performance for the </a:t>
            </a:r>
            <a:r>
              <a:rPr lang="pl-PL" dirty="0" err="1"/>
              <a:t>training</a:t>
            </a:r>
            <a:r>
              <a:rPr lang="pl-PL" dirty="0"/>
              <a:t> </a:t>
            </a:r>
            <a:r>
              <a:rPr lang="pl-PL" dirty="0" err="1"/>
              <a:t>sample</a:t>
            </a:r>
            <a:endParaRPr lang="pl-PL" dirty="0"/>
          </a:p>
        </p:txBody>
      </p:sp>
      <p:sp>
        <p:nvSpPr>
          <p:cNvPr id="3" name="Symbol zastępczy zawartości 2">
            <a:extLst>
              <a:ext uri="{FF2B5EF4-FFF2-40B4-BE49-F238E27FC236}">
                <a16:creationId xmlns:a16="http://schemas.microsoft.com/office/drawing/2014/main" id="{B120F922-0952-4A2D-974A-05E33779C9F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ECEA0D74-6568-4B18-BD05-AFC1E3FC525B}"/>
              </a:ext>
            </a:extLst>
          </p:cNvPr>
          <p:cNvSpPr>
            <a:spLocks noGrp="1"/>
          </p:cNvSpPr>
          <p:nvPr>
            <p:ph type="sldNum" sz="quarter" idx="12"/>
          </p:nvPr>
        </p:nvSpPr>
        <p:spPr/>
        <p:txBody>
          <a:bodyPr/>
          <a:lstStyle/>
          <a:p>
            <a:fld id="{A7544F9A-EF6A-47CB-A458-C95835DAEA60}" type="slidenum">
              <a:rPr lang="pl-PL" smtClean="0"/>
              <a:t>62</a:t>
            </a:fld>
            <a:endParaRPr lang="pl-PL"/>
          </a:p>
        </p:txBody>
      </p:sp>
      <p:pic>
        <p:nvPicPr>
          <p:cNvPr id="5" name="Obraz 4">
            <a:extLst>
              <a:ext uri="{FF2B5EF4-FFF2-40B4-BE49-F238E27FC236}">
                <a16:creationId xmlns:a16="http://schemas.microsoft.com/office/drawing/2014/main" id="{A3DC4206-A58B-4F56-829B-22DA641F00B1}"/>
              </a:ext>
            </a:extLst>
          </p:cNvPr>
          <p:cNvPicPr>
            <a:picLocks noChangeAspect="1"/>
          </p:cNvPicPr>
          <p:nvPr/>
        </p:nvPicPr>
        <p:blipFill>
          <a:blip r:embed="rId2"/>
          <a:stretch>
            <a:fillRect/>
          </a:stretch>
        </p:blipFill>
        <p:spPr>
          <a:xfrm>
            <a:off x="-1" y="781235"/>
            <a:ext cx="11623829" cy="6076766"/>
          </a:xfrm>
          <a:prstGeom prst="rect">
            <a:avLst/>
          </a:prstGeom>
        </p:spPr>
      </p:pic>
    </p:spTree>
    <p:extLst>
      <p:ext uri="{BB962C8B-B14F-4D97-AF65-F5344CB8AC3E}">
        <p14:creationId xmlns:p14="http://schemas.microsoft.com/office/powerpoint/2010/main" val="1742295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6DA04C8-2C14-4174-ABB0-E9DBAAA85231}"/>
              </a:ext>
            </a:extLst>
          </p:cNvPr>
          <p:cNvSpPr>
            <a:spLocks noGrp="1"/>
          </p:cNvSpPr>
          <p:nvPr>
            <p:ph type="title"/>
          </p:nvPr>
        </p:nvSpPr>
        <p:spPr>
          <a:xfrm>
            <a:off x="838200" y="0"/>
            <a:ext cx="10515600" cy="540397"/>
          </a:xfrm>
        </p:spPr>
        <p:txBody>
          <a:bodyPr>
            <a:normAutofit fontScale="90000"/>
          </a:bodyPr>
          <a:lstStyle/>
          <a:p>
            <a:pPr algn="ctr"/>
            <a:r>
              <a:rPr lang="pl-PL" dirty="0"/>
              <a:t>Performance for the </a:t>
            </a:r>
            <a:r>
              <a:rPr lang="pl-PL" dirty="0" err="1"/>
              <a:t>validation</a:t>
            </a:r>
            <a:r>
              <a:rPr lang="pl-PL" dirty="0"/>
              <a:t> </a:t>
            </a:r>
            <a:r>
              <a:rPr lang="pl-PL" dirty="0" err="1"/>
              <a:t>sample</a:t>
            </a:r>
            <a:endParaRPr lang="pl-PL" dirty="0"/>
          </a:p>
        </p:txBody>
      </p:sp>
      <p:sp>
        <p:nvSpPr>
          <p:cNvPr id="3" name="Symbol zastępczy zawartości 2">
            <a:extLst>
              <a:ext uri="{FF2B5EF4-FFF2-40B4-BE49-F238E27FC236}">
                <a16:creationId xmlns:a16="http://schemas.microsoft.com/office/drawing/2014/main" id="{6205CA49-F7AC-4BBC-9935-33EE6E70E05E}"/>
              </a:ext>
            </a:extLst>
          </p:cNvPr>
          <p:cNvSpPr>
            <a:spLocks noGrp="1"/>
          </p:cNvSpPr>
          <p:nvPr>
            <p:ph idx="1"/>
          </p:nvPr>
        </p:nvSpPr>
        <p:spPr>
          <a:xfrm>
            <a:off x="0" y="715916"/>
            <a:ext cx="12192000" cy="6142084"/>
          </a:xfrm>
        </p:spPr>
        <p:txBody>
          <a:bodyPr/>
          <a:lstStyle/>
          <a:p>
            <a:endParaRPr lang="pl-PL"/>
          </a:p>
        </p:txBody>
      </p:sp>
      <p:sp>
        <p:nvSpPr>
          <p:cNvPr id="4" name="Symbol zastępczy numeru slajdu 3">
            <a:extLst>
              <a:ext uri="{FF2B5EF4-FFF2-40B4-BE49-F238E27FC236}">
                <a16:creationId xmlns:a16="http://schemas.microsoft.com/office/drawing/2014/main" id="{7299615A-FB56-44C2-9D9B-3CE50B2DD72C}"/>
              </a:ext>
            </a:extLst>
          </p:cNvPr>
          <p:cNvSpPr>
            <a:spLocks noGrp="1"/>
          </p:cNvSpPr>
          <p:nvPr>
            <p:ph type="sldNum" sz="quarter" idx="12"/>
          </p:nvPr>
        </p:nvSpPr>
        <p:spPr/>
        <p:txBody>
          <a:bodyPr/>
          <a:lstStyle/>
          <a:p>
            <a:fld id="{A7544F9A-EF6A-47CB-A458-C95835DAEA60}" type="slidenum">
              <a:rPr lang="pl-PL" smtClean="0"/>
              <a:t>63</a:t>
            </a:fld>
            <a:endParaRPr lang="pl-PL"/>
          </a:p>
        </p:txBody>
      </p:sp>
      <p:pic>
        <p:nvPicPr>
          <p:cNvPr id="5" name="Obraz 4">
            <a:extLst>
              <a:ext uri="{FF2B5EF4-FFF2-40B4-BE49-F238E27FC236}">
                <a16:creationId xmlns:a16="http://schemas.microsoft.com/office/drawing/2014/main" id="{F9F3EB25-31C1-469C-834E-479D5F1B8854}"/>
              </a:ext>
            </a:extLst>
          </p:cNvPr>
          <p:cNvPicPr>
            <a:picLocks noChangeAspect="1"/>
          </p:cNvPicPr>
          <p:nvPr/>
        </p:nvPicPr>
        <p:blipFill>
          <a:blip r:embed="rId2"/>
          <a:stretch>
            <a:fillRect/>
          </a:stretch>
        </p:blipFill>
        <p:spPr>
          <a:xfrm>
            <a:off x="707253" y="715916"/>
            <a:ext cx="10534836" cy="5925845"/>
          </a:xfrm>
          <a:prstGeom prst="rect">
            <a:avLst/>
          </a:prstGeom>
        </p:spPr>
      </p:pic>
    </p:spTree>
    <p:extLst>
      <p:ext uri="{BB962C8B-B14F-4D97-AF65-F5344CB8AC3E}">
        <p14:creationId xmlns:p14="http://schemas.microsoft.com/office/powerpoint/2010/main" val="11725842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B952B82-A9D4-49BA-AF58-7FDE04FCC796}"/>
              </a:ext>
            </a:extLst>
          </p:cNvPr>
          <p:cNvSpPr>
            <a:spLocks noGrp="1"/>
          </p:cNvSpPr>
          <p:nvPr>
            <p:ph type="title"/>
          </p:nvPr>
        </p:nvSpPr>
        <p:spPr>
          <a:xfrm>
            <a:off x="0" y="-13502"/>
            <a:ext cx="12192000" cy="1325563"/>
          </a:xfrm>
        </p:spPr>
        <p:txBody>
          <a:bodyPr>
            <a:noAutofit/>
          </a:bodyPr>
          <a:lstStyle/>
          <a:p>
            <a:pPr algn="ctr"/>
            <a:r>
              <a:rPr lang="pl-PL" sz="2000" b="1" dirty="0"/>
              <a:t>Drag and drop cross-</a:t>
            </a:r>
            <a:r>
              <a:rPr lang="pl-PL" sz="2000" b="1" dirty="0" err="1"/>
              <a:t>validation</a:t>
            </a:r>
            <a:r>
              <a:rPr lang="pl-PL" sz="2000" b="1" dirty="0"/>
              <a:t> operator – </a:t>
            </a:r>
            <a:r>
              <a:rPr lang="pl-PL" sz="2000" b="1" dirty="0" err="1"/>
              <a:t>it</a:t>
            </a:r>
            <a:r>
              <a:rPr lang="pl-PL" sz="2000" b="1" dirty="0"/>
              <a:t> </a:t>
            </a:r>
            <a:r>
              <a:rPr lang="pl-PL" sz="2000" b="1" dirty="0" err="1"/>
              <a:t>divides</a:t>
            </a:r>
            <a:r>
              <a:rPr lang="pl-PL" sz="2000" b="1" dirty="0"/>
              <a:t> the </a:t>
            </a:r>
            <a:r>
              <a:rPr lang="pl-PL" sz="2000" b="1" dirty="0" err="1"/>
              <a:t>sample</a:t>
            </a:r>
            <a:r>
              <a:rPr lang="pl-PL" sz="2000" b="1" dirty="0"/>
              <a:t> </a:t>
            </a:r>
            <a:r>
              <a:rPr lang="pl-PL" sz="2000" b="1" dirty="0" err="1"/>
              <a:t>into</a:t>
            </a:r>
            <a:r>
              <a:rPr lang="pl-PL" sz="2000" b="1" dirty="0"/>
              <a:t> a </a:t>
            </a:r>
            <a:r>
              <a:rPr lang="pl-PL" sz="2000" b="1" dirty="0" err="1"/>
              <a:t>predefined</a:t>
            </a:r>
            <a:r>
              <a:rPr lang="pl-PL" sz="2000" b="1" dirty="0"/>
              <a:t> by the </a:t>
            </a:r>
            <a:r>
              <a:rPr lang="pl-PL" sz="2000" b="1" dirty="0" err="1"/>
              <a:t>uuser</a:t>
            </a:r>
            <a:r>
              <a:rPr lang="pl-PL" sz="2000" b="1" dirty="0"/>
              <a:t> numer of </a:t>
            </a:r>
            <a:r>
              <a:rPr lang="pl-PL" sz="2000" b="1" dirty="0" err="1"/>
              <a:t>parts</a:t>
            </a:r>
            <a:r>
              <a:rPr lang="pl-PL" sz="2000" b="1" dirty="0"/>
              <a:t> (n) and </a:t>
            </a:r>
            <a:r>
              <a:rPr lang="pl-PL" sz="2000" b="1" dirty="0" err="1"/>
              <a:t>takes</a:t>
            </a:r>
            <a:r>
              <a:rPr lang="pl-PL" sz="2000" b="1" dirty="0"/>
              <a:t> </a:t>
            </a:r>
            <a:r>
              <a:rPr lang="pl-PL" sz="2000" b="1" dirty="0" err="1"/>
              <a:t>each</a:t>
            </a:r>
            <a:r>
              <a:rPr lang="pl-PL" sz="2000" b="1" dirty="0"/>
              <a:t> </a:t>
            </a:r>
            <a:r>
              <a:rPr lang="pl-PL" sz="2000" b="1" dirty="0" err="1"/>
              <a:t>time</a:t>
            </a:r>
            <a:r>
              <a:rPr lang="pl-PL" sz="2000" b="1" dirty="0"/>
              <a:t> </a:t>
            </a:r>
            <a:r>
              <a:rPr lang="pl-PL" sz="2000" b="1" dirty="0" err="1"/>
              <a:t>only</a:t>
            </a:r>
            <a:r>
              <a:rPr lang="pl-PL" sz="2000" b="1" dirty="0"/>
              <a:t> (n-1) numer of </a:t>
            </a:r>
            <a:r>
              <a:rPr lang="pl-PL" sz="2000" b="1" dirty="0" err="1"/>
              <a:t>them</a:t>
            </a:r>
            <a:r>
              <a:rPr lang="pl-PL" sz="2000" b="1" dirty="0"/>
              <a:t> for </a:t>
            </a:r>
            <a:r>
              <a:rPr lang="pl-PL" sz="2000" b="1" dirty="0" err="1"/>
              <a:t>training</a:t>
            </a:r>
            <a:r>
              <a:rPr lang="pl-PL" sz="2000" b="1" dirty="0"/>
              <a:t>, the </a:t>
            </a:r>
            <a:r>
              <a:rPr lang="pl-PL" sz="2000" b="1" dirty="0" err="1"/>
              <a:t>last</a:t>
            </a:r>
            <a:r>
              <a:rPr lang="pl-PL" sz="2000" b="1" dirty="0"/>
              <a:t> part </a:t>
            </a:r>
            <a:r>
              <a:rPr lang="pl-PL" sz="2000" b="1" dirty="0" err="1"/>
              <a:t>is</a:t>
            </a:r>
            <a:r>
              <a:rPr lang="pl-PL" sz="2000" b="1" dirty="0"/>
              <a:t> for model </a:t>
            </a:r>
            <a:r>
              <a:rPr lang="pl-PL" sz="2000" b="1" dirty="0" err="1"/>
              <a:t>testing</a:t>
            </a:r>
            <a:r>
              <a:rPr lang="pl-PL" sz="2000" b="1" dirty="0"/>
              <a:t>. It </a:t>
            </a:r>
            <a:r>
              <a:rPr lang="pl-PL" sz="2000" b="1" dirty="0" err="1"/>
              <a:t>repeats</a:t>
            </a:r>
            <a:r>
              <a:rPr lang="pl-PL" sz="2000" b="1" dirty="0"/>
              <a:t> </a:t>
            </a:r>
            <a:r>
              <a:rPr lang="pl-PL" sz="2000" b="1" dirty="0" err="1"/>
              <a:t>this</a:t>
            </a:r>
            <a:r>
              <a:rPr lang="pl-PL" sz="2000" b="1" dirty="0"/>
              <a:t> </a:t>
            </a:r>
            <a:r>
              <a:rPr lang="pl-PL" sz="2000" b="1" dirty="0" err="1"/>
              <a:t>procedure</a:t>
            </a:r>
            <a:r>
              <a:rPr lang="pl-PL" sz="2000" b="1" dirty="0"/>
              <a:t> n </a:t>
            </a:r>
            <a:r>
              <a:rPr lang="pl-PL" sz="2000" b="1" dirty="0" err="1"/>
              <a:t>times</a:t>
            </a:r>
            <a:r>
              <a:rPr lang="pl-PL" sz="2000" b="1" dirty="0"/>
              <a:t> and </a:t>
            </a:r>
            <a:r>
              <a:rPr lang="pl-PL" sz="2000" b="1" dirty="0" err="1"/>
              <a:t>finally</a:t>
            </a:r>
            <a:r>
              <a:rPr lang="pl-PL" sz="2000" b="1" dirty="0"/>
              <a:t> </a:t>
            </a:r>
            <a:r>
              <a:rPr lang="pl-PL" sz="2000" b="1" dirty="0" err="1"/>
              <a:t>chooses</a:t>
            </a:r>
            <a:r>
              <a:rPr lang="pl-PL" sz="2000" b="1" dirty="0"/>
              <a:t> the </a:t>
            </a:r>
            <a:r>
              <a:rPr lang="pl-PL" sz="2000" b="1" dirty="0" err="1"/>
              <a:t>fittest</a:t>
            </a:r>
            <a:r>
              <a:rPr lang="pl-PL" sz="2000" b="1" dirty="0"/>
              <a:t> model as the </a:t>
            </a:r>
            <a:r>
              <a:rPr lang="pl-PL" sz="2000" b="1" dirty="0" err="1"/>
              <a:t>output</a:t>
            </a:r>
            <a:r>
              <a:rPr lang="pl-PL" sz="2000" b="1" dirty="0"/>
              <a:t>.</a:t>
            </a:r>
          </a:p>
        </p:txBody>
      </p:sp>
      <p:sp>
        <p:nvSpPr>
          <p:cNvPr id="3" name="Symbol zastępczy zawartości 2">
            <a:extLst>
              <a:ext uri="{FF2B5EF4-FFF2-40B4-BE49-F238E27FC236}">
                <a16:creationId xmlns:a16="http://schemas.microsoft.com/office/drawing/2014/main" id="{9EF22E01-975B-48AD-B6F6-194A42A476E9}"/>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DFDE2D2F-A574-496E-838F-45370741580A}"/>
              </a:ext>
            </a:extLst>
          </p:cNvPr>
          <p:cNvSpPr>
            <a:spLocks noGrp="1"/>
          </p:cNvSpPr>
          <p:nvPr>
            <p:ph type="sldNum" sz="quarter" idx="12"/>
          </p:nvPr>
        </p:nvSpPr>
        <p:spPr/>
        <p:txBody>
          <a:bodyPr/>
          <a:lstStyle/>
          <a:p>
            <a:fld id="{A7544F9A-EF6A-47CB-A458-C95835DAEA60}" type="slidenum">
              <a:rPr lang="pl-PL" smtClean="0"/>
              <a:t>64</a:t>
            </a:fld>
            <a:endParaRPr lang="pl-PL"/>
          </a:p>
        </p:txBody>
      </p:sp>
      <p:pic>
        <p:nvPicPr>
          <p:cNvPr id="5" name="Obraz 4">
            <a:extLst>
              <a:ext uri="{FF2B5EF4-FFF2-40B4-BE49-F238E27FC236}">
                <a16:creationId xmlns:a16="http://schemas.microsoft.com/office/drawing/2014/main" id="{D6077548-5C0A-47F5-9AAE-3923076E4C0F}"/>
              </a:ext>
            </a:extLst>
          </p:cNvPr>
          <p:cNvPicPr>
            <a:picLocks noChangeAspect="1"/>
          </p:cNvPicPr>
          <p:nvPr/>
        </p:nvPicPr>
        <p:blipFill>
          <a:blip r:embed="rId2"/>
          <a:stretch>
            <a:fillRect/>
          </a:stretch>
        </p:blipFill>
        <p:spPr>
          <a:xfrm>
            <a:off x="757562" y="1491448"/>
            <a:ext cx="9729925" cy="5473083"/>
          </a:xfrm>
          <a:prstGeom prst="rect">
            <a:avLst/>
          </a:prstGeom>
        </p:spPr>
      </p:pic>
    </p:spTree>
    <p:extLst>
      <p:ext uri="{BB962C8B-B14F-4D97-AF65-F5344CB8AC3E}">
        <p14:creationId xmlns:p14="http://schemas.microsoft.com/office/powerpoint/2010/main" val="241340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2C315D1-04BB-4E2A-8794-EE594D073D84}"/>
              </a:ext>
            </a:extLst>
          </p:cNvPr>
          <p:cNvSpPr>
            <a:spLocks noGrp="1"/>
          </p:cNvSpPr>
          <p:nvPr>
            <p:ph type="title"/>
          </p:nvPr>
        </p:nvSpPr>
        <p:spPr>
          <a:xfrm>
            <a:off x="0" y="18256"/>
            <a:ext cx="12192000" cy="1029310"/>
          </a:xfrm>
        </p:spPr>
        <p:txBody>
          <a:bodyPr>
            <a:noAutofit/>
          </a:bodyPr>
          <a:lstStyle/>
          <a:p>
            <a:r>
              <a:rPr lang="pl-PL" sz="3200" dirty="0"/>
              <a:t>Select the </a:t>
            </a:r>
            <a:r>
              <a:rPr lang="pl-PL" sz="3200" dirty="0" err="1"/>
              <a:t>operators</a:t>
            </a:r>
            <a:r>
              <a:rPr lang="pl-PL" sz="3200" dirty="0"/>
              <a:t> „LDA”, „</a:t>
            </a:r>
            <a:r>
              <a:rPr lang="pl-PL" sz="3200" dirty="0" err="1"/>
              <a:t>Apply</a:t>
            </a:r>
            <a:r>
              <a:rPr lang="pl-PL" sz="3200" dirty="0"/>
              <a:t> model” and „Performance” and </a:t>
            </a:r>
            <a:r>
              <a:rPr lang="pl-PL" sz="3200" dirty="0" err="1"/>
              <a:t>cut</a:t>
            </a:r>
            <a:r>
              <a:rPr lang="pl-PL" sz="3200" dirty="0"/>
              <a:t> and </a:t>
            </a:r>
            <a:r>
              <a:rPr lang="pl-PL" sz="3200" dirty="0" err="1"/>
              <a:t>paste</a:t>
            </a:r>
            <a:r>
              <a:rPr lang="pl-PL" sz="3200" dirty="0"/>
              <a:t> tchem </a:t>
            </a:r>
            <a:r>
              <a:rPr lang="pl-PL" sz="3200" dirty="0" err="1"/>
              <a:t>inside</a:t>
            </a:r>
            <a:r>
              <a:rPr lang="pl-PL" sz="3200" dirty="0"/>
              <a:t> the cross-</a:t>
            </a:r>
            <a:r>
              <a:rPr lang="pl-PL" sz="3200" dirty="0" err="1"/>
              <a:t>validation</a:t>
            </a:r>
            <a:r>
              <a:rPr lang="pl-PL" sz="3200" dirty="0"/>
              <a:t> operator</a:t>
            </a:r>
          </a:p>
        </p:txBody>
      </p:sp>
      <p:sp>
        <p:nvSpPr>
          <p:cNvPr id="3" name="Symbol zastępczy zawartości 2">
            <a:extLst>
              <a:ext uri="{FF2B5EF4-FFF2-40B4-BE49-F238E27FC236}">
                <a16:creationId xmlns:a16="http://schemas.microsoft.com/office/drawing/2014/main" id="{50F4FEA7-AE7D-464F-A71F-CE5AB89216EC}"/>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A8BFB8E-BA6D-4E4E-81B0-401B3AB7BD71}"/>
              </a:ext>
            </a:extLst>
          </p:cNvPr>
          <p:cNvSpPr>
            <a:spLocks noGrp="1"/>
          </p:cNvSpPr>
          <p:nvPr>
            <p:ph type="sldNum" sz="quarter" idx="12"/>
          </p:nvPr>
        </p:nvSpPr>
        <p:spPr/>
        <p:txBody>
          <a:bodyPr/>
          <a:lstStyle/>
          <a:p>
            <a:fld id="{A7544F9A-EF6A-47CB-A458-C95835DAEA60}" type="slidenum">
              <a:rPr lang="pl-PL" smtClean="0"/>
              <a:t>65</a:t>
            </a:fld>
            <a:endParaRPr lang="pl-PL"/>
          </a:p>
        </p:txBody>
      </p:sp>
      <p:pic>
        <p:nvPicPr>
          <p:cNvPr id="5" name="Obraz 4">
            <a:extLst>
              <a:ext uri="{FF2B5EF4-FFF2-40B4-BE49-F238E27FC236}">
                <a16:creationId xmlns:a16="http://schemas.microsoft.com/office/drawing/2014/main" id="{51712A19-6790-4225-A963-E0294C340681}"/>
              </a:ext>
            </a:extLst>
          </p:cNvPr>
          <p:cNvPicPr>
            <a:picLocks noChangeAspect="1"/>
          </p:cNvPicPr>
          <p:nvPr/>
        </p:nvPicPr>
        <p:blipFill>
          <a:blip r:embed="rId2"/>
          <a:stretch>
            <a:fillRect/>
          </a:stretch>
        </p:blipFill>
        <p:spPr>
          <a:xfrm>
            <a:off x="987393" y="1047566"/>
            <a:ext cx="9651013" cy="5428695"/>
          </a:xfrm>
          <a:prstGeom prst="rect">
            <a:avLst/>
          </a:prstGeom>
        </p:spPr>
      </p:pic>
      <p:sp>
        <p:nvSpPr>
          <p:cNvPr id="6" name="Prostokąt 5">
            <a:extLst>
              <a:ext uri="{FF2B5EF4-FFF2-40B4-BE49-F238E27FC236}">
                <a16:creationId xmlns:a16="http://schemas.microsoft.com/office/drawing/2014/main" id="{4B036F2D-A866-4BBD-9C98-10CC7E8DC91E}"/>
              </a:ext>
            </a:extLst>
          </p:cNvPr>
          <p:cNvSpPr/>
          <p:nvPr/>
        </p:nvSpPr>
        <p:spPr>
          <a:xfrm>
            <a:off x="6001305" y="2166151"/>
            <a:ext cx="2530136" cy="887767"/>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ole tekstowe 6">
            <a:extLst>
              <a:ext uri="{FF2B5EF4-FFF2-40B4-BE49-F238E27FC236}">
                <a16:creationId xmlns:a16="http://schemas.microsoft.com/office/drawing/2014/main" id="{7E95CDC8-B969-4B4B-A04B-82FEB2EFC910}"/>
              </a:ext>
            </a:extLst>
          </p:cNvPr>
          <p:cNvSpPr txBox="1"/>
          <p:nvPr/>
        </p:nvSpPr>
        <p:spPr>
          <a:xfrm>
            <a:off x="10593280" y="1733688"/>
            <a:ext cx="1814002" cy="1200329"/>
          </a:xfrm>
          <a:prstGeom prst="rect">
            <a:avLst/>
          </a:prstGeom>
          <a:noFill/>
        </p:spPr>
        <p:txBody>
          <a:bodyPr wrap="square" rtlCol="0">
            <a:spAutoFit/>
          </a:bodyPr>
          <a:lstStyle/>
          <a:p>
            <a:r>
              <a:rPr lang="pl-PL" b="1" dirty="0" err="1">
                <a:solidFill>
                  <a:schemeClr val="accent6">
                    <a:lumMod val="75000"/>
                  </a:schemeClr>
                </a:solidFill>
              </a:rPr>
              <a:t>Cut</a:t>
            </a:r>
            <a:r>
              <a:rPr lang="pl-PL" b="1" dirty="0">
                <a:solidFill>
                  <a:schemeClr val="accent6">
                    <a:lumMod val="75000"/>
                  </a:schemeClr>
                </a:solidFill>
              </a:rPr>
              <a:t> </a:t>
            </a:r>
            <a:r>
              <a:rPr lang="pl-PL" b="1" dirty="0" err="1">
                <a:solidFill>
                  <a:schemeClr val="accent6">
                    <a:lumMod val="75000"/>
                  </a:schemeClr>
                </a:solidFill>
              </a:rPr>
              <a:t>them</a:t>
            </a:r>
            <a:r>
              <a:rPr lang="pl-PL" b="1" dirty="0">
                <a:solidFill>
                  <a:schemeClr val="accent6">
                    <a:lumMod val="75000"/>
                  </a:schemeClr>
                </a:solidFill>
              </a:rPr>
              <a:t> and </a:t>
            </a:r>
            <a:r>
              <a:rPr lang="pl-PL" b="1" dirty="0" err="1">
                <a:solidFill>
                  <a:schemeClr val="accent6">
                    <a:lumMod val="75000"/>
                  </a:schemeClr>
                </a:solidFill>
              </a:rPr>
              <a:t>paste</a:t>
            </a:r>
            <a:r>
              <a:rPr lang="pl-PL" b="1" dirty="0">
                <a:solidFill>
                  <a:schemeClr val="accent6">
                    <a:lumMod val="75000"/>
                  </a:schemeClr>
                </a:solidFill>
              </a:rPr>
              <a:t> </a:t>
            </a:r>
            <a:r>
              <a:rPr lang="pl-PL" b="1" dirty="0" err="1">
                <a:solidFill>
                  <a:schemeClr val="accent6">
                    <a:lumMod val="75000"/>
                  </a:schemeClr>
                </a:solidFill>
              </a:rPr>
              <a:t>inside</a:t>
            </a:r>
            <a:r>
              <a:rPr lang="pl-PL" b="1" dirty="0">
                <a:solidFill>
                  <a:schemeClr val="accent6">
                    <a:lumMod val="75000"/>
                  </a:schemeClr>
                </a:solidFill>
              </a:rPr>
              <a:t> Cross-</a:t>
            </a:r>
            <a:r>
              <a:rPr lang="pl-PL" b="1" dirty="0" err="1">
                <a:solidFill>
                  <a:schemeClr val="accent6">
                    <a:lumMod val="75000"/>
                  </a:schemeClr>
                </a:solidFill>
              </a:rPr>
              <a:t>Validation</a:t>
            </a:r>
            <a:r>
              <a:rPr lang="pl-PL" b="1" dirty="0">
                <a:solidFill>
                  <a:schemeClr val="accent6">
                    <a:lumMod val="75000"/>
                  </a:schemeClr>
                </a:solidFill>
              </a:rPr>
              <a:t> Operator</a:t>
            </a:r>
          </a:p>
        </p:txBody>
      </p:sp>
    </p:spTree>
    <p:extLst>
      <p:ext uri="{BB962C8B-B14F-4D97-AF65-F5344CB8AC3E}">
        <p14:creationId xmlns:p14="http://schemas.microsoft.com/office/powerpoint/2010/main" val="2188656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9098736-9EB8-493F-93E0-5EE4E346EC24}"/>
              </a:ext>
            </a:extLst>
          </p:cNvPr>
          <p:cNvSpPr>
            <a:spLocks noGrp="1"/>
          </p:cNvSpPr>
          <p:nvPr>
            <p:ph type="title"/>
          </p:nvPr>
        </p:nvSpPr>
        <p:spPr>
          <a:xfrm>
            <a:off x="0" y="18255"/>
            <a:ext cx="12192000" cy="1126333"/>
          </a:xfrm>
        </p:spPr>
        <p:txBody>
          <a:bodyPr>
            <a:normAutofit fontScale="90000"/>
          </a:bodyPr>
          <a:lstStyle/>
          <a:p>
            <a:pPr algn="ctr"/>
            <a:r>
              <a:rPr lang="pl-PL" sz="3600" dirty="0" err="1"/>
              <a:t>This</a:t>
            </a:r>
            <a:r>
              <a:rPr lang="pl-PL" sz="3600" dirty="0"/>
              <a:t> </a:t>
            </a:r>
            <a:r>
              <a:rPr lang="pl-PL" sz="3600" dirty="0" err="1"/>
              <a:t>is</a:t>
            </a:r>
            <a:r>
              <a:rPr lang="pl-PL" sz="3600" dirty="0"/>
              <a:t> </a:t>
            </a:r>
            <a:r>
              <a:rPr lang="pl-PL" sz="3600" dirty="0" err="1"/>
              <a:t>how</a:t>
            </a:r>
            <a:r>
              <a:rPr lang="pl-PL" sz="3600" dirty="0"/>
              <a:t> </a:t>
            </a:r>
            <a:r>
              <a:rPr lang="pl-PL" sz="3600" dirty="0" err="1"/>
              <a:t>You</a:t>
            </a:r>
            <a:r>
              <a:rPr lang="pl-PL" sz="3600" dirty="0"/>
              <a:t> </a:t>
            </a:r>
            <a:r>
              <a:rPr lang="pl-PL" sz="3600" dirty="0" err="1"/>
              <a:t>should</a:t>
            </a:r>
            <a:r>
              <a:rPr lang="pl-PL" sz="3600" dirty="0"/>
              <a:t> </a:t>
            </a:r>
            <a:r>
              <a:rPr lang="pl-PL" sz="3600" dirty="0" err="1"/>
              <a:t>connect</a:t>
            </a:r>
            <a:r>
              <a:rPr lang="pl-PL" sz="3600" dirty="0"/>
              <a:t> </a:t>
            </a:r>
            <a:r>
              <a:rPr lang="pl-PL" sz="3600" dirty="0" err="1"/>
              <a:t>them</a:t>
            </a:r>
            <a:r>
              <a:rPr lang="pl-PL" sz="3600" dirty="0"/>
              <a:t> </a:t>
            </a:r>
            <a:r>
              <a:rPr lang="pl-PL" sz="3600" dirty="0" err="1"/>
              <a:t>inside</a:t>
            </a:r>
            <a:r>
              <a:rPr lang="pl-PL" sz="3600" dirty="0"/>
              <a:t> of Cross-</a:t>
            </a:r>
            <a:r>
              <a:rPr lang="pl-PL" sz="3600" dirty="0" err="1"/>
              <a:t>Validation</a:t>
            </a:r>
            <a:r>
              <a:rPr lang="pl-PL" sz="3600" dirty="0"/>
              <a:t> Operator – </a:t>
            </a:r>
            <a:r>
              <a:rPr lang="pl-PL" sz="3600" dirty="0" err="1"/>
              <a:t>it</a:t>
            </a:r>
            <a:r>
              <a:rPr lang="pl-PL" sz="3600" dirty="0"/>
              <a:t> </a:t>
            </a:r>
            <a:r>
              <a:rPr lang="pl-PL" sz="3600" dirty="0" err="1"/>
              <a:t>has</a:t>
            </a:r>
            <a:r>
              <a:rPr lang="pl-PL" sz="3600" dirty="0"/>
              <a:t> a </a:t>
            </a:r>
            <a:r>
              <a:rPr lang="pl-PL" sz="3600" dirty="0" err="1"/>
              <a:t>separate</a:t>
            </a:r>
            <a:r>
              <a:rPr lang="pl-PL" sz="3600" dirty="0"/>
              <a:t> </a:t>
            </a:r>
            <a:r>
              <a:rPr lang="pl-PL" sz="3600" dirty="0" err="1"/>
              <a:t>sub-window</a:t>
            </a:r>
            <a:r>
              <a:rPr lang="pl-PL" sz="3600" dirty="0"/>
              <a:t> for model </a:t>
            </a:r>
            <a:r>
              <a:rPr lang="pl-PL" sz="3600" dirty="0" err="1"/>
              <a:t>training</a:t>
            </a:r>
            <a:r>
              <a:rPr lang="pl-PL" sz="3600" dirty="0"/>
              <a:t> and for model-</a:t>
            </a:r>
            <a:r>
              <a:rPr lang="pl-PL" sz="3600" dirty="0" err="1"/>
              <a:t>validation</a:t>
            </a:r>
            <a:endParaRPr lang="pl-PL" sz="3600" dirty="0"/>
          </a:p>
        </p:txBody>
      </p:sp>
      <p:sp>
        <p:nvSpPr>
          <p:cNvPr id="3" name="Symbol zastępczy zawartości 2">
            <a:extLst>
              <a:ext uri="{FF2B5EF4-FFF2-40B4-BE49-F238E27FC236}">
                <a16:creationId xmlns:a16="http://schemas.microsoft.com/office/drawing/2014/main" id="{3A383176-CC51-49B3-AAA3-3EF66DB2BA5B}"/>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F17937BA-96D8-4212-A72B-411F60766545}"/>
              </a:ext>
            </a:extLst>
          </p:cNvPr>
          <p:cNvSpPr>
            <a:spLocks noGrp="1"/>
          </p:cNvSpPr>
          <p:nvPr>
            <p:ph type="sldNum" sz="quarter" idx="12"/>
          </p:nvPr>
        </p:nvSpPr>
        <p:spPr/>
        <p:txBody>
          <a:bodyPr/>
          <a:lstStyle/>
          <a:p>
            <a:fld id="{A7544F9A-EF6A-47CB-A458-C95835DAEA60}" type="slidenum">
              <a:rPr lang="pl-PL" smtClean="0"/>
              <a:t>66</a:t>
            </a:fld>
            <a:endParaRPr lang="pl-PL"/>
          </a:p>
        </p:txBody>
      </p:sp>
      <p:pic>
        <p:nvPicPr>
          <p:cNvPr id="6" name="Obraz 5">
            <a:extLst>
              <a:ext uri="{FF2B5EF4-FFF2-40B4-BE49-F238E27FC236}">
                <a16:creationId xmlns:a16="http://schemas.microsoft.com/office/drawing/2014/main" id="{183539DA-4CEF-4116-8EED-9D80F6C24230}"/>
              </a:ext>
            </a:extLst>
          </p:cNvPr>
          <p:cNvPicPr>
            <a:picLocks noChangeAspect="1"/>
          </p:cNvPicPr>
          <p:nvPr/>
        </p:nvPicPr>
        <p:blipFill>
          <a:blip r:embed="rId2"/>
          <a:stretch>
            <a:fillRect/>
          </a:stretch>
        </p:blipFill>
        <p:spPr>
          <a:xfrm>
            <a:off x="1207363" y="1483126"/>
            <a:ext cx="9555332" cy="5374874"/>
          </a:xfrm>
          <a:prstGeom prst="rect">
            <a:avLst/>
          </a:prstGeom>
        </p:spPr>
      </p:pic>
    </p:spTree>
    <p:extLst>
      <p:ext uri="{BB962C8B-B14F-4D97-AF65-F5344CB8AC3E}">
        <p14:creationId xmlns:p14="http://schemas.microsoft.com/office/powerpoint/2010/main" val="14915607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DD4946F-3D88-4941-BB30-62DD1279FDB7}"/>
              </a:ext>
            </a:extLst>
          </p:cNvPr>
          <p:cNvSpPr>
            <a:spLocks noGrp="1"/>
          </p:cNvSpPr>
          <p:nvPr>
            <p:ph type="title"/>
          </p:nvPr>
        </p:nvSpPr>
        <p:spPr>
          <a:xfrm>
            <a:off x="767179" y="-46932"/>
            <a:ext cx="10515600" cy="380599"/>
          </a:xfrm>
        </p:spPr>
        <p:txBody>
          <a:bodyPr>
            <a:normAutofit fontScale="90000"/>
          </a:bodyPr>
          <a:lstStyle/>
          <a:p>
            <a:pPr algn="ctr"/>
            <a:r>
              <a:rPr lang="pl-PL" dirty="0"/>
              <a:t>The proces on the top </a:t>
            </a:r>
            <a:r>
              <a:rPr lang="pl-PL" dirty="0" err="1"/>
              <a:t>level</a:t>
            </a:r>
            <a:endParaRPr lang="pl-PL" dirty="0"/>
          </a:p>
        </p:txBody>
      </p:sp>
      <p:sp>
        <p:nvSpPr>
          <p:cNvPr id="3" name="Symbol zastępczy zawartości 2">
            <a:extLst>
              <a:ext uri="{FF2B5EF4-FFF2-40B4-BE49-F238E27FC236}">
                <a16:creationId xmlns:a16="http://schemas.microsoft.com/office/drawing/2014/main" id="{5BBCC8DA-521E-4B35-BC1F-7E767A65C70B}"/>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31DAD0AC-FABF-40E9-8B0F-3FBCD4CAE04E}"/>
              </a:ext>
            </a:extLst>
          </p:cNvPr>
          <p:cNvSpPr>
            <a:spLocks noGrp="1"/>
          </p:cNvSpPr>
          <p:nvPr>
            <p:ph type="sldNum" sz="quarter" idx="12"/>
          </p:nvPr>
        </p:nvSpPr>
        <p:spPr/>
        <p:txBody>
          <a:bodyPr/>
          <a:lstStyle/>
          <a:p>
            <a:fld id="{A7544F9A-EF6A-47CB-A458-C95835DAEA60}" type="slidenum">
              <a:rPr lang="pl-PL" smtClean="0"/>
              <a:t>67</a:t>
            </a:fld>
            <a:endParaRPr lang="pl-PL"/>
          </a:p>
        </p:txBody>
      </p:sp>
      <p:pic>
        <p:nvPicPr>
          <p:cNvPr id="5" name="Obraz 4">
            <a:extLst>
              <a:ext uri="{FF2B5EF4-FFF2-40B4-BE49-F238E27FC236}">
                <a16:creationId xmlns:a16="http://schemas.microsoft.com/office/drawing/2014/main" id="{9406873F-73A3-43F1-8952-DE705CB90328}"/>
              </a:ext>
            </a:extLst>
          </p:cNvPr>
          <p:cNvPicPr>
            <a:picLocks noChangeAspect="1"/>
          </p:cNvPicPr>
          <p:nvPr/>
        </p:nvPicPr>
        <p:blipFill>
          <a:blip r:embed="rId2"/>
          <a:stretch>
            <a:fillRect/>
          </a:stretch>
        </p:blipFill>
        <p:spPr>
          <a:xfrm>
            <a:off x="284084" y="582041"/>
            <a:ext cx="10770587" cy="6058455"/>
          </a:xfrm>
          <a:prstGeom prst="rect">
            <a:avLst/>
          </a:prstGeom>
        </p:spPr>
      </p:pic>
    </p:spTree>
    <p:extLst>
      <p:ext uri="{BB962C8B-B14F-4D97-AF65-F5344CB8AC3E}">
        <p14:creationId xmlns:p14="http://schemas.microsoft.com/office/powerpoint/2010/main" val="34735223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A67EC10-A6C4-4D84-8B8E-72F8EE7593A6}"/>
              </a:ext>
            </a:extLst>
          </p:cNvPr>
          <p:cNvSpPr>
            <a:spLocks noGrp="1"/>
          </p:cNvSpPr>
          <p:nvPr>
            <p:ph type="title"/>
          </p:nvPr>
        </p:nvSpPr>
        <p:spPr/>
        <p:txBody>
          <a:bodyPr/>
          <a:lstStyle/>
          <a:p>
            <a:pPr algn="ctr"/>
            <a:r>
              <a:rPr lang="pl-PL" dirty="0"/>
              <a:t>Performance for the </a:t>
            </a:r>
            <a:r>
              <a:rPr lang="pl-PL" dirty="0" err="1"/>
              <a:t>training</a:t>
            </a:r>
            <a:r>
              <a:rPr lang="pl-PL" dirty="0"/>
              <a:t> set</a:t>
            </a:r>
          </a:p>
        </p:txBody>
      </p:sp>
      <p:sp>
        <p:nvSpPr>
          <p:cNvPr id="3" name="Symbol zastępczy zawartości 2">
            <a:extLst>
              <a:ext uri="{FF2B5EF4-FFF2-40B4-BE49-F238E27FC236}">
                <a16:creationId xmlns:a16="http://schemas.microsoft.com/office/drawing/2014/main" id="{EE3E2782-6A9D-4855-89CB-95665B7CF22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9D5BF62-E8AB-447E-A994-FB03691CB75A}"/>
              </a:ext>
            </a:extLst>
          </p:cNvPr>
          <p:cNvSpPr>
            <a:spLocks noGrp="1"/>
          </p:cNvSpPr>
          <p:nvPr>
            <p:ph type="sldNum" sz="quarter" idx="12"/>
          </p:nvPr>
        </p:nvSpPr>
        <p:spPr/>
        <p:txBody>
          <a:bodyPr/>
          <a:lstStyle/>
          <a:p>
            <a:fld id="{A7544F9A-EF6A-47CB-A458-C95835DAEA60}" type="slidenum">
              <a:rPr lang="pl-PL" smtClean="0"/>
              <a:t>68</a:t>
            </a:fld>
            <a:endParaRPr lang="pl-PL"/>
          </a:p>
        </p:txBody>
      </p:sp>
      <p:pic>
        <p:nvPicPr>
          <p:cNvPr id="5" name="Obraz 4">
            <a:extLst>
              <a:ext uri="{FF2B5EF4-FFF2-40B4-BE49-F238E27FC236}">
                <a16:creationId xmlns:a16="http://schemas.microsoft.com/office/drawing/2014/main" id="{D3D8EDBE-C32F-4A2A-9DAF-E84D1D34FDD8}"/>
              </a:ext>
            </a:extLst>
          </p:cNvPr>
          <p:cNvPicPr>
            <a:picLocks noChangeAspect="1"/>
          </p:cNvPicPr>
          <p:nvPr/>
        </p:nvPicPr>
        <p:blipFill>
          <a:blip r:embed="rId2"/>
          <a:stretch>
            <a:fillRect/>
          </a:stretch>
        </p:blipFill>
        <p:spPr>
          <a:xfrm>
            <a:off x="838200" y="1438183"/>
            <a:ext cx="9635231" cy="5419817"/>
          </a:xfrm>
          <a:prstGeom prst="rect">
            <a:avLst/>
          </a:prstGeom>
        </p:spPr>
      </p:pic>
    </p:spTree>
    <p:extLst>
      <p:ext uri="{BB962C8B-B14F-4D97-AF65-F5344CB8AC3E}">
        <p14:creationId xmlns:p14="http://schemas.microsoft.com/office/powerpoint/2010/main" val="36025710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7450C8-5B80-4064-889C-092736B438D5}"/>
              </a:ext>
            </a:extLst>
          </p:cNvPr>
          <p:cNvSpPr>
            <a:spLocks noGrp="1"/>
          </p:cNvSpPr>
          <p:nvPr>
            <p:ph type="title"/>
          </p:nvPr>
        </p:nvSpPr>
        <p:spPr/>
        <p:txBody>
          <a:bodyPr/>
          <a:lstStyle/>
          <a:p>
            <a:pPr algn="ctr"/>
            <a:r>
              <a:rPr lang="pl-PL" dirty="0"/>
              <a:t>Performance for the </a:t>
            </a:r>
            <a:r>
              <a:rPr lang="pl-PL" dirty="0" err="1"/>
              <a:t>validation</a:t>
            </a:r>
            <a:r>
              <a:rPr lang="pl-PL" dirty="0"/>
              <a:t> set</a:t>
            </a:r>
          </a:p>
        </p:txBody>
      </p:sp>
      <p:sp>
        <p:nvSpPr>
          <p:cNvPr id="3" name="Symbol zastępczy zawartości 2">
            <a:extLst>
              <a:ext uri="{FF2B5EF4-FFF2-40B4-BE49-F238E27FC236}">
                <a16:creationId xmlns:a16="http://schemas.microsoft.com/office/drawing/2014/main" id="{9A0A0963-30FE-46EF-BE74-7E0737896AD9}"/>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FB5C1CBA-27C1-40B4-829E-C89A474329AC}"/>
              </a:ext>
            </a:extLst>
          </p:cNvPr>
          <p:cNvSpPr>
            <a:spLocks noGrp="1"/>
          </p:cNvSpPr>
          <p:nvPr>
            <p:ph type="sldNum" sz="quarter" idx="12"/>
          </p:nvPr>
        </p:nvSpPr>
        <p:spPr/>
        <p:txBody>
          <a:bodyPr/>
          <a:lstStyle/>
          <a:p>
            <a:fld id="{A7544F9A-EF6A-47CB-A458-C95835DAEA60}" type="slidenum">
              <a:rPr lang="pl-PL" smtClean="0"/>
              <a:t>69</a:t>
            </a:fld>
            <a:endParaRPr lang="pl-PL"/>
          </a:p>
        </p:txBody>
      </p:sp>
      <p:pic>
        <p:nvPicPr>
          <p:cNvPr id="5" name="Obraz 4">
            <a:extLst>
              <a:ext uri="{FF2B5EF4-FFF2-40B4-BE49-F238E27FC236}">
                <a16:creationId xmlns:a16="http://schemas.microsoft.com/office/drawing/2014/main" id="{587E3E02-7842-41CA-B94F-820FA5CC0181}"/>
              </a:ext>
            </a:extLst>
          </p:cNvPr>
          <p:cNvPicPr>
            <a:picLocks noChangeAspect="1"/>
          </p:cNvPicPr>
          <p:nvPr/>
        </p:nvPicPr>
        <p:blipFill>
          <a:blip r:embed="rId2"/>
          <a:stretch>
            <a:fillRect/>
          </a:stretch>
        </p:blipFill>
        <p:spPr>
          <a:xfrm>
            <a:off x="1153406" y="1443176"/>
            <a:ext cx="9626353" cy="5414824"/>
          </a:xfrm>
          <a:prstGeom prst="rect">
            <a:avLst/>
          </a:prstGeom>
        </p:spPr>
      </p:pic>
    </p:spTree>
    <p:extLst>
      <p:ext uri="{BB962C8B-B14F-4D97-AF65-F5344CB8AC3E}">
        <p14:creationId xmlns:p14="http://schemas.microsoft.com/office/powerpoint/2010/main" val="32977265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3E74692-A47A-4063-962D-01CF843CFC7E}"/>
              </a:ext>
            </a:extLst>
          </p:cNvPr>
          <p:cNvSpPr>
            <a:spLocks noGrp="1"/>
          </p:cNvSpPr>
          <p:nvPr>
            <p:ph type="title"/>
          </p:nvPr>
        </p:nvSpPr>
        <p:spPr/>
        <p:txBody>
          <a:bodyPr>
            <a:noAutofit/>
          </a:bodyPr>
          <a:lstStyle/>
          <a:p>
            <a:r>
              <a:rPr lang="pl-PL" sz="3200" dirty="0" err="1"/>
              <a:t>Now</a:t>
            </a:r>
            <a:r>
              <a:rPr lang="pl-PL" sz="3200" dirty="0"/>
              <a:t>, </a:t>
            </a:r>
            <a:r>
              <a:rPr lang="pl-PL" sz="3200" dirty="0" err="1"/>
              <a:t>let</a:t>
            </a:r>
            <a:r>
              <a:rPr lang="pl-PL" sz="3200" dirty="0"/>
              <a:t> </a:t>
            </a:r>
            <a:r>
              <a:rPr lang="pl-PL" sz="3200" dirty="0" err="1"/>
              <a:t>us</a:t>
            </a:r>
            <a:r>
              <a:rPr lang="pl-PL" sz="3200" dirty="0"/>
              <a:t> </a:t>
            </a:r>
            <a:r>
              <a:rPr lang="pl-PL" sz="3200" dirty="0" err="1"/>
              <a:t>use</a:t>
            </a:r>
            <a:r>
              <a:rPr lang="pl-PL" sz="3200" dirty="0"/>
              <a:t> </a:t>
            </a:r>
            <a:r>
              <a:rPr lang="pl-PL" sz="3200" dirty="0" err="1"/>
              <a:t>our</a:t>
            </a:r>
            <a:r>
              <a:rPr lang="pl-PL" sz="3200" dirty="0"/>
              <a:t> model to </a:t>
            </a:r>
            <a:r>
              <a:rPr lang="pl-PL" sz="3200" dirty="0" err="1"/>
              <a:t>classify</a:t>
            </a:r>
            <a:r>
              <a:rPr lang="pl-PL" sz="3200" dirty="0"/>
              <a:t> a </a:t>
            </a:r>
            <a:r>
              <a:rPr lang="pl-PL" sz="3200" dirty="0" err="1"/>
              <a:t>new</a:t>
            </a:r>
            <a:r>
              <a:rPr lang="pl-PL" sz="3200" dirty="0"/>
              <a:t> </a:t>
            </a:r>
            <a:r>
              <a:rPr lang="pl-PL" sz="3200" dirty="0" err="1"/>
              <a:t>observation</a:t>
            </a:r>
            <a:r>
              <a:rPr lang="pl-PL" sz="3200" dirty="0"/>
              <a:t> – </a:t>
            </a:r>
            <a:r>
              <a:rPr lang="pl-PL" sz="3200" dirty="0" err="1"/>
              <a:t>let</a:t>
            </a:r>
            <a:r>
              <a:rPr lang="pl-PL" sz="3200" dirty="0"/>
              <a:t> </a:t>
            </a:r>
            <a:r>
              <a:rPr lang="pl-PL" sz="3200" dirty="0" err="1"/>
              <a:t>us</a:t>
            </a:r>
            <a:r>
              <a:rPr lang="pl-PL" sz="3200" dirty="0"/>
              <a:t> </a:t>
            </a:r>
            <a:r>
              <a:rPr lang="pl-PL" sz="3200" dirty="0" err="1"/>
              <a:t>create</a:t>
            </a:r>
            <a:r>
              <a:rPr lang="pl-PL" sz="3200" dirty="0"/>
              <a:t> </a:t>
            </a:r>
            <a:r>
              <a:rPr lang="pl-PL" sz="3200" dirty="0" err="1"/>
              <a:t>it</a:t>
            </a:r>
            <a:r>
              <a:rPr lang="pl-PL" sz="3200" dirty="0"/>
              <a:t> in Excel, </a:t>
            </a:r>
            <a:r>
              <a:rPr lang="pl-PL" sz="3200" dirty="0" err="1"/>
              <a:t>remember</a:t>
            </a:r>
            <a:r>
              <a:rPr lang="pl-PL" sz="3200" dirty="0"/>
              <a:t> to </a:t>
            </a:r>
            <a:r>
              <a:rPr lang="pl-PL" sz="3200" dirty="0" err="1"/>
              <a:t>standardize</a:t>
            </a:r>
            <a:r>
              <a:rPr lang="pl-PL" sz="3200" dirty="0"/>
              <a:t> </a:t>
            </a:r>
            <a:r>
              <a:rPr lang="pl-PL" sz="3200" dirty="0" err="1"/>
              <a:t>it</a:t>
            </a:r>
            <a:r>
              <a:rPr lang="pl-PL" sz="3200" dirty="0"/>
              <a:t> with the same </a:t>
            </a:r>
            <a:r>
              <a:rPr lang="pl-PL" sz="3200" dirty="0" err="1"/>
              <a:t>averages</a:t>
            </a:r>
            <a:r>
              <a:rPr lang="pl-PL" sz="3200" dirty="0"/>
              <a:t> and standard </a:t>
            </a:r>
            <a:r>
              <a:rPr lang="pl-PL" sz="3200" dirty="0" err="1"/>
              <a:t>deviations</a:t>
            </a:r>
            <a:r>
              <a:rPr lang="pl-PL" sz="3200" dirty="0"/>
              <a:t> as the </a:t>
            </a:r>
            <a:r>
              <a:rPr lang="pl-PL" sz="3200" dirty="0" err="1"/>
              <a:t>original</a:t>
            </a:r>
            <a:r>
              <a:rPr lang="pl-PL" sz="3200" dirty="0"/>
              <a:t> </a:t>
            </a:r>
            <a:r>
              <a:rPr lang="pl-PL" sz="3200" dirty="0" err="1"/>
              <a:t>sample</a:t>
            </a:r>
            <a:endParaRPr lang="pl-PL" sz="3200" dirty="0"/>
          </a:p>
        </p:txBody>
      </p:sp>
      <p:sp>
        <p:nvSpPr>
          <p:cNvPr id="3" name="Symbol zastępczy zawartości 2">
            <a:extLst>
              <a:ext uri="{FF2B5EF4-FFF2-40B4-BE49-F238E27FC236}">
                <a16:creationId xmlns:a16="http://schemas.microsoft.com/office/drawing/2014/main" id="{A3F6B256-12F5-4641-9F26-34C4B8C6C748}"/>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64029501-F888-490B-9803-E341F051123E}"/>
              </a:ext>
            </a:extLst>
          </p:cNvPr>
          <p:cNvSpPr>
            <a:spLocks noGrp="1"/>
          </p:cNvSpPr>
          <p:nvPr>
            <p:ph type="sldNum" sz="quarter" idx="12"/>
          </p:nvPr>
        </p:nvSpPr>
        <p:spPr/>
        <p:txBody>
          <a:bodyPr/>
          <a:lstStyle/>
          <a:p>
            <a:fld id="{A7544F9A-EF6A-47CB-A458-C95835DAEA60}" type="slidenum">
              <a:rPr lang="pl-PL" smtClean="0"/>
              <a:t>70</a:t>
            </a:fld>
            <a:endParaRPr lang="pl-PL"/>
          </a:p>
        </p:txBody>
      </p:sp>
      <p:pic>
        <p:nvPicPr>
          <p:cNvPr id="6" name="Obraz 5">
            <a:extLst>
              <a:ext uri="{FF2B5EF4-FFF2-40B4-BE49-F238E27FC236}">
                <a16:creationId xmlns:a16="http://schemas.microsoft.com/office/drawing/2014/main" id="{42AA5BB0-F5E5-4E9C-84DF-64AA458D60B3}"/>
              </a:ext>
            </a:extLst>
          </p:cNvPr>
          <p:cNvPicPr>
            <a:picLocks noChangeAspect="1"/>
          </p:cNvPicPr>
          <p:nvPr/>
        </p:nvPicPr>
        <p:blipFill rotWithShape="1">
          <a:blip r:embed="rId2"/>
          <a:srcRect r="35509" b="46018"/>
          <a:stretch/>
        </p:blipFill>
        <p:spPr>
          <a:xfrm>
            <a:off x="1371600" y="1825625"/>
            <a:ext cx="8371840" cy="3941801"/>
          </a:xfrm>
          <a:prstGeom prst="rect">
            <a:avLst/>
          </a:prstGeom>
        </p:spPr>
      </p:pic>
    </p:spTree>
    <p:extLst>
      <p:ext uri="{BB962C8B-B14F-4D97-AF65-F5344CB8AC3E}">
        <p14:creationId xmlns:p14="http://schemas.microsoft.com/office/powerpoint/2010/main" val="406033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4C2DDE9-7031-4698-9823-5A21AD2A42E9}"/>
              </a:ext>
            </a:extLst>
          </p:cNvPr>
          <p:cNvSpPr>
            <a:spLocks noGrp="1"/>
          </p:cNvSpPr>
          <p:nvPr>
            <p:ph type="title"/>
          </p:nvPr>
        </p:nvSpPr>
        <p:spPr/>
        <p:txBody>
          <a:bodyPr/>
          <a:lstStyle/>
          <a:p>
            <a:pPr algn="ctr"/>
            <a:r>
              <a:rPr lang="pl-PL" dirty="0" err="1"/>
              <a:t>Our</a:t>
            </a:r>
            <a:r>
              <a:rPr lang="pl-PL" dirty="0"/>
              <a:t> </a:t>
            </a:r>
            <a:r>
              <a:rPr lang="pl-PL" dirty="0" err="1"/>
              <a:t>standardized</a:t>
            </a:r>
            <a:r>
              <a:rPr lang="pl-PL" dirty="0"/>
              <a:t> data</a:t>
            </a:r>
          </a:p>
        </p:txBody>
      </p:sp>
      <p:sp>
        <p:nvSpPr>
          <p:cNvPr id="3" name="Symbol zastępczy zawartości 2">
            <a:extLst>
              <a:ext uri="{FF2B5EF4-FFF2-40B4-BE49-F238E27FC236}">
                <a16:creationId xmlns:a16="http://schemas.microsoft.com/office/drawing/2014/main" id="{CA1512CB-E121-40BE-B3E8-214559AC7C65}"/>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20D6E00E-84C0-4F32-8EC8-2BE7524968C2}"/>
              </a:ext>
            </a:extLst>
          </p:cNvPr>
          <p:cNvSpPr>
            <a:spLocks noGrp="1"/>
          </p:cNvSpPr>
          <p:nvPr>
            <p:ph type="sldNum" sz="quarter" idx="12"/>
          </p:nvPr>
        </p:nvSpPr>
        <p:spPr/>
        <p:txBody>
          <a:bodyPr/>
          <a:lstStyle/>
          <a:p>
            <a:fld id="{A7544F9A-EF6A-47CB-A458-C95835DAEA60}" type="slidenum">
              <a:rPr lang="pl-PL" smtClean="0"/>
              <a:t>71</a:t>
            </a:fld>
            <a:endParaRPr lang="pl-PL"/>
          </a:p>
        </p:txBody>
      </p:sp>
      <p:pic>
        <p:nvPicPr>
          <p:cNvPr id="5" name="Obraz 4">
            <a:extLst>
              <a:ext uri="{FF2B5EF4-FFF2-40B4-BE49-F238E27FC236}">
                <a16:creationId xmlns:a16="http://schemas.microsoft.com/office/drawing/2014/main" id="{9862B44A-5E63-435C-BDD2-34D2A42F5348}"/>
              </a:ext>
            </a:extLst>
          </p:cNvPr>
          <p:cNvPicPr>
            <a:picLocks noChangeAspect="1"/>
          </p:cNvPicPr>
          <p:nvPr/>
        </p:nvPicPr>
        <p:blipFill rotWithShape="1">
          <a:blip r:embed="rId2"/>
          <a:srcRect r="38208" b="55259"/>
          <a:stretch/>
        </p:blipFill>
        <p:spPr>
          <a:xfrm>
            <a:off x="1290320" y="1981199"/>
            <a:ext cx="9560560" cy="3893849"/>
          </a:xfrm>
          <a:prstGeom prst="rect">
            <a:avLst/>
          </a:prstGeom>
        </p:spPr>
      </p:pic>
    </p:spTree>
    <p:extLst>
      <p:ext uri="{BB962C8B-B14F-4D97-AF65-F5344CB8AC3E}">
        <p14:creationId xmlns:p14="http://schemas.microsoft.com/office/powerpoint/2010/main" val="2859605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7B4EF5-6C6E-4CC8-A5E0-E79FCE945ABD}"/>
              </a:ext>
            </a:extLst>
          </p:cNvPr>
          <p:cNvSpPr>
            <a:spLocks noGrp="1"/>
          </p:cNvSpPr>
          <p:nvPr>
            <p:ph type="title"/>
          </p:nvPr>
        </p:nvSpPr>
        <p:spPr>
          <a:xfrm>
            <a:off x="838200" y="125730"/>
            <a:ext cx="10515600" cy="894714"/>
          </a:xfrm>
        </p:spPr>
        <p:txBody>
          <a:bodyPr/>
          <a:lstStyle/>
          <a:p>
            <a:pPr algn="ctr"/>
            <a:r>
              <a:rPr lang="pl-PL" dirty="0"/>
              <a:t>Import </a:t>
            </a:r>
            <a:r>
              <a:rPr lang="pl-PL" dirty="0" err="1"/>
              <a:t>this</a:t>
            </a:r>
            <a:r>
              <a:rPr lang="pl-PL" dirty="0"/>
              <a:t> data set </a:t>
            </a:r>
            <a:r>
              <a:rPr lang="pl-PL" dirty="0" err="1"/>
              <a:t>into</a:t>
            </a:r>
            <a:r>
              <a:rPr lang="pl-PL" dirty="0"/>
              <a:t> </a:t>
            </a:r>
            <a:r>
              <a:rPr lang="pl-PL" dirty="0" err="1"/>
              <a:t>RapidMiner</a:t>
            </a:r>
            <a:endParaRPr lang="pl-PL" dirty="0"/>
          </a:p>
        </p:txBody>
      </p:sp>
      <p:sp>
        <p:nvSpPr>
          <p:cNvPr id="3" name="Symbol zastępczy zawartości 2">
            <a:extLst>
              <a:ext uri="{FF2B5EF4-FFF2-40B4-BE49-F238E27FC236}">
                <a16:creationId xmlns:a16="http://schemas.microsoft.com/office/drawing/2014/main" id="{7A6E72EE-8FF5-4DFE-9B0F-493C919DF1F2}"/>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9C890DCA-5C0C-435F-923B-0D0DE36695EF}"/>
              </a:ext>
            </a:extLst>
          </p:cNvPr>
          <p:cNvSpPr>
            <a:spLocks noGrp="1"/>
          </p:cNvSpPr>
          <p:nvPr>
            <p:ph type="sldNum" sz="quarter" idx="12"/>
          </p:nvPr>
        </p:nvSpPr>
        <p:spPr/>
        <p:txBody>
          <a:bodyPr/>
          <a:lstStyle/>
          <a:p>
            <a:fld id="{A7544F9A-EF6A-47CB-A458-C95835DAEA60}" type="slidenum">
              <a:rPr lang="pl-PL" smtClean="0"/>
              <a:t>72</a:t>
            </a:fld>
            <a:endParaRPr lang="pl-PL"/>
          </a:p>
        </p:txBody>
      </p:sp>
      <p:pic>
        <p:nvPicPr>
          <p:cNvPr id="7" name="Obraz 6">
            <a:extLst>
              <a:ext uri="{FF2B5EF4-FFF2-40B4-BE49-F238E27FC236}">
                <a16:creationId xmlns:a16="http://schemas.microsoft.com/office/drawing/2014/main" id="{409FD764-5052-457E-980C-60BF1E37C9A9}"/>
              </a:ext>
            </a:extLst>
          </p:cNvPr>
          <p:cNvPicPr>
            <a:picLocks noChangeAspect="1"/>
          </p:cNvPicPr>
          <p:nvPr/>
        </p:nvPicPr>
        <p:blipFill>
          <a:blip r:embed="rId2"/>
          <a:stretch>
            <a:fillRect/>
          </a:stretch>
        </p:blipFill>
        <p:spPr>
          <a:xfrm>
            <a:off x="1211580" y="1199831"/>
            <a:ext cx="9768840" cy="5494973"/>
          </a:xfrm>
          <a:prstGeom prst="rect">
            <a:avLst/>
          </a:prstGeom>
        </p:spPr>
      </p:pic>
      <p:sp>
        <p:nvSpPr>
          <p:cNvPr id="8" name="Prostokąt 7">
            <a:extLst>
              <a:ext uri="{FF2B5EF4-FFF2-40B4-BE49-F238E27FC236}">
                <a16:creationId xmlns:a16="http://schemas.microsoft.com/office/drawing/2014/main" id="{45219E9B-8680-44E4-8023-68F5DA8C8EA2}"/>
              </a:ext>
            </a:extLst>
          </p:cNvPr>
          <p:cNvSpPr/>
          <p:nvPr/>
        </p:nvSpPr>
        <p:spPr>
          <a:xfrm>
            <a:off x="4084320" y="1825625"/>
            <a:ext cx="1798320" cy="7854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899224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5C4921-99CE-4A0B-9429-B567847D657F}"/>
              </a:ext>
            </a:extLst>
          </p:cNvPr>
          <p:cNvSpPr>
            <a:spLocks noGrp="1"/>
          </p:cNvSpPr>
          <p:nvPr>
            <p:ph type="title"/>
          </p:nvPr>
        </p:nvSpPr>
        <p:spPr/>
        <p:txBody>
          <a:bodyPr/>
          <a:lstStyle/>
          <a:p>
            <a:pPr algn="ctr"/>
            <a:r>
              <a:rPr lang="pl-PL" dirty="0"/>
              <a:t>Import </a:t>
            </a:r>
            <a:r>
              <a:rPr lang="pl-PL" dirty="0" err="1"/>
              <a:t>this</a:t>
            </a:r>
            <a:r>
              <a:rPr lang="pl-PL" dirty="0"/>
              <a:t> set </a:t>
            </a:r>
            <a:r>
              <a:rPr lang="pl-PL" dirty="0" err="1"/>
              <a:t>into</a:t>
            </a:r>
            <a:r>
              <a:rPr lang="pl-PL" dirty="0"/>
              <a:t> </a:t>
            </a:r>
            <a:r>
              <a:rPr lang="pl-PL" dirty="0" err="1"/>
              <a:t>RapidMiner</a:t>
            </a:r>
            <a:endParaRPr lang="pl-PL" dirty="0"/>
          </a:p>
        </p:txBody>
      </p:sp>
      <p:sp>
        <p:nvSpPr>
          <p:cNvPr id="3" name="Symbol zastępczy zawartości 2">
            <a:extLst>
              <a:ext uri="{FF2B5EF4-FFF2-40B4-BE49-F238E27FC236}">
                <a16:creationId xmlns:a16="http://schemas.microsoft.com/office/drawing/2014/main" id="{7FF91F25-4FBB-4CA4-AD68-22C2CF77B509}"/>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95C2A955-A552-4680-A67D-669358279E1B}"/>
              </a:ext>
            </a:extLst>
          </p:cNvPr>
          <p:cNvSpPr>
            <a:spLocks noGrp="1"/>
          </p:cNvSpPr>
          <p:nvPr>
            <p:ph type="sldNum" sz="quarter" idx="12"/>
          </p:nvPr>
        </p:nvSpPr>
        <p:spPr/>
        <p:txBody>
          <a:bodyPr/>
          <a:lstStyle/>
          <a:p>
            <a:fld id="{A7544F9A-EF6A-47CB-A458-C95835DAEA60}" type="slidenum">
              <a:rPr lang="pl-PL" smtClean="0"/>
              <a:t>73</a:t>
            </a:fld>
            <a:endParaRPr lang="pl-PL"/>
          </a:p>
        </p:txBody>
      </p:sp>
      <p:pic>
        <p:nvPicPr>
          <p:cNvPr id="6" name="Obraz 5">
            <a:extLst>
              <a:ext uri="{FF2B5EF4-FFF2-40B4-BE49-F238E27FC236}">
                <a16:creationId xmlns:a16="http://schemas.microsoft.com/office/drawing/2014/main" id="{4D444358-3C1B-4B44-A6F1-EC61DA11D6ED}"/>
              </a:ext>
            </a:extLst>
          </p:cNvPr>
          <p:cNvPicPr>
            <a:picLocks noChangeAspect="1"/>
          </p:cNvPicPr>
          <p:nvPr/>
        </p:nvPicPr>
        <p:blipFill>
          <a:blip r:embed="rId2"/>
          <a:stretch>
            <a:fillRect/>
          </a:stretch>
        </p:blipFill>
        <p:spPr>
          <a:xfrm>
            <a:off x="1468120" y="1690688"/>
            <a:ext cx="9255760" cy="5206365"/>
          </a:xfrm>
          <a:prstGeom prst="rect">
            <a:avLst/>
          </a:prstGeom>
        </p:spPr>
      </p:pic>
    </p:spTree>
    <p:extLst>
      <p:ext uri="{BB962C8B-B14F-4D97-AF65-F5344CB8AC3E}">
        <p14:creationId xmlns:p14="http://schemas.microsoft.com/office/powerpoint/2010/main" val="31287743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BD63E32-34A4-4CB6-B7D0-E026B334F933}"/>
              </a:ext>
            </a:extLst>
          </p:cNvPr>
          <p:cNvSpPr>
            <a:spLocks noGrp="1"/>
          </p:cNvSpPr>
          <p:nvPr>
            <p:ph type="title"/>
          </p:nvPr>
        </p:nvSpPr>
        <p:spPr/>
        <p:txBody>
          <a:bodyPr/>
          <a:lstStyle/>
          <a:p>
            <a:r>
              <a:rPr lang="pl-PL" dirty="0"/>
              <a:t>Drag and drop </a:t>
            </a:r>
            <a:r>
              <a:rPr lang="pl-PL" dirty="0" err="1"/>
              <a:t>an</a:t>
            </a:r>
            <a:r>
              <a:rPr lang="pl-PL" dirty="0"/>
              <a:t> extra „</a:t>
            </a:r>
            <a:r>
              <a:rPr lang="pl-PL" dirty="0" err="1"/>
              <a:t>Retrieve</a:t>
            </a:r>
            <a:r>
              <a:rPr lang="pl-PL" dirty="0"/>
              <a:t>” operator</a:t>
            </a:r>
          </a:p>
        </p:txBody>
      </p:sp>
      <p:sp>
        <p:nvSpPr>
          <p:cNvPr id="3" name="Symbol zastępczy zawartości 2">
            <a:extLst>
              <a:ext uri="{FF2B5EF4-FFF2-40B4-BE49-F238E27FC236}">
                <a16:creationId xmlns:a16="http://schemas.microsoft.com/office/drawing/2014/main" id="{F83A858A-7492-49C0-BCFA-057A7A4E707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D47A8B11-55A1-4E4E-B114-A4BDD6F14968}"/>
              </a:ext>
            </a:extLst>
          </p:cNvPr>
          <p:cNvSpPr>
            <a:spLocks noGrp="1"/>
          </p:cNvSpPr>
          <p:nvPr>
            <p:ph type="sldNum" sz="quarter" idx="12"/>
          </p:nvPr>
        </p:nvSpPr>
        <p:spPr/>
        <p:txBody>
          <a:bodyPr/>
          <a:lstStyle/>
          <a:p>
            <a:fld id="{A7544F9A-EF6A-47CB-A458-C95835DAEA60}" type="slidenum">
              <a:rPr lang="pl-PL" smtClean="0"/>
              <a:t>74</a:t>
            </a:fld>
            <a:endParaRPr lang="pl-PL"/>
          </a:p>
        </p:txBody>
      </p:sp>
      <p:pic>
        <p:nvPicPr>
          <p:cNvPr id="7" name="Obraz 6">
            <a:extLst>
              <a:ext uri="{FF2B5EF4-FFF2-40B4-BE49-F238E27FC236}">
                <a16:creationId xmlns:a16="http://schemas.microsoft.com/office/drawing/2014/main" id="{AEF022FF-4C12-470A-B279-1697538AA120}"/>
              </a:ext>
            </a:extLst>
          </p:cNvPr>
          <p:cNvPicPr>
            <a:picLocks noChangeAspect="1"/>
          </p:cNvPicPr>
          <p:nvPr/>
        </p:nvPicPr>
        <p:blipFill>
          <a:blip r:embed="rId2"/>
          <a:stretch>
            <a:fillRect/>
          </a:stretch>
        </p:blipFill>
        <p:spPr>
          <a:xfrm>
            <a:off x="1158240" y="1501775"/>
            <a:ext cx="9570720" cy="5383530"/>
          </a:xfrm>
          <a:prstGeom prst="rect">
            <a:avLst/>
          </a:prstGeom>
        </p:spPr>
      </p:pic>
    </p:spTree>
    <p:extLst>
      <p:ext uri="{BB962C8B-B14F-4D97-AF65-F5344CB8AC3E}">
        <p14:creationId xmlns:p14="http://schemas.microsoft.com/office/powerpoint/2010/main" val="16461544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1010910-F5C8-4CAB-967D-BCE4178A5603}"/>
              </a:ext>
            </a:extLst>
          </p:cNvPr>
          <p:cNvSpPr>
            <a:spLocks noGrp="1"/>
          </p:cNvSpPr>
          <p:nvPr>
            <p:ph type="title"/>
          </p:nvPr>
        </p:nvSpPr>
        <p:spPr>
          <a:xfrm>
            <a:off x="756920" y="-15082"/>
            <a:ext cx="10515600" cy="1325563"/>
          </a:xfrm>
        </p:spPr>
        <p:txBody>
          <a:bodyPr>
            <a:normAutofit fontScale="90000"/>
          </a:bodyPr>
          <a:lstStyle/>
          <a:p>
            <a:pPr algn="ctr"/>
            <a:r>
              <a:rPr lang="pl-PL" sz="3200" dirty="0"/>
              <a:t>Drag and drop </a:t>
            </a:r>
            <a:r>
              <a:rPr lang="pl-PL" sz="3200" dirty="0" err="1"/>
              <a:t>an</a:t>
            </a:r>
            <a:r>
              <a:rPr lang="pl-PL" sz="3200" dirty="0"/>
              <a:t> extra „Set Role”,„</a:t>
            </a:r>
            <a:r>
              <a:rPr lang="pl-PL" sz="3200" dirty="0" err="1"/>
              <a:t>Apply</a:t>
            </a:r>
            <a:r>
              <a:rPr lang="pl-PL" sz="3200" dirty="0"/>
              <a:t> model” and „Performance” </a:t>
            </a:r>
            <a:r>
              <a:rPr lang="pl-PL" sz="3200" dirty="0" err="1"/>
              <a:t>operators</a:t>
            </a:r>
            <a:r>
              <a:rPr lang="pl-PL" sz="3200" dirty="0"/>
              <a:t>, </a:t>
            </a:r>
            <a:r>
              <a:rPr lang="pl-PL" sz="3200" dirty="0" err="1"/>
              <a:t>use</a:t>
            </a:r>
            <a:r>
              <a:rPr lang="pl-PL" sz="3200" dirty="0"/>
              <a:t> </a:t>
            </a:r>
            <a:r>
              <a:rPr lang="pl-PL" sz="3200" dirty="0" err="1"/>
              <a:t>Multiply</a:t>
            </a:r>
            <a:r>
              <a:rPr lang="pl-PL" sz="3200" dirty="0"/>
              <a:t> operator to </a:t>
            </a:r>
            <a:r>
              <a:rPr lang="pl-PL" sz="3200" dirty="0" err="1"/>
              <a:t>multiply</a:t>
            </a:r>
            <a:r>
              <a:rPr lang="pl-PL" sz="3200" dirty="0"/>
              <a:t> the model </a:t>
            </a:r>
            <a:r>
              <a:rPr lang="pl-PL" sz="3200" dirty="0" err="1"/>
              <a:t>output</a:t>
            </a:r>
            <a:endParaRPr lang="pl-PL" sz="3200" dirty="0"/>
          </a:p>
        </p:txBody>
      </p:sp>
      <p:sp>
        <p:nvSpPr>
          <p:cNvPr id="3" name="Symbol zastępczy zawartości 2">
            <a:extLst>
              <a:ext uri="{FF2B5EF4-FFF2-40B4-BE49-F238E27FC236}">
                <a16:creationId xmlns:a16="http://schemas.microsoft.com/office/drawing/2014/main" id="{3CD3CD30-D91E-4C00-A88D-00945E559EA1}"/>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ABE995A7-173C-483A-A6E8-95FCF2C759EB}"/>
              </a:ext>
            </a:extLst>
          </p:cNvPr>
          <p:cNvSpPr>
            <a:spLocks noGrp="1"/>
          </p:cNvSpPr>
          <p:nvPr>
            <p:ph type="sldNum" sz="quarter" idx="12"/>
          </p:nvPr>
        </p:nvSpPr>
        <p:spPr/>
        <p:txBody>
          <a:bodyPr/>
          <a:lstStyle/>
          <a:p>
            <a:fld id="{A7544F9A-EF6A-47CB-A458-C95835DAEA60}" type="slidenum">
              <a:rPr lang="pl-PL" smtClean="0"/>
              <a:t>75</a:t>
            </a:fld>
            <a:endParaRPr lang="pl-PL"/>
          </a:p>
        </p:txBody>
      </p:sp>
      <p:pic>
        <p:nvPicPr>
          <p:cNvPr id="8" name="Obraz 7">
            <a:extLst>
              <a:ext uri="{FF2B5EF4-FFF2-40B4-BE49-F238E27FC236}">
                <a16:creationId xmlns:a16="http://schemas.microsoft.com/office/drawing/2014/main" id="{8177C1BB-16F3-4841-9B95-CEDDA0608E62}"/>
              </a:ext>
            </a:extLst>
          </p:cNvPr>
          <p:cNvPicPr>
            <a:picLocks noChangeAspect="1"/>
          </p:cNvPicPr>
          <p:nvPr/>
        </p:nvPicPr>
        <p:blipFill>
          <a:blip r:embed="rId2"/>
          <a:stretch>
            <a:fillRect/>
          </a:stretch>
        </p:blipFill>
        <p:spPr>
          <a:xfrm>
            <a:off x="822962" y="1463040"/>
            <a:ext cx="9753598" cy="5486399"/>
          </a:xfrm>
          <a:prstGeom prst="rect">
            <a:avLst/>
          </a:prstGeom>
        </p:spPr>
      </p:pic>
    </p:spTree>
    <p:extLst>
      <p:ext uri="{BB962C8B-B14F-4D97-AF65-F5344CB8AC3E}">
        <p14:creationId xmlns:p14="http://schemas.microsoft.com/office/powerpoint/2010/main" val="19542409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CEBB130-8913-4111-BF81-E09685D48B12}"/>
              </a:ext>
            </a:extLst>
          </p:cNvPr>
          <p:cNvSpPr>
            <a:spLocks noGrp="1"/>
          </p:cNvSpPr>
          <p:nvPr>
            <p:ph type="title"/>
          </p:nvPr>
        </p:nvSpPr>
        <p:spPr>
          <a:xfrm>
            <a:off x="0" y="18255"/>
            <a:ext cx="12192000" cy="1325563"/>
          </a:xfrm>
        </p:spPr>
        <p:txBody>
          <a:bodyPr/>
          <a:lstStyle/>
          <a:p>
            <a:r>
              <a:rPr lang="pl-PL" dirty="0"/>
              <a:t>LDA </a:t>
            </a:r>
            <a:r>
              <a:rPr lang="pl-PL" dirty="0" err="1"/>
              <a:t>returned</a:t>
            </a:r>
            <a:r>
              <a:rPr lang="pl-PL" dirty="0"/>
              <a:t> </a:t>
            </a:r>
            <a:r>
              <a:rPr lang="pl-PL" dirty="0" err="1"/>
              <a:t>its</a:t>
            </a:r>
            <a:r>
              <a:rPr lang="pl-PL" dirty="0"/>
              <a:t> </a:t>
            </a:r>
            <a:r>
              <a:rPr lang="pl-PL" dirty="0" err="1"/>
              <a:t>classification</a:t>
            </a:r>
            <a:r>
              <a:rPr lang="pl-PL" dirty="0"/>
              <a:t> of the </a:t>
            </a:r>
            <a:r>
              <a:rPr lang="pl-PL" dirty="0" err="1"/>
              <a:t>new</a:t>
            </a:r>
            <a:r>
              <a:rPr lang="pl-PL" dirty="0"/>
              <a:t> </a:t>
            </a:r>
            <a:r>
              <a:rPr lang="pl-PL" dirty="0" err="1"/>
              <a:t>observation</a:t>
            </a:r>
            <a:endParaRPr lang="pl-PL" dirty="0"/>
          </a:p>
        </p:txBody>
      </p:sp>
      <p:sp>
        <p:nvSpPr>
          <p:cNvPr id="3" name="Symbol zastępczy zawartości 2">
            <a:extLst>
              <a:ext uri="{FF2B5EF4-FFF2-40B4-BE49-F238E27FC236}">
                <a16:creationId xmlns:a16="http://schemas.microsoft.com/office/drawing/2014/main" id="{08336E2A-3B9A-496D-A42D-3C5BD96FFD91}"/>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06E78FAC-1FE6-4042-8876-81615DD00632}"/>
              </a:ext>
            </a:extLst>
          </p:cNvPr>
          <p:cNvSpPr>
            <a:spLocks noGrp="1"/>
          </p:cNvSpPr>
          <p:nvPr>
            <p:ph type="sldNum" sz="quarter" idx="12"/>
          </p:nvPr>
        </p:nvSpPr>
        <p:spPr/>
        <p:txBody>
          <a:bodyPr/>
          <a:lstStyle/>
          <a:p>
            <a:fld id="{A7544F9A-EF6A-47CB-A458-C95835DAEA60}" type="slidenum">
              <a:rPr lang="pl-PL" smtClean="0"/>
              <a:t>76</a:t>
            </a:fld>
            <a:endParaRPr lang="pl-PL"/>
          </a:p>
        </p:txBody>
      </p:sp>
      <p:pic>
        <p:nvPicPr>
          <p:cNvPr id="5" name="Obraz 4">
            <a:extLst>
              <a:ext uri="{FF2B5EF4-FFF2-40B4-BE49-F238E27FC236}">
                <a16:creationId xmlns:a16="http://schemas.microsoft.com/office/drawing/2014/main" id="{27E1DD35-0E6B-4DB1-A5F7-E14992E70387}"/>
              </a:ext>
            </a:extLst>
          </p:cNvPr>
          <p:cNvPicPr>
            <a:picLocks noChangeAspect="1"/>
          </p:cNvPicPr>
          <p:nvPr/>
        </p:nvPicPr>
        <p:blipFill>
          <a:blip r:embed="rId2"/>
          <a:stretch>
            <a:fillRect/>
          </a:stretch>
        </p:blipFill>
        <p:spPr>
          <a:xfrm>
            <a:off x="838200" y="1412240"/>
            <a:ext cx="9681351" cy="5445760"/>
          </a:xfrm>
          <a:prstGeom prst="rect">
            <a:avLst/>
          </a:prstGeom>
        </p:spPr>
      </p:pic>
    </p:spTree>
    <p:extLst>
      <p:ext uri="{BB962C8B-B14F-4D97-AF65-F5344CB8AC3E}">
        <p14:creationId xmlns:p14="http://schemas.microsoft.com/office/powerpoint/2010/main" val="1738781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49EE87F-4CD4-4D07-AC32-4D51C6A95E47}"/>
              </a:ext>
            </a:extLst>
          </p:cNvPr>
          <p:cNvSpPr>
            <a:spLocks noGrp="1"/>
          </p:cNvSpPr>
          <p:nvPr>
            <p:ph type="title"/>
          </p:nvPr>
        </p:nvSpPr>
        <p:spPr/>
        <p:txBody>
          <a:bodyPr/>
          <a:lstStyle/>
          <a:p>
            <a:r>
              <a:rPr lang="pl-PL" dirty="0" err="1"/>
              <a:t>Now</a:t>
            </a:r>
            <a:r>
              <a:rPr lang="pl-PL" dirty="0"/>
              <a:t>, </a:t>
            </a:r>
            <a:r>
              <a:rPr lang="pl-PL" dirty="0" err="1"/>
              <a:t>let</a:t>
            </a:r>
            <a:r>
              <a:rPr lang="pl-PL" dirty="0"/>
              <a:t> </a:t>
            </a:r>
            <a:r>
              <a:rPr lang="pl-PL" dirty="0" err="1"/>
              <a:t>us</a:t>
            </a:r>
            <a:r>
              <a:rPr lang="pl-PL" dirty="0"/>
              <a:t> </a:t>
            </a:r>
            <a:r>
              <a:rPr lang="pl-PL" dirty="0" err="1"/>
              <a:t>try</a:t>
            </a:r>
            <a:r>
              <a:rPr lang="pl-PL" dirty="0"/>
              <a:t> the same model with </a:t>
            </a:r>
            <a:r>
              <a:rPr lang="pl-PL" dirty="0" err="1"/>
              <a:t>Iris</a:t>
            </a:r>
            <a:r>
              <a:rPr lang="pl-PL" dirty="0"/>
              <a:t> data</a:t>
            </a:r>
          </a:p>
        </p:txBody>
      </p:sp>
      <p:sp>
        <p:nvSpPr>
          <p:cNvPr id="3" name="Symbol zastępczy tekstu 2">
            <a:extLst>
              <a:ext uri="{FF2B5EF4-FFF2-40B4-BE49-F238E27FC236}">
                <a16:creationId xmlns:a16="http://schemas.microsoft.com/office/drawing/2014/main" id="{A17BE542-A718-4660-82DE-2C462C910572}"/>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F1EAB72E-8938-4EEF-A8BF-152829B8FACA}"/>
              </a:ext>
            </a:extLst>
          </p:cNvPr>
          <p:cNvSpPr>
            <a:spLocks noGrp="1"/>
          </p:cNvSpPr>
          <p:nvPr>
            <p:ph type="sldNum" sz="quarter" idx="12"/>
          </p:nvPr>
        </p:nvSpPr>
        <p:spPr/>
        <p:txBody>
          <a:bodyPr/>
          <a:lstStyle/>
          <a:p>
            <a:fld id="{A7544F9A-EF6A-47CB-A458-C95835DAEA60}" type="slidenum">
              <a:rPr lang="pl-PL" smtClean="0"/>
              <a:t>77</a:t>
            </a:fld>
            <a:endParaRPr lang="pl-PL"/>
          </a:p>
        </p:txBody>
      </p:sp>
    </p:spTree>
    <p:extLst>
      <p:ext uri="{BB962C8B-B14F-4D97-AF65-F5344CB8AC3E}">
        <p14:creationId xmlns:p14="http://schemas.microsoft.com/office/powerpoint/2010/main" val="4063773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0" y="0"/>
            <a:ext cx="12192000" cy="1585912"/>
          </a:xfrm>
        </p:spPr>
        <p:txBody>
          <a:bodyPr>
            <a:normAutofit fontScale="90000"/>
          </a:bodyPr>
          <a:lstStyle/>
          <a:p>
            <a:pPr algn="ctr"/>
            <a:r>
              <a:rPr lang="pl-PL" dirty="0" err="1"/>
              <a:t>Firstly</a:t>
            </a:r>
            <a:r>
              <a:rPr lang="pl-PL" dirty="0"/>
              <a:t>, </a:t>
            </a:r>
            <a:r>
              <a:rPr lang="pl-PL" dirty="0" err="1"/>
              <a:t>let</a:t>
            </a:r>
            <a:r>
              <a:rPr lang="pl-PL" dirty="0"/>
              <a:t> </a:t>
            </a:r>
            <a:r>
              <a:rPr lang="pl-PL" dirty="0" err="1"/>
              <a:t>us</a:t>
            </a:r>
            <a:r>
              <a:rPr lang="pl-PL" dirty="0"/>
              <a:t> </a:t>
            </a:r>
            <a:r>
              <a:rPr lang="pl-PL" dirty="0" err="1"/>
              <a:t>normalize</a:t>
            </a:r>
            <a:r>
              <a:rPr lang="pl-PL" dirty="0"/>
              <a:t> the data and </a:t>
            </a:r>
            <a:r>
              <a:rPr lang="pl-PL" dirty="0" err="1"/>
              <a:t>create</a:t>
            </a:r>
            <a:r>
              <a:rPr lang="pl-PL" dirty="0"/>
              <a:t> a </a:t>
            </a:r>
            <a:r>
              <a:rPr lang="pl-PL" dirty="0" err="1"/>
              <a:t>couple</a:t>
            </a:r>
            <a:r>
              <a:rPr lang="pl-PL" dirty="0"/>
              <a:t> of </a:t>
            </a:r>
            <a:r>
              <a:rPr lang="pl-PL" dirty="0" err="1"/>
              <a:t>new</a:t>
            </a:r>
            <a:r>
              <a:rPr lang="pl-PL" dirty="0"/>
              <a:t> </a:t>
            </a:r>
            <a:r>
              <a:rPr lang="pl-PL" dirty="0" err="1"/>
              <a:t>observation</a:t>
            </a:r>
            <a:r>
              <a:rPr lang="pl-PL" dirty="0"/>
              <a:t> – open </a:t>
            </a:r>
            <a:r>
              <a:rPr lang="pl-PL" dirty="0" err="1"/>
              <a:t>Iris</a:t>
            </a:r>
            <a:r>
              <a:rPr lang="pl-PL" dirty="0"/>
              <a:t> data set in </a:t>
            </a:r>
            <a:r>
              <a:rPr lang="pl-PL" dirty="0" err="1"/>
              <a:t>Rapid</a:t>
            </a:r>
            <a:r>
              <a:rPr lang="pl-PL" dirty="0"/>
              <a:t> Miner – </a:t>
            </a:r>
            <a:r>
              <a:rPr lang="pl-PL" dirty="0" err="1"/>
              <a:t>copy</a:t>
            </a:r>
            <a:r>
              <a:rPr lang="pl-PL" dirty="0"/>
              <a:t> </a:t>
            </a:r>
            <a:r>
              <a:rPr lang="pl-PL" dirty="0" err="1"/>
              <a:t>it</a:t>
            </a:r>
            <a:r>
              <a:rPr lang="pl-PL" dirty="0"/>
              <a:t> and </a:t>
            </a:r>
            <a:r>
              <a:rPr lang="pl-PL" dirty="0" err="1"/>
              <a:t>paste</a:t>
            </a:r>
            <a:r>
              <a:rPr lang="pl-PL" dirty="0"/>
              <a:t> </a:t>
            </a:r>
            <a:r>
              <a:rPr lang="pl-PL" dirty="0" err="1"/>
              <a:t>into</a:t>
            </a:r>
            <a:r>
              <a:rPr lang="pl-PL" dirty="0"/>
              <a:t> Ms Excel</a:t>
            </a:r>
          </a:p>
        </p:txBody>
      </p:sp>
      <p:pic>
        <p:nvPicPr>
          <p:cNvPr id="5" name="Symbol zastępczy zawartości 4">
            <a:extLst>
              <a:ext uri="{FF2B5EF4-FFF2-40B4-BE49-F238E27FC236}">
                <a16:creationId xmlns:a16="http://schemas.microsoft.com/office/drawing/2014/main" id="{9746E088-1413-4E33-BF21-334F3944CB8D}"/>
              </a:ext>
            </a:extLst>
          </p:cNvPr>
          <p:cNvPicPr>
            <a:picLocks noGrp="1" noChangeAspect="1"/>
          </p:cNvPicPr>
          <p:nvPr>
            <p:ph idx="1"/>
          </p:nvPr>
        </p:nvPicPr>
        <p:blipFill>
          <a:blip r:embed="rId2"/>
          <a:stretch>
            <a:fillRect/>
          </a:stretch>
        </p:blipFill>
        <p:spPr>
          <a:xfrm>
            <a:off x="1294765" y="1585912"/>
            <a:ext cx="9372600" cy="5272088"/>
          </a:xfrm>
          <a:prstGeom prst="rect">
            <a:avLst/>
          </a:prstGeom>
        </p:spPr>
      </p:pic>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78</a:t>
            </a:fld>
            <a:endParaRPr lang="pl-PL"/>
          </a:p>
        </p:txBody>
      </p:sp>
    </p:spTree>
    <p:extLst>
      <p:ext uri="{BB962C8B-B14F-4D97-AF65-F5344CB8AC3E}">
        <p14:creationId xmlns:p14="http://schemas.microsoft.com/office/powerpoint/2010/main" val="32781230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0" y="0"/>
            <a:ext cx="12192000" cy="945515"/>
          </a:xfrm>
        </p:spPr>
        <p:txBody>
          <a:bodyPr>
            <a:normAutofit fontScale="90000"/>
          </a:bodyPr>
          <a:lstStyle/>
          <a:p>
            <a:pPr algn="ctr"/>
            <a:r>
              <a:rPr lang="pl-PL" dirty="0" err="1"/>
              <a:t>Firstly</a:t>
            </a:r>
            <a:r>
              <a:rPr lang="pl-PL" dirty="0"/>
              <a:t>, </a:t>
            </a:r>
            <a:r>
              <a:rPr lang="pl-PL" dirty="0" err="1"/>
              <a:t>let</a:t>
            </a:r>
            <a:r>
              <a:rPr lang="pl-PL" dirty="0"/>
              <a:t> </a:t>
            </a:r>
            <a:r>
              <a:rPr lang="pl-PL" dirty="0" err="1"/>
              <a:t>us</a:t>
            </a:r>
            <a:r>
              <a:rPr lang="pl-PL" dirty="0"/>
              <a:t> </a:t>
            </a:r>
            <a:r>
              <a:rPr lang="pl-PL" dirty="0" err="1"/>
              <a:t>normalize</a:t>
            </a:r>
            <a:r>
              <a:rPr lang="pl-PL" dirty="0"/>
              <a:t> the data and </a:t>
            </a:r>
            <a:r>
              <a:rPr lang="pl-PL" dirty="0" err="1"/>
              <a:t>create</a:t>
            </a:r>
            <a:r>
              <a:rPr lang="pl-PL" dirty="0"/>
              <a:t> a </a:t>
            </a:r>
            <a:r>
              <a:rPr lang="pl-PL" dirty="0" err="1"/>
              <a:t>couple</a:t>
            </a:r>
            <a:r>
              <a:rPr lang="pl-PL" dirty="0"/>
              <a:t> of </a:t>
            </a:r>
            <a:r>
              <a:rPr lang="pl-PL" dirty="0" err="1"/>
              <a:t>new</a:t>
            </a:r>
            <a:r>
              <a:rPr lang="pl-PL" dirty="0"/>
              <a:t> </a:t>
            </a:r>
            <a:r>
              <a:rPr lang="pl-PL" dirty="0" err="1"/>
              <a:t>observations</a:t>
            </a:r>
            <a:r>
              <a:rPr lang="pl-PL" dirty="0"/>
              <a:t> – </a:t>
            </a:r>
            <a:r>
              <a:rPr lang="pl-PL" dirty="0" err="1"/>
              <a:t>firstly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79</a:t>
            </a:fld>
            <a:endParaRPr lang="pl-PL"/>
          </a:p>
        </p:txBody>
      </p:sp>
      <p:pic>
        <p:nvPicPr>
          <p:cNvPr id="6" name="Obraz 5">
            <a:extLst>
              <a:ext uri="{FF2B5EF4-FFF2-40B4-BE49-F238E27FC236}">
                <a16:creationId xmlns:a16="http://schemas.microsoft.com/office/drawing/2014/main" id="{47057B34-F36A-42C9-8EAD-F7BD2D466F1F}"/>
              </a:ext>
            </a:extLst>
          </p:cNvPr>
          <p:cNvPicPr>
            <a:picLocks noChangeAspect="1"/>
          </p:cNvPicPr>
          <p:nvPr/>
        </p:nvPicPr>
        <p:blipFill>
          <a:blip r:embed="rId2"/>
          <a:stretch>
            <a:fillRect/>
          </a:stretch>
        </p:blipFill>
        <p:spPr>
          <a:xfrm>
            <a:off x="838200" y="1083943"/>
            <a:ext cx="9814560" cy="5520690"/>
          </a:xfrm>
          <a:prstGeom prst="rect">
            <a:avLst/>
          </a:prstGeom>
        </p:spPr>
      </p:pic>
    </p:spTree>
    <p:extLst>
      <p:ext uri="{BB962C8B-B14F-4D97-AF65-F5344CB8AC3E}">
        <p14:creationId xmlns:p14="http://schemas.microsoft.com/office/powerpoint/2010/main" val="4870103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0" y="0"/>
            <a:ext cx="12192000" cy="945515"/>
          </a:xfrm>
        </p:spPr>
        <p:txBody>
          <a:bodyPr>
            <a:normAutofit fontScale="90000"/>
          </a:bodyPr>
          <a:lstStyle/>
          <a:p>
            <a:pPr algn="ctr"/>
            <a:r>
              <a:rPr lang="pl-PL" dirty="0" err="1"/>
              <a:t>Firstly</a:t>
            </a:r>
            <a:r>
              <a:rPr lang="pl-PL" dirty="0"/>
              <a:t>, </a:t>
            </a:r>
            <a:r>
              <a:rPr lang="pl-PL" dirty="0" err="1"/>
              <a:t>let</a:t>
            </a:r>
            <a:r>
              <a:rPr lang="pl-PL" dirty="0"/>
              <a:t> </a:t>
            </a:r>
            <a:r>
              <a:rPr lang="pl-PL" dirty="0" err="1"/>
              <a:t>us</a:t>
            </a:r>
            <a:r>
              <a:rPr lang="pl-PL" dirty="0"/>
              <a:t> </a:t>
            </a:r>
            <a:r>
              <a:rPr lang="pl-PL" dirty="0" err="1"/>
              <a:t>normalize</a:t>
            </a:r>
            <a:r>
              <a:rPr lang="pl-PL" dirty="0"/>
              <a:t> the data and </a:t>
            </a:r>
            <a:r>
              <a:rPr lang="pl-PL" dirty="0" err="1"/>
              <a:t>create</a:t>
            </a:r>
            <a:r>
              <a:rPr lang="pl-PL" dirty="0"/>
              <a:t> a </a:t>
            </a:r>
            <a:r>
              <a:rPr lang="pl-PL" dirty="0" err="1"/>
              <a:t>couple</a:t>
            </a:r>
            <a:r>
              <a:rPr lang="pl-PL" dirty="0"/>
              <a:t> of </a:t>
            </a:r>
            <a:r>
              <a:rPr lang="pl-PL" dirty="0" err="1"/>
              <a:t>new</a:t>
            </a:r>
            <a:r>
              <a:rPr lang="pl-PL" dirty="0"/>
              <a:t> </a:t>
            </a:r>
            <a:r>
              <a:rPr lang="pl-PL" dirty="0" err="1"/>
              <a:t>observations</a:t>
            </a:r>
            <a:r>
              <a:rPr lang="pl-PL" dirty="0"/>
              <a:t> – </a:t>
            </a:r>
            <a:r>
              <a:rPr lang="pl-PL" dirty="0" err="1"/>
              <a:t>firstly</a:t>
            </a:r>
            <a:r>
              <a:rPr lang="pl-PL" dirty="0"/>
              <a:t> </a:t>
            </a:r>
            <a:r>
              <a:rPr lang="pl-PL" dirty="0" err="1"/>
              <a:t>standardization</a:t>
            </a:r>
            <a:endParaRPr lang="pl-PL" dirty="0"/>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80</a:t>
            </a:fld>
            <a:endParaRPr lang="pl-PL"/>
          </a:p>
        </p:txBody>
      </p:sp>
      <p:pic>
        <p:nvPicPr>
          <p:cNvPr id="5" name="Obraz 4">
            <a:extLst>
              <a:ext uri="{FF2B5EF4-FFF2-40B4-BE49-F238E27FC236}">
                <a16:creationId xmlns:a16="http://schemas.microsoft.com/office/drawing/2014/main" id="{82F579A2-9BDA-4E99-B2A6-A4A12AA49F22}"/>
              </a:ext>
            </a:extLst>
          </p:cNvPr>
          <p:cNvPicPr>
            <a:picLocks noChangeAspect="1"/>
          </p:cNvPicPr>
          <p:nvPr/>
        </p:nvPicPr>
        <p:blipFill>
          <a:blip r:embed="rId2"/>
          <a:stretch>
            <a:fillRect/>
          </a:stretch>
        </p:blipFill>
        <p:spPr>
          <a:xfrm>
            <a:off x="1252220" y="1083943"/>
            <a:ext cx="9580880" cy="5389245"/>
          </a:xfrm>
          <a:prstGeom prst="rect">
            <a:avLst/>
          </a:prstGeom>
        </p:spPr>
      </p:pic>
    </p:spTree>
    <p:extLst>
      <p:ext uri="{BB962C8B-B14F-4D97-AF65-F5344CB8AC3E}">
        <p14:creationId xmlns:p14="http://schemas.microsoft.com/office/powerpoint/2010/main" val="3418753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0" y="0"/>
            <a:ext cx="12192000" cy="945515"/>
          </a:xfrm>
        </p:spPr>
        <p:txBody>
          <a:bodyPr>
            <a:noAutofit/>
          </a:bodyPr>
          <a:lstStyle/>
          <a:p>
            <a:pPr algn="ctr"/>
            <a:r>
              <a:rPr lang="pl-PL" sz="3600" dirty="0" err="1"/>
              <a:t>Firstly</a:t>
            </a:r>
            <a:r>
              <a:rPr lang="pl-PL" sz="3600" dirty="0"/>
              <a:t>, </a:t>
            </a:r>
            <a:r>
              <a:rPr lang="pl-PL" sz="3600" dirty="0" err="1"/>
              <a:t>let</a:t>
            </a:r>
            <a:r>
              <a:rPr lang="pl-PL" sz="3600" dirty="0"/>
              <a:t> </a:t>
            </a:r>
            <a:r>
              <a:rPr lang="pl-PL" sz="3600" dirty="0" err="1"/>
              <a:t>us</a:t>
            </a:r>
            <a:r>
              <a:rPr lang="pl-PL" sz="3600" dirty="0"/>
              <a:t> </a:t>
            </a:r>
            <a:r>
              <a:rPr lang="pl-PL" sz="3600" dirty="0" err="1"/>
              <a:t>normalize</a:t>
            </a:r>
            <a:r>
              <a:rPr lang="pl-PL" sz="3600" dirty="0"/>
              <a:t> the data and </a:t>
            </a:r>
            <a:r>
              <a:rPr lang="pl-PL" sz="3600" dirty="0" err="1"/>
              <a:t>create</a:t>
            </a:r>
            <a:r>
              <a:rPr lang="pl-PL" sz="3600" dirty="0"/>
              <a:t> a </a:t>
            </a:r>
            <a:r>
              <a:rPr lang="pl-PL" sz="3600" dirty="0" err="1"/>
              <a:t>couple</a:t>
            </a:r>
            <a:r>
              <a:rPr lang="pl-PL" sz="3600" dirty="0"/>
              <a:t> of </a:t>
            </a:r>
            <a:r>
              <a:rPr lang="pl-PL" sz="3600" dirty="0" err="1"/>
              <a:t>new</a:t>
            </a:r>
            <a:r>
              <a:rPr lang="pl-PL" sz="3600" dirty="0"/>
              <a:t> </a:t>
            </a:r>
            <a:r>
              <a:rPr lang="pl-PL" sz="3600" dirty="0" err="1"/>
              <a:t>observations</a:t>
            </a:r>
            <a:r>
              <a:rPr lang="pl-PL" sz="3600" dirty="0"/>
              <a:t> – </a:t>
            </a:r>
            <a:r>
              <a:rPr lang="pl-PL" sz="3600" dirty="0" err="1"/>
              <a:t>now</a:t>
            </a:r>
            <a:r>
              <a:rPr lang="pl-PL" sz="3600" dirty="0"/>
              <a:t>, </a:t>
            </a:r>
            <a:r>
              <a:rPr lang="pl-PL" sz="3600" dirty="0" err="1"/>
              <a:t>new</a:t>
            </a:r>
            <a:r>
              <a:rPr lang="pl-PL" sz="3600" dirty="0"/>
              <a:t> </a:t>
            </a:r>
            <a:r>
              <a:rPr lang="pl-PL" sz="3600" dirty="0" err="1"/>
              <a:t>observations</a:t>
            </a:r>
            <a:r>
              <a:rPr lang="pl-PL" sz="3600" dirty="0"/>
              <a:t> in a </a:t>
            </a:r>
            <a:r>
              <a:rPr lang="pl-PL" sz="3600" dirty="0" err="1"/>
              <a:t>separate</a:t>
            </a:r>
            <a:r>
              <a:rPr lang="pl-PL" sz="3600" dirty="0"/>
              <a:t> file</a:t>
            </a:r>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81</a:t>
            </a:fld>
            <a:endParaRPr lang="pl-PL"/>
          </a:p>
        </p:txBody>
      </p:sp>
      <p:pic>
        <p:nvPicPr>
          <p:cNvPr id="6" name="Obraz 5">
            <a:extLst>
              <a:ext uri="{FF2B5EF4-FFF2-40B4-BE49-F238E27FC236}">
                <a16:creationId xmlns:a16="http://schemas.microsoft.com/office/drawing/2014/main" id="{DF9915A2-E428-4DD4-8B60-7DE10059E7B0}"/>
              </a:ext>
            </a:extLst>
          </p:cNvPr>
          <p:cNvPicPr>
            <a:picLocks noChangeAspect="1"/>
          </p:cNvPicPr>
          <p:nvPr/>
        </p:nvPicPr>
        <p:blipFill>
          <a:blip r:embed="rId2"/>
          <a:stretch>
            <a:fillRect/>
          </a:stretch>
        </p:blipFill>
        <p:spPr>
          <a:xfrm>
            <a:off x="741680" y="1023620"/>
            <a:ext cx="10129520" cy="5697855"/>
          </a:xfrm>
          <a:prstGeom prst="rect">
            <a:avLst/>
          </a:prstGeom>
        </p:spPr>
      </p:pic>
    </p:spTree>
    <p:extLst>
      <p:ext uri="{BB962C8B-B14F-4D97-AF65-F5344CB8AC3E}">
        <p14:creationId xmlns:p14="http://schemas.microsoft.com/office/powerpoint/2010/main" val="7063925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0" y="0"/>
            <a:ext cx="12192000" cy="945515"/>
          </a:xfrm>
        </p:spPr>
        <p:txBody>
          <a:bodyPr>
            <a:noAutofit/>
          </a:bodyPr>
          <a:lstStyle/>
          <a:p>
            <a:pPr algn="ctr"/>
            <a:r>
              <a:rPr lang="pl-PL" sz="3600" dirty="0" err="1"/>
              <a:t>Firstly</a:t>
            </a:r>
            <a:r>
              <a:rPr lang="pl-PL" sz="3600" dirty="0"/>
              <a:t>, </a:t>
            </a:r>
            <a:r>
              <a:rPr lang="pl-PL" sz="3600" dirty="0" err="1"/>
              <a:t>let</a:t>
            </a:r>
            <a:r>
              <a:rPr lang="pl-PL" sz="3600" dirty="0"/>
              <a:t> </a:t>
            </a:r>
            <a:r>
              <a:rPr lang="pl-PL" sz="3600" dirty="0" err="1"/>
              <a:t>us</a:t>
            </a:r>
            <a:r>
              <a:rPr lang="pl-PL" sz="3600" dirty="0"/>
              <a:t> </a:t>
            </a:r>
            <a:r>
              <a:rPr lang="pl-PL" sz="3600" dirty="0" err="1"/>
              <a:t>normalize</a:t>
            </a:r>
            <a:r>
              <a:rPr lang="pl-PL" sz="3600" dirty="0"/>
              <a:t> the data and </a:t>
            </a:r>
            <a:r>
              <a:rPr lang="pl-PL" sz="3600" dirty="0" err="1"/>
              <a:t>create</a:t>
            </a:r>
            <a:r>
              <a:rPr lang="pl-PL" sz="3600" dirty="0"/>
              <a:t> a </a:t>
            </a:r>
            <a:r>
              <a:rPr lang="pl-PL" sz="3600" dirty="0" err="1"/>
              <a:t>couple</a:t>
            </a:r>
            <a:r>
              <a:rPr lang="pl-PL" sz="3600" dirty="0"/>
              <a:t> of </a:t>
            </a:r>
            <a:r>
              <a:rPr lang="pl-PL" sz="3600" dirty="0" err="1"/>
              <a:t>new</a:t>
            </a:r>
            <a:r>
              <a:rPr lang="pl-PL" sz="3600" dirty="0"/>
              <a:t> </a:t>
            </a:r>
            <a:r>
              <a:rPr lang="pl-PL" sz="3600" dirty="0" err="1"/>
              <a:t>observations</a:t>
            </a:r>
            <a:r>
              <a:rPr lang="pl-PL" sz="3600" dirty="0"/>
              <a:t> – </a:t>
            </a:r>
            <a:r>
              <a:rPr lang="pl-PL" sz="3600" dirty="0" err="1"/>
              <a:t>now</a:t>
            </a:r>
            <a:r>
              <a:rPr lang="pl-PL" sz="3600" dirty="0"/>
              <a:t>, </a:t>
            </a:r>
            <a:r>
              <a:rPr lang="pl-PL" sz="3600" dirty="0" err="1"/>
              <a:t>new</a:t>
            </a:r>
            <a:r>
              <a:rPr lang="pl-PL" sz="3600" dirty="0"/>
              <a:t> </a:t>
            </a:r>
            <a:r>
              <a:rPr lang="pl-PL" sz="3600" dirty="0" err="1"/>
              <a:t>observations</a:t>
            </a:r>
            <a:r>
              <a:rPr lang="pl-PL" sz="3600" dirty="0"/>
              <a:t> in a </a:t>
            </a:r>
            <a:r>
              <a:rPr lang="pl-PL" sz="3600" dirty="0" err="1"/>
              <a:t>separate</a:t>
            </a:r>
            <a:r>
              <a:rPr lang="pl-PL" sz="3600" dirty="0"/>
              <a:t> file</a:t>
            </a:r>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82</a:t>
            </a:fld>
            <a:endParaRPr lang="pl-PL"/>
          </a:p>
        </p:txBody>
      </p:sp>
      <p:pic>
        <p:nvPicPr>
          <p:cNvPr id="5" name="Obraz 4">
            <a:extLst>
              <a:ext uri="{FF2B5EF4-FFF2-40B4-BE49-F238E27FC236}">
                <a16:creationId xmlns:a16="http://schemas.microsoft.com/office/drawing/2014/main" id="{5E9E7031-735A-40B5-961B-0EFFDE4E4128}"/>
              </a:ext>
            </a:extLst>
          </p:cNvPr>
          <p:cNvPicPr>
            <a:picLocks noChangeAspect="1"/>
          </p:cNvPicPr>
          <p:nvPr/>
        </p:nvPicPr>
        <p:blipFill rotWithShape="1">
          <a:blip r:embed="rId2"/>
          <a:srcRect r="64917" b="57139"/>
          <a:stretch/>
        </p:blipFill>
        <p:spPr>
          <a:xfrm>
            <a:off x="1645920" y="1246503"/>
            <a:ext cx="7213600" cy="4957212"/>
          </a:xfrm>
          <a:prstGeom prst="rect">
            <a:avLst/>
          </a:prstGeom>
        </p:spPr>
      </p:pic>
    </p:spTree>
    <p:extLst>
      <p:ext uri="{BB962C8B-B14F-4D97-AF65-F5344CB8AC3E}">
        <p14:creationId xmlns:p14="http://schemas.microsoft.com/office/powerpoint/2010/main" val="9089992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838200" y="0"/>
            <a:ext cx="10515600" cy="945515"/>
          </a:xfrm>
        </p:spPr>
        <p:txBody>
          <a:bodyPr>
            <a:normAutofit/>
          </a:bodyPr>
          <a:lstStyle/>
          <a:p>
            <a:pPr algn="ctr"/>
            <a:r>
              <a:rPr lang="pl-PL" dirty="0" err="1"/>
              <a:t>Now</a:t>
            </a:r>
            <a:r>
              <a:rPr lang="pl-PL" dirty="0"/>
              <a:t> we import </a:t>
            </a:r>
            <a:r>
              <a:rPr lang="pl-PL" dirty="0" err="1"/>
              <a:t>these</a:t>
            </a:r>
            <a:r>
              <a:rPr lang="pl-PL" dirty="0"/>
              <a:t> </a:t>
            </a:r>
            <a:r>
              <a:rPr lang="pl-PL" dirty="0" err="1"/>
              <a:t>files</a:t>
            </a:r>
            <a:r>
              <a:rPr lang="pl-PL" dirty="0"/>
              <a:t> </a:t>
            </a:r>
            <a:r>
              <a:rPr lang="pl-PL" dirty="0" err="1"/>
              <a:t>into</a:t>
            </a:r>
            <a:r>
              <a:rPr lang="pl-PL" dirty="0"/>
              <a:t> </a:t>
            </a:r>
            <a:r>
              <a:rPr lang="pl-PL" dirty="0" err="1"/>
              <a:t>RapidMiner</a:t>
            </a:r>
            <a:endParaRPr lang="pl-PL" dirty="0"/>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83</a:t>
            </a:fld>
            <a:endParaRPr lang="pl-PL"/>
          </a:p>
        </p:txBody>
      </p:sp>
      <p:pic>
        <p:nvPicPr>
          <p:cNvPr id="6" name="Obraz 5">
            <a:extLst>
              <a:ext uri="{FF2B5EF4-FFF2-40B4-BE49-F238E27FC236}">
                <a16:creationId xmlns:a16="http://schemas.microsoft.com/office/drawing/2014/main" id="{7E1E0FA3-84C5-4466-9804-80786026D681}"/>
              </a:ext>
            </a:extLst>
          </p:cNvPr>
          <p:cNvPicPr>
            <a:picLocks noChangeAspect="1"/>
          </p:cNvPicPr>
          <p:nvPr/>
        </p:nvPicPr>
        <p:blipFill>
          <a:blip r:embed="rId2"/>
          <a:stretch>
            <a:fillRect/>
          </a:stretch>
        </p:blipFill>
        <p:spPr>
          <a:xfrm>
            <a:off x="838200" y="1083943"/>
            <a:ext cx="10132907" cy="5699760"/>
          </a:xfrm>
          <a:prstGeom prst="rect">
            <a:avLst/>
          </a:prstGeom>
        </p:spPr>
      </p:pic>
    </p:spTree>
    <p:extLst>
      <p:ext uri="{BB962C8B-B14F-4D97-AF65-F5344CB8AC3E}">
        <p14:creationId xmlns:p14="http://schemas.microsoft.com/office/powerpoint/2010/main" val="33998438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B15E1D-91B7-4E4F-9E79-9D8A5B34FB99}"/>
              </a:ext>
            </a:extLst>
          </p:cNvPr>
          <p:cNvSpPr>
            <a:spLocks noGrp="1"/>
          </p:cNvSpPr>
          <p:nvPr>
            <p:ph type="title"/>
          </p:nvPr>
        </p:nvSpPr>
        <p:spPr>
          <a:xfrm>
            <a:off x="838200" y="0"/>
            <a:ext cx="10515600" cy="945515"/>
          </a:xfrm>
        </p:spPr>
        <p:txBody>
          <a:bodyPr>
            <a:normAutofit/>
          </a:bodyPr>
          <a:lstStyle/>
          <a:p>
            <a:pPr algn="ctr"/>
            <a:r>
              <a:rPr lang="pl-PL" dirty="0" err="1"/>
              <a:t>Now</a:t>
            </a:r>
            <a:r>
              <a:rPr lang="pl-PL" dirty="0"/>
              <a:t> we import </a:t>
            </a:r>
            <a:r>
              <a:rPr lang="pl-PL" dirty="0" err="1"/>
              <a:t>these</a:t>
            </a:r>
            <a:r>
              <a:rPr lang="pl-PL" dirty="0"/>
              <a:t> </a:t>
            </a:r>
            <a:r>
              <a:rPr lang="pl-PL" dirty="0" err="1"/>
              <a:t>files</a:t>
            </a:r>
            <a:r>
              <a:rPr lang="pl-PL" dirty="0"/>
              <a:t> </a:t>
            </a:r>
            <a:r>
              <a:rPr lang="pl-PL" dirty="0" err="1"/>
              <a:t>into</a:t>
            </a:r>
            <a:r>
              <a:rPr lang="pl-PL" dirty="0"/>
              <a:t> </a:t>
            </a:r>
            <a:r>
              <a:rPr lang="pl-PL" dirty="0" err="1"/>
              <a:t>RapidMiner</a:t>
            </a:r>
            <a:endParaRPr lang="pl-PL" dirty="0"/>
          </a:p>
        </p:txBody>
      </p:sp>
      <p:sp>
        <p:nvSpPr>
          <p:cNvPr id="3" name="Symbol zastępczy zawartości 2">
            <a:extLst>
              <a:ext uri="{FF2B5EF4-FFF2-40B4-BE49-F238E27FC236}">
                <a16:creationId xmlns:a16="http://schemas.microsoft.com/office/drawing/2014/main" id="{F7CD819C-801E-4CEA-AB8C-B3E6DF7E66DE}"/>
              </a:ext>
            </a:extLst>
          </p:cNvPr>
          <p:cNvSpPr>
            <a:spLocks noGrp="1"/>
          </p:cNvSpPr>
          <p:nvPr>
            <p:ph idx="1"/>
          </p:nvPr>
        </p:nvSpPr>
        <p:spPr>
          <a:xfrm>
            <a:off x="238760" y="1083944"/>
            <a:ext cx="11607800" cy="5272405"/>
          </a:xfrm>
        </p:spPr>
        <p:txBody>
          <a:bodyPr/>
          <a:lstStyle/>
          <a:p>
            <a:endParaRPr lang="pl-PL"/>
          </a:p>
        </p:txBody>
      </p:sp>
      <p:sp>
        <p:nvSpPr>
          <p:cNvPr id="4" name="Symbol zastępczy numeru slajdu 3">
            <a:extLst>
              <a:ext uri="{FF2B5EF4-FFF2-40B4-BE49-F238E27FC236}">
                <a16:creationId xmlns:a16="http://schemas.microsoft.com/office/drawing/2014/main" id="{E6BEDEA8-F486-47CD-90F5-5D14E83AC8B3}"/>
              </a:ext>
            </a:extLst>
          </p:cNvPr>
          <p:cNvSpPr>
            <a:spLocks noGrp="1"/>
          </p:cNvSpPr>
          <p:nvPr>
            <p:ph type="sldNum" sz="quarter" idx="12"/>
          </p:nvPr>
        </p:nvSpPr>
        <p:spPr/>
        <p:txBody>
          <a:bodyPr/>
          <a:lstStyle/>
          <a:p>
            <a:fld id="{A7544F9A-EF6A-47CB-A458-C95835DAEA60}" type="slidenum">
              <a:rPr lang="pl-PL" smtClean="0"/>
              <a:t>84</a:t>
            </a:fld>
            <a:endParaRPr lang="pl-PL"/>
          </a:p>
        </p:txBody>
      </p:sp>
      <p:pic>
        <p:nvPicPr>
          <p:cNvPr id="6" name="Obraz 5">
            <a:extLst>
              <a:ext uri="{FF2B5EF4-FFF2-40B4-BE49-F238E27FC236}">
                <a16:creationId xmlns:a16="http://schemas.microsoft.com/office/drawing/2014/main" id="{99AB8533-ED58-4039-B38F-567C80E27750}"/>
              </a:ext>
            </a:extLst>
          </p:cNvPr>
          <p:cNvPicPr>
            <a:picLocks noChangeAspect="1"/>
          </p:cNvPicPr>
          <p:nvPr/>
        </p:nvPicPr>
        <p:blipFill>
          <a:blip r:embed="rId2"/>
          <a:stretch>
            <a:fillRect/>
          </a:stretch>
        </p:blipFill>
        <p:spPr>
          <a:xfrm>
            <a:off x="1209040" y="1074420"/>
            <a:ext cx="10281920" cy="5783580"/>
          </a:xfrm>
          <a:prstGeom prst="rect">
            <a:avLst/>
          </a:prstGeom>
        </p:spPr>
      </p:pic>
    </p:spTree>
    <p:extLst>
      <p:ext uri="{BB962C8B-B14F-4D97-AF65-F5344CB8AC3E}">
        <p14:creationId xmlns:p14="http://schemas.microsoft.com/office/powerpoint/2010/main" val="3582957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B0A9B41-0AB8-4CB7-810D-430DBD8B1C5E}"/>
              </a:ext>
            </a:extLst>
          </p:cNvPr>
          <p:cNvSpPr>
            <a:spLocks noGrp="1"/>
          </p:cNvSpPr>
          <p:nvPr>
            <p:ph type="title"/>
          </p:nvPr>
        </p:nvSpPr>
        <p:spPr/>
        <p:txBody>
          <a:bodyPr/>
          <a:lstStyle/>
          <a:p>
            <a:r>
              <a:rPr lang="pl-PL" dirty="0" err="1"/>
              <a:t>Now</a:t>
            </a:r>
            <a:r>
              <a:rPr lang="pl-PL" dirty="0"/>
              <a:t>, plug </a:t>
            </a:r>
            <a:r>
              <a:rPr lang="pl-PL" dirty="0" err="1"/>
              <a:t>these</a:t>
            </a:r>
            <a:r>
              <a:rPr lang="pl-PL" dirty="0"/>
              <a:t> </a:t>
            </a:r>
            <a:r>
              <a:rPr lang="pl-PL" dirty="0" err="1"/>
              <a:t>new</a:t>
            </a:r>
            <a:r>
              <a:rPr lang="pl-PL" dirty="0"/>
              <a:t> data </a:t>
            </a:r>
            <a:r>
              <a:rPr lang="pl-PL" dirty="0" err="1"/>
              <a:t>into</a:t>
            </a:r>
            <a:r>
              <a:rPr lang="pl-PL" dirty="0"/>
              <a:t> </a:t>
            </a:r>
            <a:r>
              <a:rPr lang="pl-PL" dirty="0" err="1"/>
              <a:t>our</a:t>
            </a:r>
            <a:r>
              <a:rPr lang="pl-PL" dirty="0"/>
              <a:t> model</a:t>
            </a:r>
          </a:p>
        </p:txBody>
      </p:sp>
      <p:sp>
        <p:nvSpPr>
          <p:cNvPr id="3" name="Symbol zastępczy zawartości 2">
            <a:extLst>
              <a:ext uri="{FF2B5EF4-FFF2-40B4-BE49-F238E27FC236}">
                <a16:creationId xmlns:a16="http://schemas.microsoft.com/office/drawing/2014/main" id="{6EB86905-A835-4EFA-AE4E-D03E4A33E02B}"/>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33BCE0DC-4625-42CB-A884-D704B02C80E2}"/>
              </a:ext>
            </a:extLst>
          </p:cNvPr>
          <p:cNvSpPr>
            <a:spLocks noGrp="1"/>
          </p:cNvSpPr>
          <p:nvPr>
            <p:ph type="sldNum" sz="quarter" idx="12"/>
          </p:nvPr>
        </p:nvSpPr>
        <p:spPr/>
        <p:txBody>
          <a:bodyPr/>
          <a:lstStyle/>
          <a:p>
            <a:fld id="{A7544F9A-EF6A-47CB-A458-C95835DAEA60}" type="slidenum">
              <a:rPr lang="pl-PL" smtClean="0"/>
              <a:t>85</a:t>
            </a:fld>
            <a:endParaRPr lang="pl-PL"/>
          </a:p>
        </p:txBody>
      </p:sp>
      <p:pic>
        <p:nvPicPr>
          <p:cNvPr id="5" name="Obraz 4">
            <a:extLst>
              <a:ext uri="{FF2B5EF4-FFF2-40B4-BE49-F238E27FC236}">
                <a16:creationId xmlns:a16="http://schemas.microsoft.com/office/drawing/2014/main" id="{47B08A3E-E39F-4267-9AE4-CA22BD10E3D5}"/>
              </a:ext>
            </a:extLst>
          </p:cNvPr>
          <p:cNvPicPr>
            <a:picLocks noChangeAspect="1"/>
          </p:cNvPicPr>
          <p:nvPr/>
        </p:nvPicPr>
        <p:blipFill>
          <a:blip r:embed="rId2"/>
          <a:stretch>
            <a:fillRect/>
          </a:stretch>
        </p:blipFill>
        <p:spPr>
          <a:xfrm>
            <a:off x="1229359" y="1439228"/>
            <a:ext cx="9390661" cy="5282247"/>
          </a:xfrm>
          <a:prstGeom prst="rect">
            <a:avLst/>
          </a:prstGeom>
        </p:spPr>
      </p:pic>
      <p:sp>
        <p:nvSpPr>
          <p:cNvPr id="6" name="Prostokąt 5">
            <a:extLst>
              <a:ext uri="{FF2B5EF4-FFF2-40B4-BE49-F238E27FC236}">
                <a16:creationId xmlns:a16="http://schemas.microsoft.com/office/drawing/2014/main" id="{D071E397-9B4B-4B38-8B60-806E8581F647}"/>
              </a:ext>
            </a:extLst>
          </p:cNvPr>
          <p:cNvSpPr/>
          <p:nvPr/>
        </p:nvSpPr>
        <p:spPr>
          <a:xfrm>
            <a:off x="3581401" y="4165600"/>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rostokąt 6">
            <a:extLst>
              <a:ext uri="{FF2B5EF4-FFF2-40B4-BE49-F238E27FC236}">
                <a16:creationId xmlns:a16="http://schemas.microsoft.com/office/drawing/2014/main" id="{726048B4-C7F7-4D3F-92AB-4CF70EDBFA04}"/>
              </a:ext>
            </a:extLst>
          </p:cNvPr>
          <p:cNvSpPr/>
          <p:nvPr/>
        </p:nvSpPr>
        <p:spPr>
          <a:xfrm>
            <a:off x="9593580" y="2194560"/>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2557190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ECC1011-9509-40D9-955B-E85CEEB516AE}"/>
              </a:ext>
            </a:extLst>
          </p:cNvPr>
          <p:cNvSpPr>
            <a:spLocks noGrp="1"/>
          </p:cNvSpPr>
          <p:nvPr>
            <p:ph type="title"/>
          </p:nvPr>
        </p:nvSpPr>
        <p:spPr>
          <a:xfrm>
            <a:off x="838200" y="365125"/>
            <a:ext cx="10515600" cy="671195"/>
          </a:xfrm>
        </p:spPr>
        <p:txBody>
          <a:bodyPr>
            <a:normAutofit fontScale="90000"/>
          </a:bodyPr>
          <a:lstStyle/>
          <a:p>
            <a:pPr algn="ctr"/>
            <a:r>
              <a:rPr lang="pl-PL" dirty="0" err="1"/>
              <a:t>Now</a:t>
            </a:r>
            <a:r>
              <a:rPr lang="pl-PL" dirty="0"/>
              <a:t>, plug the </a:t>
            </a:r>
            <a:r>
              <a:rPr lang="pl-PL" dirty="0" err="1"/>
              <a:t>new</a:t>
            </a:r>
            <a:r>
              <a:rPr lang="pl-PL" dirty="0"/>
              <a:t> data </a:t>
            </a:r>
            <a:r>
              <a:rPr lang="pl-PL" dirty="0" err="1"/>
              <a:t>into</a:t>
            </a:r>
            <a:r>
              <a:rPr lang="pl-PL" dirty="0"/>
              <a:t> the model</a:t>
            </a:r>
          </a:p>
        </p:txBody>
      </p:sp>
      <p:sp>
        <p:nvSpPr>
          <p:cNvPr id="3" name="Symbol zastępczy zawartości 2">
            <a:extLst>
              <a:ext uri="{FF2B5EF4-FFF2-40B4-BE49-F238E27FC236}">
                <a16:creationId xmlns:a16="http://schemas.microsoft.com/office/drawing/2014/main" id="{02C10C54-8073-4D9D-9FB2-CFE6F9DBB1DC}"/>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DA171698-F0E5-415C-9B9E-A26FDC30CEF9}"/>
              </a:ext>
            </a:extLst>
          </p:cNvPr>
          <p:cNvSpPr>
            <a:spLocks noGrp="1"/>
          </p:cNvSpPr>
          <p:nvPr>
            <p:ph type="sldNum" sz="quarter" idx="12"/>
          </p:nvPr>
        </p:nvSpPr>
        <p:spPr/>
        <p:txBody>
          <a:bodyPr/>
          <a:lstStyle/>
          <a:p>
            <a:fld id="{A7544F9A-EF6A-47CB-A458-C95835DAEA60}" type="slidenum">
              <a:rPr lang="pl-PL" smtClean="0"/>
              <a:t>86</a:t>
            </a:fld>
            <a:endParaRPr lang="pl-PL"/>
          </a:p>
        </p:txBody>
      </p:sp>
      <p:pic>
        <p:nvPicPr>
          <p:cNvPr id="5" name="Obraz 4">
            <a:extLst>
              <a:ext uri="{FF2B5EF4-FFF2-40B4-BE49-F238E27FC236}">
                <a16:creationId xmlns:a16="http://schemas.microsoft.com/office/drawing/2014/main" id="{DB053A1D-EDEB-485D-B17D-5BEDECC45FF2}"/>
              </a:ext>
            </a:extLst>
          </p:cNvPr>
          <p:cNvPicPr>
            <a:picLocks noChangeAspect="1"/>
          </p:cNvPicPr>
          <p:nvPr/>
        </p:nvPicPr>
        <p:blipFill>
          <a:blip r:embed="rId2"/>
          <a:stretch>
            <a:fillRect/>
          </a:stretch>
        </p:blipFill>
        <p:spPr>
          <a:xfrm>
            <a:off x="924560" y="1330960"/>
            <a:ext cx="9794240" cy="5509260"/>
          </a:xfrm>
          <a:prstGeom prst="rect">
            <a:avLst/>
          </a:prstGeom>
        </p:spPr>
      </p:pic>
      <p:sp>
        <p:nvSpPr>
          <p:cNvPr id="7" name="Prostokąt 6">
            <a:extLst>
              <a:ext uri="{FF2B5EF4-FFF2-40B4-BE49-F238E27FC236}">
                <a16:creationId xmlns:a16="http://schemas.microsoft.com/office/drawing/2014/main" id="{78A81CF0-E4FC-487E-A0D8-3D6EED890CF8}"/>
              </a:ext>
            </a:extLst>
          </p:cNvPr>
          <p:cNvSpPr/>
          <p:nvPr/>
        </p:nvSpPr>
        <p:spPr>
          <a:xfrm>
            <a:off x="2595881" y="4085590"/>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rostokąt 7">
            <a:extLst>
              <a:ext uri="{FF2B5EF4-FFF2-40B4-BE49-F238E27FC236}">
                <a16:creationId xmlns:a16="http://schemas.microsoft.com/office/drawing/2014/main" id="{124D72A9-690D-45FC-BB10-0C8D9EA3D90A}"/>
              </a:ext>
            </a:extLst>
          </p:cNvPr>
          <p:cNvSpPr/>
          <p:nvPr/>
        </p:nvSpPr>
        <p:spPr>
          <a:xfrm>
            <a:off x="8874761" y="2062480"/>
            <a:ext cx="18440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8654625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25FB677-C6BD-471B-9B1C-1623B68E67FB}"/>
              </a:ext>
            </a:extLst>
          </p:cNvPr>
          <p:cNvSpPr>
            <a:spLocks noGrp="1"/>
          </p:cNvSpPr>
          <p:nvPr>
            <p:ph type="title"/>
          </p:nvPr>
        </p:nvSpPr>
        <p:spPr/>
        <p:txBody>
          <a:bodyPr/>
          <a:lstStyle/>
          <a:p>
            <a:r>
              <a:rPr lang="pl-PL" dirty="0" err="1"/>
              <a:t>Remember</a:t>
            </a:r>
            <a:r>
              <a:rPr lang="pl-PL" dirty="0"/>
              <a:t> to </a:t>
            </a:r>
            <a:r>
              <a:rPr lang="pl-PL" dirty="0" err="1"/>
              <a:t>modify</a:t>
            </a:r>
            <a:r>
              <a:rPr lang="pl-PL" dirty="0"/>
              <a:t> the „set role” operator</a:t>
            </a:r>
          </a:p>
        </p:txBody>
      </p:sp>
      <p:sp>
        <p:nvSpPr>
          <p:cNvPr id="3" name="Symbol zastępczy zawartości 2">
            <a:extLst>
              <a:ext uri="{FF2B5EF4-FFF2-40B4-BE49-F238E27FC236}">
                <a16:creationId xmlns:a16="http://schemas.microsoft.com/office/drawing/2014/main" id="{3AA18EF9-0D9F-4695-9D9F-2FE6BAEE0400}"/>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689554B8-3F9F-44C1-802F-00F72E44E91A}"/>
              </a:ext>
            </a:extLst>
          </p:cNvPr>
          <p:cNvSpPr>
            <a:spLocks noGrp="1"/>
          </p:cNvSpPr>
          <p:nvPr>
            <p:ph type="sldNum" sz="quarter" idx="12"/>
          </p:nvPr>
        </p:nvSpPr>
        <p:spPr/>
        <p:txBody>
          <a:bodyPr/>
          <a:lstStyle/>
          <a:p>
            <a:fld id="{A7544F9A-EF6A-47CB-A458-C95835DAEA60}" type="slidenum">
              <a:rPr lang="pl-PL" smtClean="0"/>
              <a:t>87</a:t>
            </a:fld>
            <a:endParaRPr lang="pl-PL"/>
          </a:p>
        </p:txBody>
      </p:sp>
      <p:pic>
        <p:nvPicPr>
          <p:cNvPr id="5" name="Obraz 4">
            <a:extLst>
              <a:ext uri="{FF2B5EF4-FFF2-40B4-BE49-F238E27FC236}">
                <a16:creationId xmlns:a16="http://schemas.microsoft.com/office/drawing/2014/main" id="{9C73C665-6189-4AF8-BB2E-427DA4C4F943}"/>
              </a:ext>
            </a:extLst>
          </p:cNvPr>
          <p:cNvPicPr>
            <a:picLocks noChangeAspect="1"/>
          </p:cNvPicPr>
          <p:nvPr/>
        </p:nvPicPr>
        <p:blipFill>
          <a:blip r:embed="rId2"/>
          <a:stretch>
            <a:fillRect/>
          </a:stretch>
        </p:blipFill>
        <p:spPr>
          <a:xfrm>
            <a:off x="1320800" y="1825625"/>
            <a:ext cx="9225280" cy="5189220"/>
          </a:xfrm>
          <a:prstGeom prst="rect">
            <a:avLst/>
          </a:prstGeom>
        </p:spPr>
      </p:pic>
      <p:sp>
        <p:nvSpPr>
          <p:cNvPr id="6" name="Prostokąt 5">
            <a:extLst>
              <a:ext uri="{FF2B5EF4-FFF2-40B4-BE49-F238E27FC236}">
                <a16:creationId xmlns:a16="http://schemas.microsoft.com/office/drawing/2014/main" id="{2059537B-EBEC-4F50-A983-027F96C0B6EE}"/>
              </a:ext>
            </a:extLst>
          </p:cNvPr>
          <p:cNvSpPr/>
          <p:nvPr/>
        </p:nvSpPr>
        <p:spPr>
          <a:xfrm>
            <a:off x="4241801" y="2876550"/>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rostokąt 6">
            <a:extLst>
              <a:ext uri="{FF2B5EF4-FFF2-40B4-BE49-F238E27FC236}">
                <a16:creationId xmlns:a16="http://schemas.microsoft.com/office/drawing/2014/main" id="{14E1B97A-73C1-44F5-A5F1-61F9787D6A73}"/>
              </a:ext>
            </a:extLst>
          </p:cNvPr>
          <p:cNvSpPr/>
          <p:nvPr/>
        </p:nvSpPr>
        <p:spPr>
          <a:xfrm>
            <a:off x="4485641" y="4526756"/>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rostokąt 7">
            <a:extLst>
              <a:ext uri="{FF2B5EF4-FFF2-40B4-BE49-F238E27FC236}">
                <a16:creationId xmlns:a16="http://schemas.microsoft.com/office/drawing/2014/main" id="{1CB49833-560C-4319-8F1E-EBD450CA462C}"/>
              </a:ext>
            </a:extLst>
          </p:cNvPr>
          <p:cNvSpPr/>
          <p:nvPr/>
        </p:nvSpPr>
        <p:spPr>
          <a:xfrm>
            <a:off x="9687561" y="2653030"/>
            <a:ext cx="777239" cy="660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9629218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2CCBB1B-38A9-480E-8E64-8BF98FF86A1F}"/>
              </a:ext>
            </a:extLst>
          </p:cNvPr>
          <p:cNvSpPr>
            <a:spLocks noGrp="1"/>
          </p:cNvSpPr>
          <p:nvPr>
            <p:ph type="title"/>
          </p:nvPr>
        </p:nvSpPr>
        <p:spPr>
          <a:xfrm>
            <a:off x="838200" y="365126"/>
            <a:ext cx="10515600" cy="572770"/>
          </a:xfrm>
        </p:spPr>
        <p:txBody>
          <a:bodyPr>
            <a:normAutofit fontScale="90000"/>
          </a:bodyPr>
          <a:lstStyle/>
          <a:p>
            <a:pPr algn="ctr"/>
            <a:r>
              <a:rPr lang="pl-PL" dirty="0"/>
              <a:t>Performance for </a:t>
            </a:r>
            <a:r>
              <a:rPr lang="pl-PL" dirty="0" err="1"/>
              <a:t>training</a:t>
            </a:r>
            <a:r>
              <a:rPr lang="pl-PL" dirty="0"/>
              <a:t> </a:t>
            </a:r>
            <a:r>
              <a:rPr lang="pl-PL" dirty="0" err="1"/>
              <a:t>sample</a:t>
            </a:r>
            <a:endParaRPr lang="pl-PL" dirty="0"/>
          </a:p>
        </p:txBody>
      </p:sp>
      <p:sp>
        <p:nvSpPr>
          <p:cNvPr id="3" name="Symbol zastępczy zawartości 2">
            <a:extLst>
              <a:ext uri="{FF2B5EF4-FFF2-40B4-BE49-F238E27FC236}">
                <a16:creationId xmlns:a16="http://schemas.microsoft.com/office/drawing/2014/main" id="{5DBB914C-D79E-4B3C-91E1-607CB7D40C8E}"/>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EF512797-EEC5-436D-A18A-E44A6FDD169C}"/>
              </a:ext>
            </a:extLst>
          </p:cNvPr>
          <p:cNvSpPr>
            <a:spLocks noGrp="1"/>
          </p:cNvSpPr>
          <p:nvPr>
            <p:ph type="sldNum" sz="quarter" idx="12"/>
          </p:nvPr>
        </p:nvSpPr>
        <p:spPr/>
        <p:txBody>
          <a:bodyPr/>
          <a:lstStyle/>
          <a:p>
            <a:fld id="{A7544F9A-EF6A-47CB-A458-C95835DAEA60}" type="slidenum">
              <a:rPr lang="pl-PL" smtClean="0"/>
              <a:t>88</a:t>
            </a:fld>
            <a:endParaRPr lang="pl-PL"/>
          </a:p>
        </p:txBody>
      </p:sp>
      <p:pic>
        <p:nvPicPr>
          <p:cNvPr id="5" name="Obraz 4">
            <a:extLst>
              <a:ext uri="{FF2B5EF4-FFF2-40B4-BE49-F238E27FC236}">
                <a16:creationId xmlns:a16="http://schemas.microsoft.com/office/drawing/2014/main" id="{F152D225-3DDC-4CF8-B5FB-FED69B90FD1F}"/>
              </a:ext>
            </a:extLst>
          </p:cNvPr>
          <p:cNvPicPr>
            <a:picLocks noChangeAspect="1"/>
          </p:cNvPicPr>
          <p:nvPr/>
        </p:nvPicPr>
        <p:blipFill>
          <a:blip r:embed="rId2"/>
          <a:stretch>
            <a:fillRect/>
          </a:stretch>
        </p:blipFill>
        <p:spPr>
          <a:xfrm>
            <a:off x="1071880" y="1076643"/>
            <a:ext cx="10281920" cy="5783580"/>
          </a:xfrm>
          <a:prstGeom prst="rect">
            <a:avLst/>
          </a:prstGeom>
        </p:spPr>
      </p:pic>
    </p:spTree>
    <p:extLst>
      <p:ext uri="{BB962C8B-B14F-4D97-AF65-F5344CB8AC3E}">
        <p14:creationId xmlns:p14="http://schemas.microsoft.com/office/powerpoint/2010/main" val="12455719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0805E62-A341-4C19-B649-38F271ACFC05}"/>
              </a:ext>
            </a:extLst>
          </p:cNvPr>
          <p:cNvSpPr>
            <a:spLocks noGrp="1"/>
          </p:cNvSpPr>
          <p:nvPr>
            <p:ph type="title"/>
          </p:nvPr>
        </p:nvSpPr>
        <p:spPr>
          <a:xfrm>
            <a:off x="838200" y="365125"/>
            <a:ext cx="10515600" cy="752475"/>
          </a:xfrm>
        </p:spPr>
        <p:txBody>
          <a:bodyPr/>
          <a:lstStyle/>
          <a:p>
            <a:pPr algn="ctr"/>
            <a:r>
              <a:rPr lang="pl-PL" dirty="0"/>
              <a:t>Performance for </a:t>
            </a:r>
            <a:r>
              <a:rPr lang="pl-PL" dirty="0" err="1"/>
              <a:t>validation</a:t>
            </a:r>
            <a:r>
              <a:rPr lang="pl-PL" dirty="0"/>
              <a:t> </a:t>
            </a:r>
            <a:r>
              <a:rPr lang="pl-PL" dirty="0" err="1"/>
              <a:t>sample</a:t>
            </a:r>
            <a:endParaRPr lang="pl-PL" dirty="0"/>
          </a:p>
        </p:txBody>
      </p:sp>
      <p:sp>
        <p:nvSpPr>
          <p:cNvPr id="3" name="Symbol zastępczy zawartości 2">
            <a:extLst>
              <a:ext uri="{FF2B5EF4-FFF2-40B4-BE49-F238E27FC236}">
                <a16:creationId xmlns:a16="http://schemas.microsoft.com/office/drawing/2014/main" id="{C71FCE47-9824-4DD9-A346-FAECAE23AE60}"/>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D047E346-C959-419D-9AFE-E10D30BECD8C}"/>
              </a:ext>
            </a:extLst>
          </p:cNvPr>
          <p:cNvSpPr>
            <a:spLocks noGrp="1"/>
          </p:cNvSpPr>
          <p:nvPr>
            <p:ph type="sldNum" sz="quarter" idx="12"/>
          </p:nvPr>
        </p:nvSpPr>
        <p:spPr/>
        <p:txBody>
          <a:bodyPr/>
          <a:lstStyle/>
          <a:p>
            <a:fld id="{A7544F9A-EF6A-47CB-A458-C95835DAEA60}" type="slidenum">
              <a:rPr lang="pl-PL" smtClean="0"/>
              <a:t>89</a:t>
            </a:fld>
            <a:endParaRPr lang="pl-PL"/>
          </a:p>
        </p:txBody>
      </p:sp>
      <p:pic>
        <p:nvPicPr>
          <p:cNvPr id="5" name="Obraz 4">
            <a:extLst>
              <a:ext uri="{FF2B5EF4-FFF2-40B4-BE49-F238E27FC236}">
                <a16:creationId xmlns:a16="http://schemas.microsoft.com/office/drawing/2014/main" id="{F5BC5B8D-6FE9-49F3-BB3A-36DCF95191C9}"/>
              </a:ext>
            </a:extLst>
          </p:cNvPr>
          <p:cNvPicPr>
            <a:picLocks noChangeAspect="1"/>
          </p:cNvPicPr>
          <p:nvPr/>
        </p:nvPicPr>
        <p:blipFill>
          <a:blip r:embed="rId2"/>
          <a:stretch>
            <a:fillRect/>
          </a:stretch>
        </p:blipFill>
        <p:spPr>
          <a:xfrm>
            <a:off x="1026160" y="1257300"/>
            <a:ext cx="9956800" cy="5600700"/>
          </a:xfrm>
          <a:prstGeom prst="rect">
            <a:avLst/>
          </a:prstGeom>
        </p:spPr>
      </p:pic>
    </p:spTree>
    <p:extLst>
      <p:ext uri="{BB962C8B-B14F-4D97-AF65-F5344CB8AC3E}">
        <p14:creationId xmlns:p14="http://schemas.microsoft.com/office/powerpoint/2010/main" val="23136570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784BF19-FD10-41F3-A6FF-11C2CC462792}"/>
              </a:ext>
            </a:extLst>
          </p:cNvPr>
          <p:cNvSpPr>
            <a:spLocks noGrp="1"/>
          </p:cNvSpPr>
          <p:nvPr>
            <p:ph type="title"/>
          </p:nvPr>
        </p:nvSpPr>
        <p:spPr/>
        <p:txBody>
          <a:bodyPr/>
          <a:lstStyle/>
          <a:p>
            <a:pPr algn="ctr"/>
            <a:r>
              <a:rPr lang="pl-PL" dirty="0" err="1"/>
              <a:t>Classification</a:t>
            </a:r>
            <a:r>
              <a:rPr lang="pl-PL" dirty="0"/>
              <a:t> of </a:t>
            </a:r>
            <a:r>
              <a:rPr lang="pl-PL" dirty="0" err="1"/>
              <a:t>new</a:t>
            </a:r>
            <a:r>
              <a:rPr lang="pl-PL" dirty="0"/>
              <a:t> </a:t>
            </a:r>
            <a:r>
              <a:rPr lang="pl-PL" dirty="0" err="1"/>
              <a:t>observations</a:t>
            </a:r>
            <a:endParaRPr lang="pl-PL" dirty="0"/>
          </a:p>
        </p:txBody>
      </p:sp>
      <p:sp>
        <p:nvSpPr>
          <p:cNvPr id="3" name="Symbol zastępczy zawartości 2">
            <a:extLst>
              <a:ext uri="{FF2B5EF4-FFF2-40B4-BE49-F238E27FC236}">
                <a16:creationId xmlns:a16="http://schemas.microsoft.com/office/drawing/2014/main" id="{F17B26D1-55EE-4E5E-A613-FDBA91488A78}"/>
              </a:ext>
            </a:extLst>
          </p:cNvPr>
          <p:cNvSpPr>
            <a:spLocks noGrp="1"/>
          </p:cNvSpPr>
          <p:nvPr>
            <p:ph idx="1"/>
          </p:nvPr>
        </p:nvSpPr>
        <p:spPr/>
        <p:txBody>
          <a:bodyPr/>
          <a:lstStyle/>
          <a:p>
            <a:endParaRPr lang="pl-PL"/>
          </a:p>
        </p:txBody>
      </p:sp>
      <p:sp>
        <p:nvSpPr>
          <p:cNvPr id="4" name="Symbol zastępczy numeru slajdu 3">
            <a:extLst>
              <a:ext uri="{FF2B5EF4-FFF2-40B4-BE49-F238E27FC236}">
                <a16:creationId xmlns:a16="http://schemas.microsoft.com/office/drawing/2014/main" id="{11AA905D-6868-41BC-B105-C004DB26F21A}"/>
              </a:ext>
            </a:extLst>
          </p:cNvPr>
          <p:cNvSpPr>
            <a:spLocks noGrp="1"/>
          </p:cNvSpPr>
          <p:nvPr>
            <p:ph type="sldNum" sz="quarter" idx="12"/>
          </p:nvPr>
        </p:nvSpPr>
        <p:spPr/>
        <p:txBody>
          <a:bodyPr/>
          <a:lstStyle/>
          <a:p>
            <a:fld id="{A7544F9A-EF6A-47CB-A458-C95835DAEA60}" type="slidenum">
              <a:rPr lang="pl-PL" smtClean="0"/>
              <a:t>90</a:t>
            </a:fld>
            <a:endParaRPr lang="pl-PL"/>
          </a:p>
        </p:txBody>
      </p:sp>
      <p:pic>
        <p:nvPicPr>
          <p:cNvPr id="5" name="Obraz 4">
            <a:extLst>
              <a:ext uri="{FF2B5EF4-FFF2-40B4-BE49-F238E27FC236}">
                <a16:creationId xmlns:a16="http://schemas.microsoft.com/office/drawing/2014/main" id="{AF099C06-7C9B-4C42-810C-91710ED0A4FE}"/>
              </a:ext>
            </a:extLst>
          </p:cNvPr>
          <p:cNvPicPr>
            <a:picLocks noChangeAspect="1"/>
          </p:cNvPicPr>
          <p:nvPr/>
        </p:nvPicPr>
        <p:blipFill>
          <a:blip r:embed="rId2"/>
          <a:stretch>
            <a:fillRect/>
          </a:stretch>
        </p:blipFill>
        <p:spPr>
          <a:xfrm>
            <a:off x="1270000" y="1703070"/>
            <a:ext cx="9164320" cy="5154930"/>
          </a:xfrm>
          <a:prstGeom prst="rect">
            <a:avLst/>
          </a:prstGeom>
        </p:spPr>
      </p:pic>
    </p:spTree>
    <p:extLst>
      <p:ext uri="{BB962C8B-B14F-4D97-AF65-F5344CB8AC3E}">
        <p14:creationId xmlns:p14="http://schemas.microsoft.com/office/powerpoint/2010/main" val="2809964629"/>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3749</TotalTime>
  <Words>3226</Words>
  <Application>Microsoft Office PowerPoint</Application>
  <PresentationFormat>Widescreen</PresentationFormat>
  <Paragraphs>751</Paragraphs>
  <Slides>90</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90</vt:i4>
      </vt:variant>
    </vt:vector>
  </HeadingPairs>
  <TitlesOfParts>
    <vt:vector size="96" baseType="lpstr">
      <vt:lpstr>Arial</vt:lpstr>
      <vt:lpstr>Calibri</vt:lpstr>
      <vt:lpstr>Calibri Light</vt:lpstr>
      <vt:lpstr>Cambria Math</vt:lpstr>
      <vt:lpstr>Motyw pakietu Office</vt:lpstr>
      <vt:lpstr>Worksheet</vt:lpstr>
      <vt:lpstr>Linear discriminant analysis</vt:lpstr>
      <vt:lpstr>Discriminant Analysis</vt:lpstr>
      <vt:lpstr>Sometimes one feature does not let to divide the sample into 2 parts</vt:lpstr>
      <vt:lpstr>Using 2 features does a better job (still not perfect)</vt:lpstr>
      <vt:lpstr>Using 3 features allows for perfect separation</vt:lpstr>
      <vt:lpstr>For 4 dimentions we cannot draw it</vt:lpstr>
      <vt:lpstr>Reduction of dimensions example</vt:lpstr>
      <vt:lpstr>Reduction of dimenstions example</vt:lpstr>
      <vt:lpstr>How LDA does this reduction of dimensions (creates a new axis)</vt:lpstr>
      <vt:lpstr>Why both the distance and scatter are important</vt:lpstr>
      <vt:lpstr>What if we have more than 2 dimensions?</vt:lpstr>
      <vt:lpstr>What if we have more than 2 dimensions?</vt:lpstr>
      <vt:lpstr>What if we have 3 categories?</vt:lpstr>
      <vt:lpstr>What if there are 3 cathegories?</vt:lpstr>
      <vt:lpstr>What if we have 3 cathegories?</vt:lpstr>
      <vt:lpstr>Linear discriminant analysis algorithm</vt:lpstr>
      <vt:lpstr>Linear discriminant analysis algorithm</vt:lpstr>
      <vt:lpstr>Linear discriminant analysis algorithm</vt:lpstr>
      <vt:lpstr>LDA example 1</vt:lpstr>
      <vt:lpstr>LDA example 1</vt:lpstr>
      <vt:lpstr>LDA example 1</vt:lpstr>
      <vt:lpstr>Because…</vt:lpstr>
      <vt:lpstr>LDA example 1</vt:lpstr>
      <vt:lpstr>Discriminant function 1 calculation</vt:lpstr>
      <vt:lpstr>Discriminant function 2 calculation</vt:lpstr>
      <vt:lpstr>LDA example 2</vt:lpstr>
      <vt:lpstr>LDA example 2</vt:lpstr>
      <vt:lpstr>LDA example 2</vt:lpstr>
      <vt:lpstr>LDA example 2</vt:lpstr>
      <vt:lpstr>LDA example</vt:lpstr>
      <vt:lpstr>LDA example 2</vt:lpstr>
      <vt:lpstr>LDA example 2</vt:lpstr>
      <vt:lpstr>LDA example 2</vt:lpstr>
      <vt:lpstr>LDA example 2</vt:lpstr>
      <vt:lpstr>LDA example 2</vt:lpstr>
      <vt:lpstr>LDA example 2</vt:lpstr>
      <vt:lpstr>Let now f1 = f2</vt:lpstr>
      <vt:lpstr>Border line</vt:lpstr>
      <vt:lpstr>LDA example 2</vt:lpstr>
      <vt:lpstr>PowerPoint Presentation</vt:lpstr>
      <vt:lpstr>LDA in RapidMiner</vt:lpstr>
      <vt:lpstr>Open a new (blank) process</vt:lpstr>
      <vt:lpstr>We will firstly normalize data set in Excel (house-price-label)</vt:lpstr>
      <vt:lpstr>We will firstly normalize data set in Excel (house-price-label)</vt:lpstr>
      <vt:lpstr>Apply standardization</vt:lpstr>
      <vt:lpstr>Apply standardization</vt:lpstr>
      <vt:lpstr>Apply standardization</vt:lpstr>
      <vt:lpstr>Apply standardization</vt:lpstr>
      <vt:lpstr>Apply standardization</vt:lpstr>
      <vt:lpstr>Apply standardization</vt:lpstr>
      <vt:lpstr>Apply standardization</vt:lpstr>
      <vt:lpstr>Apply standardization</vt:lpstr>
      <vt:lpstr>Import data</vt:lpstr>
      <vt:lpstr>Drag and drop the retrieve operator (opens a file with data and send data further), choose house_price_label data set</vt:lpstr>
      <vt:lpstr>Drag and drop „set role” operator and set the role „label” to house_type attribute – because this column in the data set presents the actual classification of houses to different groups (classes)</vt:lpstr>
      <vt:lpstr>Drag and drop Split data operator because we want to train the model on one part of data set and test how well it works on the other part of the data set</vt:lpstr>
      <vt:lpstr>Drag and drop the LDA operator – this operator trains the LDA model (does calculations which You saw during the theoretical part of the lecture)</vt:lpstr>
      <vt:lpstr>Drag and drop „Apply model” operator to pass the trained model to the next operator (performance operator in our case)</vt:lpstr>
      <vt:lpstr>Drag and drop „Performance” operator to see how well the model worked on the training data</vt:lpstr>
      <vt:lpstr>Drag and drop „Multiply” operator to multiply the model that we created (we need to pass it to 2 different operators)</vt:lpstr>
      <vt:lpstr>Copy and paste operators „Apply mode” and „performance”, then connect them to the „multiply operator” (which sends the trained model to tchem) and „split data” Operator (which sends to them the remaining part of the data sample). Then connect outputs of „performance” operators to the frame of the  „design” windows so we will see the results.</vt:lpstr>
      <vt:lpstr>Performance for the training sample</vt:lpstr>
      <vt:lpstr>Performance for the validation sample</vt:lpstr>
      <vt:lpstr>Drag and drop cross-validation operator – it divides the sample into a predefined by the uuser numer of parts (n) and takes each time only (n-1) numer of them for training, the last part is for model testing. It repeats this procedure n times and finally chooses the fittest model as the output.</vt:lpstr>
      <vt:lpstr>Select the operators „LDA”, „Apply model” and „Performance” and cut and paste tchem inside the cross-validation operator</vt:lpstr>
      <vt:lpstr>This is how You should connect them inside of Cross-Validation Operator – it has a separate sub-window for model training and for model-validation</vt:lpstr>
      <vt:lpstr>The proces on the top level</vt:lpstr>
      <vt:lpstr>Performance for the training set</vt:lpstr>
      <vt:lpstr>Performance for the validation set</vt:lpstr>
      <vt:lpstr>Now, let us use our model to classify a new observation – let us create it in Excel, remember to standardize it with the same averages and standard deviations as the original sample</vt:lpstr>
      <vt:lpstr>Our standardized data</vt:lpstr>
      <vt:lpstr>Import this data set into RapidMiner</vt:lpstr>
      <vt:lpstr>Import this set into RapidMiner</vt:lpstr>
      <vt:lpstr>Drag and drop an extra „Retrieve” operator</vt:lpstr>
      <vt:lpstr>Drag and drop an extra „Set Role”,„Apply model” and „Performance” operators, use Multiply operator to multiply the model output</vt:lpstr>
      <vt:lpstr>LDA returned its classification of the new observation</vt:lpstr>
      <vt:lpstr>Now, let us try the same model with Iris data</vt:lpstr>
      <vt:lpstr>Firstly, let us normalize the data and create a couple of new observation – open Iris data set in Rapid Miner – copy it and paste into Ms Excel</vt:lpstr>
      <vt:lpstr>Firstly, let us normalize the data and create a couple of new observations – firstly standardization</vt:lpstr>
      <vt:lpstr>Firstly, let us normalize the data and create a couple of new observations – firstly standardization</vt:lpstr>
      <vt:lpstr>Firstly, let us normalize the data and create a couple of new observations – now, new observations in a separate file</vt:lpstr>
      <vt:lpstr>Firstly, let us normalize the data and create a couple of new observations – now, new observations in a separate file</vt:lpstr>
      <vt:lpstr>Now we import these files into RapidMiner</vt:lpstr>
      <vt:lpstr>Now we import these files into RapidMiner</vt:lpstr>
      <vt:lpstr>Now, plug these new data into our model</vt:lpstr>
      <vt:lpstr>Now, plug the new data into the model</vt:lpstr>
      <vt:lpstr>Remember to modify the „set role” operator</vt:lpstr>
      <vt:lpstr>Performance for training sample</vt:lpstr>
      <vt:lpstr>Performance for validation sample</vt:lpstr>
      <vt:lpstr>Classification of new observations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discriminant analysis and k-nearest neighbours</dc:title>
  <dc:creator>Joanna Wyrobek</dc:creator>
  <cp:lastModifiedBy>Joanna Wyrobek</cp:lastModifiedBy>
  <cp:revision>250</cp:revision>
  <dcterms:created xsi:type="dcterms:W3CDTF">2020-10-08T08:10:14Z</dcterms:created>
  <dcterms:modified xsi:type="dcterms:W3CDTF">2025-12-08T06:56:09Z</dcterms:modified>
</cp:coreProperties>
</file>